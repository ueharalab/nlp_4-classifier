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405" r:id="rId3"/>
    <p:sldId id="409" r:id="rId4"/>
    <p:sldId id="406" r:id="rId5"/>
    <p:sldId id="408" r:id="rId6"/>
    <p:sldId id="400" r:id="rId7"/>
    <p:sldId id="387" r:id="rId8"/>
    <p:sldId id="292" r:id="rId9"/>
    <p:sldId id="378" r:id="rId10"/>
    <p:sldId id="401" r:id="rId11"/>
    <p:sldId id="398" r:id="rId12"/>
    <p:sldId id="410" r:id="rId13"/>
    <p:sldId id="389" r:id="rId14"/>
    <p:sldId id="411" r:id="rId15"/>
    <p:sldId id="283" r:id="rId16"/>
    <p:sldId id="399" r:id="rId17"/>
    <p:sldId id="307" r:id="rId18"/>
    <p:sldId id="285" r:id="rId19"/>
    <p:sldId id="412" r:id="rId20"/>
    <p:sldId id="404" r:id="rId21"/>
    <p:sldId id="403" r:id="rId22"/>
    <p:sldId id="39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D038C"/>
    <a:srgbClr val="4472C4"/>
    <a:srgbClr val="FF00FF"/>
    <a:srgbClr val="903069"/>
    <a:srgbClr val="FFFFFF"/>
    <a:srgbClr val="ADB9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2" d="100"/>
          <a:sy n="92" d="100"/>
        </p:scale>
        <p:origin x="33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2A3129-BE50-4C02-ACA3-241ABDFA0B0C}" type="doc">
      <dgm:prSet loTypeId="urn:microsoft.com/office/officeart/2005/8/layout/hChevron3" loCatId="process" qsTypeId="urn:microsoft.com/office/officeart/2005/8/quickstyle/simple1" qsCatId="simple" csTypeId="urn:microsoft.com/office/officeart/2005/8/colors/colorful5" csCatId="colorful" phldr="1"/>
      <dgm:spPr/>
      <dgm:t>
        <a:bodyPr/>
        <a:lstStyle/>
        <a:p>
          <a:endParaRPr kumimoji="1" lang="ja-JP" altLang="en-US"/>
        </a:p>
      </dgm:t>
    </dgm:pt>
    <dgm:pt modelId="{EBBDCC13-3497-427A-9B65-D73C94A8691B}">
      <dgm:prSet/>
      <dgm:spPr/>
      <dgm:t>
        <a:bodyPr/>
        <a:lstStyle/>
        <a:p>
          <a:r>
            <a:rPr kumimoji="1" lang="ja-JP" dirty="0"/>
            <a:t>学習</a:t>
          </a:r>
          <a:endParaRPr lang="ja-JP" dirty="0"/>
        </a:p>
      </dgm:t>
    </dgm:pt>
    <dgm:pt modelId="{9A6B73F4-F738-4431-BF13-97906DDD5B7C}" type="parTrans" cxnId="{DE57CA70-FF38-42CF-A60A-B84DEA91AE30}">
      <dgm:prSet/>
      <dgm:spPr/>
      <dgm:t>
        <a:bodyPr/>
        <a:lstStyle/>
        <a:p>
          <a:endParaRPr kumimoji="1" lang="ja-JP" altLang="en-US"/>
        </a:p>
      </dgm:t>
    </dgm:pt>
    <dgm:pt modelId="{969B20AC-3320-4D67-A8BC-B17D1364FD54}" type="sibTrans" cxnId="{DE57CA70-FF38-42CF-A60A-B84DEA91AE30}">
      <dgm:prSet/>
      <dgm:spPr/>
      <dgm:t>
        <a:bodyPr/>
        <a:lstStyle/>
        <a:p>
          <a:endParaRPr kumimoji="1" lang="ja-JP" altLang="en-US"/>
        </a:p>
      </dgm:t>
    </dgm:pt>
    <dgm:pt modelId="{794846D3-1B3B-4C05-826B-A34404009A7A}">
      <dgm:prSet/>
      <dgm:spPr/>
      <dgm:t>
        <a:bodyPr/>
        <a:lstStyle/>
        <a:p>
          <a:r>
            <a:rPr kumimoji="1" lang="ja-JP" dirty="0"/>
            <a:t>予測</a:t>
          </a:r>
          <a:r>
            <a:rPr kumimoji="1" lang="ja-JP" altLang="en-US" dirty="0"/>
            <a:t>・識別</a:t>
          </a:r>
          <a:endParaRPr lang="ja-JP" dirty="0"/>
        </a:p>
      </dgm:t>
    </dgm:pt>
    <dgm:pt modelId="{D77BCC7F-7DB9-4C6A-9AAE-106FC5BC3E0D}" type="parTrans" cxnId="{03766C05-7296-4B91-9047-30962DC75518}">
      <dgm:prSet/>
      <dgm:spPr/>
      <dgm:t>
        <a:bodyPr/>
        <a:lstStyle/>
        <a:p>
          <a:endParaRPr kumimoji="1" lang="ja-JP" altLang="en-US"/>
        </a:p>
      </dgm:t>
    </dgm:pt>
    <dgm:pt modelId="{8E1E47AF-9E8C-411E-B641-EDFB868FD7F0}" type="sibTrans" cxnId="{03766C05-7296-4B91-9047-30962DC75518}">
      <dgm:prSet/>
      <dgm:spPr/>
      <dgm:t>
        <a:bodyPr/>
        <a:lstStyle/>
        <a:p>
          <a:endParaRPr kumimoji="1" lang="ja-JP" altLang="en-US"/>
        </a:p>
      </dgm:t>
    </dgm:pt>
    <dgm:pt modelId="{A7140E7A-F7C5-445D-A63D-95E7EA4F2B2C}" type="pres">
      <dgm:prSet presAssocID="{D22A3129-BE50-4C02-ACA3-241ABDFA0B0C}" presName="Name0" presStyleCnt="0">
        <dgm:presLayoutVars>
          <dgm:dir/>
          <dgm:resizeHandles val="exact"/>
        </dgm:presLayoutVars>
      </dgm:prSet>
      <dgm:spPr/>
    </dgm:pt>
    <dgm:pt modelId="{8C543277-1F2B-476F-A36E-322E765317B8}" type="pres">
      <dgm:prSet presAssocID="{EBBDCC13-3497-427A-9B65-D73C94A8691B}" presName="parTxOnly" presStyleLbl="node1" presStyleIdx="0" presStyleCnt="2" custLinFactNeighborX="-10334" custLinFactNeighborY="43934">
        <dgm:presLayoutVars>
          <dgm:bulletEnabled val="1"/>
        </dgm:presLayoutVars>
      </dgm:prSet>
      <dgm:spPr/>
    </dgm:pt>
    <dgm:pt modelId="{3C6A27BD-E5D1-4E5D-88A9-E58512A017B8}" type="pres">
      <dgm:prSet presAssocID="{969B20AC-3320-4D67-A8BC-B17D1364FD54}" presName="parSpace" presStyleCnt="0"/>
      <dgm:spPr/>
    </dgm:pt>
    <dgm:pt modelId="{D45D537F-AA06-49B5-B1E2-D1ECF653590D}" type="pres">
      <dgm:prSet presAssocID="{794846D3-1B3B-4C05-826B-A34404009A7A}" presName="parTxOnly" presStyleLbl="node1" presStyleIdx="1" presStyleCnt="2" custLinFactNeighborX="3247" custLinFactNeighborY="55896">
        <dgm:presLayoutVars>
          <dgm:bulletEnabled val="1"/>
        </dgm:presLayoutVars>
      </dgm:prSet>
      <dgm:spPr/>
    </dgm:pt>
  </dgm:ptLst>
  <dgm:cxnLst>
    <dgm:cxn modelId="{03766C05-7296-4B91-9047-30962DC75518}" srcId="{D22A3129-BE50-4C02-ACA3-241ABDFA0B0C}" destId="{794846D3-1B3B-4C05-826B-A34404009A7A}" srcOrd="1" destOrd="0" parTransId="{D77BCC7F-7DB9-4C6A-9AAE-106FC5BC3E0D}" sibTransId="{8E1E47AF-9E8C-411E-B641-EDFB868FD7F0}"/>
    <dgm:cxn modelId="{8B15AE2C-F0CD-40B0-A4BD-7901302C14BF}" type="presOf" srcId="{794846D3-1B3B-4C05-826B-A34404009A7A}" destId="{D45D537F-AA06-49B5-B1E2-D1ECF653590D}" srcOrd="0" destOrd="0" presId="urn:microsoft.com/office/officeart/2005/8/layout/hChevron3"/>
    <dgm:cxn modelId="{DE57CA70-FF38-42CF-A60A-B84DEA91AE30}" srcId="{D22A3129-BE50-4C02-ACA3-241ABDFA0B0C}" destId="{EBBDCC13-3497-427A-9B65-D73C94A8691B}" srcOrd="0" destOrd="0" parTransId="{9A6B73F4-F738-4431-BF13-97906DDD5B7C}" sibTransId="{969B20AC-3320-4D67-A8BC-B17D1364FD54}"/>
    <dgm:cxn modelId="{581FBC87-C241-4034-A4D2-500C5D344F99}" type="presOf" srcId="{D22A3129-BE50-4C02-ACA3-241ABDFA0B0C}" destId="{A7140E7A-F7C5-445D-A63D-95E7EA4F2B2C}" srcOrd="0" destOrd="0" presId="urn:microsoft.com/office/officeart/2005/8/layout/hChevron3"/>
    <dgm:cxn modelId="{1692229D-34F1-4269-8B6F-1E0FF7EC4BF6}" type="presOf" srcId="{EBBDCC13-3497-427A-9B65-D73C94A8691B}" destId="{8C543277-1F2B-476F-A36E-322E765317B8}" srcOrd="0" destOrd="0" presId="urn:microsoft.com/office/officeart/2005/8/layout/hChevron3"/>
    <dgm:cxn modelId="{DCE8C953-9804-4672-A0C3-129A9CE9C14E}" type="presParOf" srcId="{A7140E7A-F7C5-445D-A63D-95E7EA4F2B2C}" destId="{8C543277-1F2B-476F-A36E-322E765317B8}" srcOrd="0" destOrd="0" presId="urn:microsoft.com/office/officeart/2005/8/layout/hChevron3"/>
    <dgm:cxn modelId="{200ED11C-1429-47B0-9395-08D3917861AD}" type="presParOf" srcId="{A7140E7A-F7C5-445D-A63D-95E7EA4F2B2C}" destId="{3C6A27BD-E5D1-4E5D-88A9-E58512A017B8}" srcOrd="1" destOrd="0" presId="urn:microsoft.com/office/officeart/2005/8/layout/hChevron3"/>
    <dgm:cxn modelId="{B563C6A0-9E4B-4FC9-AFD1-1395D1769954}" type="presParOf" srcId="{A7140E7A-F7C5-445D-A63D-95E7EA4F2B2C}" destId="{D45D537F-AA06-49B5-B1E2-D1ECF653590D}" srcOrd="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2A3129-BE50-4C02-ACA3-241ABDFA0B0C}" type="doc">
      <dgm:prSet loTypeId="urn:microsoft.com/office/officeart/2005/8/layout/hChevron3" loCatId="process" qsTypeId="urn:microsoft.com/office/officeart/2005/8/quickstyle/simple1" qsCatId="simple" csTypeId="urn:microsoft.com/office/officeart/2005/8/colors/colorful5" csCatId="colorful" phldr="1"/>
      <dgm:spPr/>
      <dgm:t>
        <a:bodyPr/>
        <a:lstStyle/>
        <a:p>
          <a:endParaRPr kumimoji="1" lang="ja-JP" altLang="en-US"/>
        </a:p>
      </dgm:t>
    </dgm:pt>
    <dgm:pt modelId="{EBBDCC13-3497-427A-9B65-D73C94A8691B}">
      <dgm:prSet/>
      <dgm:spPr/>
      <dgm:t>
        <a:bodyPr/>
        <a:lstStyle/>
        <a:p>
          <a:r>
            <a:rPr kumimoji="1" lang="ja-JP" dirty="0"/>
            <a:t>学習</a:t>
          </a:r>
          <a:endParaRPr lang="ja-JP" dirty="0"/>
        </a:p>
      </dgm:t>
    </dgm:pt>
    <dgm:pt modelId="{9A6B73F4-F738-4431-BF13-97906DDD5B7C}" type="parTrans" cxnId="{DE57CA70-FF38-42CF-A60A-B84DEA91AE30}">
      <dgm:prSet/>
      <dgm:spPr/>
      <dgm:t>
        <a:bodyPr/>
        <a:lstStyle/>
        <a:p>
          <a:endParaRPr kumimoji="1" lang="ja-JP" altLang="en-US"/>
        </a:p>
      </dgm:t>
    </dgm:pt>
    <dgm:pt modelId="{969B20AC-3320-4D67-A8BC-B17D1364FD54}" type="sibTrans" cxnId="{DE57CA70-FF38-42CF-A60A-B84DEA91AE30}">
      <dgm:prSet/>
      <dgm:spPr/>
      <dgm:t>
        <a:bodyPr/>
        <a:lstStyle/>
        <a:p>
          <a:endParaRPr kumimoji="1" lang="ja-JP" altLang="en-US"/>
        </a:p>
      </dgm:t>
    </dgm:pt>
    <dgm:pt modelId="{794846D3-1B3B-4C05-826B-A34404009A7A}">
      <dgm:prSet/>
      <dgm:spPr/>
      <dgm:t>
        <a:bodyPr/>
        <a:lstStyle/>
        <a:p>
          <a:r>
            <a:rPr kumimoji="1" lang="ja-JP" dirty="0"/>
            <a:t>予測</a:t>
          </a:r>
          <a:r>
            <a:rPr kumimoji="1" lang="ja-JP" altLang="en-US" dirty="0"/>
            <a:t>・識別</a:t>
          </a:r>
          <a:endParaRPr lang="ja-JP" dirty="0"/>
        </a:p>
      </dgm:t>
    </dgm:pt>
    <dgm:pt modelId="{D77BCC7F-7DB9-4C6A-9AAE-106FC5BC3E0D}" type="parTrans" cxnId="{03766C05-7296-4B91-9047-30962DC75518}">
      <dgm:prSet/>
      <dgm:spPr/>
      <dgm:t>
        <a:bodyPr/>
        <a:lstStyle/>
        <a:p>
          <a:endParaRPr kumimoji="1" lang="ja-JP" altLang="en-US"/>
        </a:p>
      </dgm:t>
    </dgm:pt>
    <dgm:pt modelId="{8E1E47AF-9E8C-411E-B641-EDFB868FD7F0}" type="sibTrans" cxnId="{03766C05-7296-4B91-9047-30962DC75518}">
      <dgm:prSet/>
      <dgm:spPr/>
      <dgm:t>
        <a:bodyPr/>
        <a:lstStyle/>
        <a:p>
          <a:endParaRPr kumimoji="1" lang="ja-JP" altLang="en-US"/>
        </a:p>
      </dgm:t>
    </dgm:pt>
    <dgm:pt modelId="{EF947383-7E3C-4195-8268-7F69FFF92EF8}">
      <dgm:prSet/>
      <dgm:spPr/>
      <dgm:t>
        <a:bodyPr/>
        <a:lstStyle/>
        <a:p>
          <a:r>
            <a:rPr lang="ja-JP" altLang="en-US" dirty="0"/>
            <a:t>特徴抽出</a:t>
          </a:r>
          <a:endParaRPr lang="ja-JP" dirty="0"/>
        </a:p>
      </dgm:t>
    </dgm:pt>
    <dgm:pt modelId="{CC5EF895-1CC6-42BB-9DDA-09CAF875B489}" type="parTrans" cxnId="{725D4B50-729E-419A-8856-326A5E4AA2A5}">
      <dgm:prSet/>
      <dgm:spPr/>
      <dgm:t>
        <a:bodyPr/>
        <a:lstStyle/>
        <a:p>
          <a:endParaRPr kumimoji="1" lang="ja-JP" altLang="en-US"/>
        </a:p>
      </dgm:t>
    </dgm:pt>
    <dgm:pt modelId="{B6CA1D6F-23E5-40C5-8304-E4B93C3AFCEE}" type="sibTrans" cxnId="{725D4B50-729E-419A-8856-326A5E4AA2A5}">
      <dgm:prSet/>
      <dgm:spPr/>
      <dgm:t>
        <a:bodyPr/>
        <a:lstStyle/>
        <a:p>
          <a:endParaRPr kumimoji="1" lang="ja-JP" altLang="en-US"/>
        </a:p>
      </dgm:t>
    </dgm:pt>
    <dgm:pt modelId="{A7140E7A-F7C5-445D-A63D-95E7EA4F2B2C}" type="pres">
      <dgm:prSet presAssocID="{D22A3129-BE50-4C02-ACA3-241ABDFA0B0C}" presName="Name0" presStyleCnt="0">
        <dgm:presLayoutVars>
          <dgm:dir/>
          <dgm:resizeHandles val="exact"/>
        </dgm:presLayoutVars>
      </dgm:prSet>
      <dgm:spPr/>
    </dgm:pt>
    <dgm:pt modelId="{A14364B3-52E8-41EA-8F28-0191BD60384A}" type="pres">
      <dgm:prSet presAssocID="{EF947383-7E3C-4195-8268-7F69FFF92EF8}" presName="parTxOnly" presStyleLbl="node1" presStyleIdx="0" presStyleCnt="3">
        <dgm:presLayoutVars>
          <dgm:bulletEnabled val="1"/>
        </dgm:presLayoutVars>
      </dgm:prSet>
      <dgm:spPr/>
    </dgm:pt>
    <dgm:pt modelId="{939A8B70-17BD-43EC-AF60-868258319103}" type="pres">
      <dgm:prSet presAssocID="{B6CA1D6F-23E5-40C5-8304-E4B93C3AFCEE}" presName="parSpace" presStyleCnt="0"/>
      <dgm:spPr/>
    </dgm:pt>
    <dgm:pt modelId="{8C543277-1F2B-476F-A36E-322E765317B8}" type="pres">
      <dgm:prSet presAssocID="{EBBDCC13-3497-427A-9B65-D73C94A8691B}" presName="parTxOnly" presStyleLbl="node1" presStyleIdx="1" presStyleCnt="3" custLinFactNeighborX="-10903" custLinFactNeighborY="1343">
        <dgm:presLayoutVars>
          <dgm:bulletEnabled val="1"/>
        </dgm:presLayoutVars>
      </dgm:prSet>
      <dgm:spPr/>
    </dgm:pt>
    <dgm:pt modelId="{3C6A27BD-E5D1-4E5D-88A9-E58512A017B8}" type="pres">
      <dgm:prSet presAssocID="{969B20AC-3320-4D67-A8BC-B17D1364FD54}" presName="parSpace" presStyleCnt="0"/>
      <dgm:spPr/>
    </dgm:pt>
    <dgm:pt modelId="{D45D537F-AA06-49B5-B1E2-D1ECF653590D}" type="pres">
      <dgm:prSet presAssocID="{794846D3-1B3B-4C05-826B-A34404009A7A}" presName="parTxOnly" presStyleLbl="node1" presStyleIdx="2" presStyleCnt="3" custLinFactNeighborX="3247" custLinFactNeighborY="55896">
        <dgm:presLayoutVars>
          <dgm:bulletEnabled val="1"/>
        </dgm:presLayoutVars>
      </dgm:prSet>
      <dgm:spPr/>
    </dgm:pt>
  </dgm:ptLst>
  <dgm:cxnLst>
    <dgm:cxn modelId="{03766C05-7296-4B91-9047-30962DC75518}" srcId="{D22A3129-BE50-4C02-ACA3-241ABDFA0B0C}" destId="{794846D3-1B3B-4C05-826B-A34404009A7A}" srcOrd="2" destOrd="0" parTransId="{D77BCC7F-7DB9-4C6A-9AAE-106FC5BC3E0D}" sibTransId="{8E1E47AF-9E8C-411E-B641-EDFB868FD7F0}"/>
    <dgm:cxn modelId="{8B15AE2C-F0CD-40B0-A4BD-7901302C14BF}" type="presOf" srcId="{794846D3-1B3B-4C05-826B-A34404009A7A}" destId="{D45D537F-AA06-49B5-B1E2-D1ECF653590D}" srcOrd="0" destOrd="0" presId="urn:microsoft.com/office/officeart/2005/8/layout/hChevron3"/>
    <dgm:cxn modelId="{7C7AAE5B-FF2C-4AD7-A437-A242E0406259}" type="presOf" srcId="{EF947383-7E3C-4195-8268-7F69FFF92EF8}" destId="{A14364B3-52E8-41EA-8F28-0191BD60384A}" srcOrd="0" destOrd="0" presId="urn:microsoft.com/office/officeart/2005/8/layout/hChevron3"/>
    <dgm:cxn modelId="{725D4B50-729E-419A-8856-326A5E4AA2A5}" srcId="{D22A3129-BE50-4C02-ACA3-241ABDFA0B0C}" destId="{EF947383-7E3C-4195-8268-7F69FFF92EF8}" srcOrd="0" destOrd="0" parTransId="{CC5EF895-1CC6-42BB-9DDA-09CAF875B489}" sibTransId="{B6CA1D6F-23E5-40C5-8304-E4B93C3AFCEE}"/>
    <dgm:cxn modelId="{DE57CA70-FF38-42CF-A60A-B84DEA91AE30}" srcId="{D22A3129-BE50-4C02-ACA3-241ABDFA0B0C}" destId="{EBBDCC13-3497-427A-9B65-D73C94A8691B}" srcOrd="1" destOrd="0" parTransId="{9A6B73F4-F738-4431-BF13-97906DDD5B7C}" sibTransId="{969B20AC-3320-4D67-A8BC-B17D1364FD54}"/>
    <dgm:cxn modelId="{581FBC87-C241-4034-A4D2-500C5D344F99}" type="presOf" srcId="{D22A3129-BE50-4C02-ACA3-241ABDFA0B0C}" destId="{A7140E7A-F7C5-445D-A63D-95E7EA4F2B2C}" srcOrd="0" destOrd="0" presId="urn:microsoft.com/office/officeart/2005/8/layout/hChevron3"/>
    <dgm:cxn modelId="{1692229D-34F1-4269-8B6F-1E0FF7EC4BF6}" type="presOf" srcId="{EBBDCC13-3497-427A-9B65-D73C94A8691B}" destId="{8C543277-1F2B-476F-A36E-322E765317B8}" srcOrd="0" destOrd="0" presId="urn:microsoft.com/office/officeart/2005/8/layout/hChevron3"/>
    <dgm:cxn modelId="{19CACB32-B4AB-418B-832E-12D8E82A4762}" type="presParOf" srcId="{A7140E7A-F7C5-445D-A63D-95E7EA4F2B2C}" destId="{A14364B3-52E8-41EA-8F28-0191BD60384A}" srcOrd="0" destOrd="0" presId="urn:microsoft.com/office/officeart/2005/8/layout/hChevron3"/>
    <dgm:cxn modelId="{69E98088-07BD-4823-A284-3B4167AC4FE8}" type="presParOf" srcId="{A7140E7A-F7C5-445D-A63D-95E7EA4F2B2C}" destId="{939A8B70-17BD-43EC-AF60-868258319103}" srcOrd="1" destOrd="0" presId="urn:microsoft.com/office/officeart/2005/8/layout/hChevron3"/>
    <dgm:cxn modelId="{DCE8C953-9804-4672-A0C3-129A9CE9C14E}" type="presParOf" srcId="{A7140E7A-F7C5-445D-A63D-95E7EA4F2B2C}" destId="{8C543277-1F2B-476F-A36E-322E765317B8}" srcOrd="2" destOrd="0" presId="urn:microsoft.com/office/officeart/2005/8/layout/hChevron3"/>
    <dgm:cxn modelId="{200ED11C-1429-47B0-9395-08D3917861AD}" type="presParOf" srcId="{A7140E7A-F7C5-445D-A63D-95E7EA4F2B2C}" destId="{3C6A27BD-E5D1-4E5D-88A9-E58512A017B8}" srcOrd="3" destOrd="0" presId="urn:microsoft.com/office/officeart/2005/8/layout/hChevron3"/>
    <dgm:cxn modelId="{B563C6A0-9E4B-4FC9-AFD1-1395D1769954}" type="presParOf" srcId="{A7140E7A-F7C5-445D-A63D-95E7EA4F2B2C}" destId="{D45D537F-AA06-49B5-B1E2-D1ECF653590D}" srcOrd="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2A3129-BE50-4C02-ACA3-241ABDFA0B0C}" type="doc">
      <dgm:prSet loTypeId="urn:microsoft.com/office/officeart/2005/8/layout/hChevron3" loCatId="process" qsTypeId="urn:microsoft.com/office/officeart/2005/8/quickstyle/simple1" qsCatId="simple" csTypeId="urn:microsoft.com/office/officeart/2005/8/colors/colorful5" csCatId="colorful" phldr="1"/>
      <dgm:spPr/>
      <dgm:t>
        <a:bodyPr/>
        <a:lstStyle/>
        <a:p>
          <a:endParaRPr kumimoji="1" lang="ja-JP" altLang="en-US"/>
        </a:p>
      </dgm:t>
    </dgm:pt>
    <dgm:pt modelId="{EBBDCC13-3497-427A-9B65-D73C94A8691B}">
      <dgm:prSet/>
      <dgm:spPr/>
      <dgm:t>
        <a:bodyPr/>
        <a:lstStyle/>
        <a:p>
          <a:r>
            <a:rPr kumimoji="1" lang="ja-JP"/>
            <a:t>学習</a:t>
          </a:r>
          <a:endParaRPr lang="ja-JP"/>
        </a:p>
      </dgm:t>
    </dgm:pt>
    <dgm:pt modelId="{9A6B73F4-F738-4431-BF13-97906DDD5B7C}" type="parTrans" cxnId="{DE57CA70-FF38-42CF-A60A-B84DEA91AE30}">
      <dgm:prSet/>
      <dgm:spPr/>
      <dgm:t>
        <a:bodyPr/>
        <a:lstStyle/>
        <a:p>
          <a:endParaRPr kumimoji="1" lang="ja-JP" altLang="en-US"/>
        </a:p>
      </dgm:t>
    </dgm:pt>
    <dgm:pt modelId="{969B20AC-3320-4D67-A8BC-B17D1364FD54}" type="sibTrans" cxnId="{DE57CA70-FF38-42CF-A60A-B84DEA91AE30}">
      <dgm:prSet/>
      <dgm:spPr/>
      <dgm:t>
        <a:bodyPr/>
        <a:lstStyle/>
        <a:p>
          <a:endParaRPr kumimoji="1" lang="ja-JP" altLang="en-US"/>
        </a:p>
      </dgm:t>
    </dgm:pt>
    <dgm:pt modelId="{794846D3-1B3B-4C05-826B-A34404009A7A}">
      <dgm:prSet/>
      <dgm:spPr/>
      <dgm:t>
        <a:bodyPr/>
        <a:lstStyle/>
        <a:p>
          <a:r>
            <a:rPr kumimoji="1" lang="ja-JP" dirty="0"/>
            <a:t>予測</a:t>
          </a:r>
          <a:r>
            <a:rPr kumimoji="1" lang="ja-JP" altLang="en-US" dirty="0"/>
            <a:t>・識別</a:t>
          </a:r>
          <a:endParaRPr lang="ja-JP" dirty="0"/>
        </a:p>
      </dgm:t>
    </dgm:pt>
    <dgm:pt modelId="{D77BCC7F-7DB9-4C6A-9AAE-106FC5BC3E0D}" type="parTrans" cxnId="{03766C05-7296-4B91-9047-30962DC75518}">
      <dgm:prSet/>
      <dgm:spPr/>
      <dgm:t>
        <a:bodyPr/>
        <a:lstStyle/>
        <a:p>
          <a:endParaRPr kumimoji="1" lang="ja-JP" altLang="en-US"/>
        </a:p>
      </dgm:t>
    </dgm:pt>
    <dgm:pt modelId="{8E1E47AF-9E8C-411E-B641-EDFB868FD7F0}" type="sibTrans" cxnId="{03766C05-7296-4B91-9047-30962DC75518}">
      <dgm:prSet/>
      <dgm:spPr/>
      <dgm:t>
        <a:bodyPr/>
        <a:lstStyle/>
        <a:p>
          <a:endParaRPr kumimoji="1" lang="ja-JP" altLang="en-US"/>
        </a:p>
      </dgm:t>
    </dgm:pt>
    <dgm:pt modelId="{A7140E7A-F7C5-445D-A63D-95E7EA4F2B2C}" type="pres">
      <dgm:prSet presAssocID="{D22A3129-BE50-4C02-ACA3-241ABDFA0B0C}" presName="Name0" presStyleCnt="0">
        <dgm:presLayoutVars>
          <dgm:dir/>
          <dgm:resizeHandles val="exact"/>
        </dgm:presLayoutVars>
      </dgm:prSet>
      <dgm:spPr/>
    </dgm:pt>
    <dgm:pt modelId="{8C543277-1F2B-476F-A36E-322E765317B8}" type="pres">
      <dgm:prSet presAssocID="{EBBDCC13-3497-427A-9B65-D73C94A8691B}" presName="parTxOnly" presStyleLbl="node1" presStyleIdx="0" presStyleCnt="2" custLinFactNeighborX="1514" custLinFactNeighborY="-3691">
        <dgm:presLayoutVars>
          <dgm:bulletEnabled val="1"/>
        </dgm:presLayoutVars>
      </dgm:prSet>
      <dgm:spPr/>
    </dgm:pt>
    <dgm:pt modelId="{3C6A27BD-E5D1-4E5D-88A9-E58512A017B8}" type="pres">
      <dgm:prSet presAssocID="{969B20AC-3320-4D67-A8BC-B17D1364FD54}" presName="parSpace" presStyleCnt="0"/>
      <dgm:spPr/>
    </dgm:pt>
    <dgm:pt modelId="{D45D537F-AA06-49B5-B1E2-D1ECF653590D}" type="pres">
      <dgm:prSet presAssocID="{794846D3-1B3B-4C05-826B-A34404009A7A}" presName="parTxOnly" presStyleLbl="node1" presStyleIdx="1" presStyleCnt="2" custLinFactNeighborX="3247" custLinFactNeighborY="55896">
        <dgm:presLayoutVars>
          <dgm:bulletEnabled val="1"/>
        </dgm:presLayoutVars>
      </dgm:prSet>
      <dgm:spPr/>
    </dgm:pt>
  </dgm:ptLst>
  <dgm:cxnLst>
    <dgm:cxn modelId="{03766C05-7296-4B91-9047-30962DC75518}" srcId="{D22A3129-BE50-4C02-ACA3-241ABDFA0B0C}" destId="{794846D3-1B3B-4C05-826B-A34404009A7A}" srcOrd="1" destOrd="0" parTransId="{D77BCC7F-7DB9-4C6A-9AAE-106FC5BC3E0D}" sibTransId="{8E1E47AF-9E8C-411E-B641-EDFB868FD7F0}"/>
    <dgm:cxn modelId="{8B15AE2C-F0CD-40B0-A4BD-7901302C14BF}" type="presOf" srcId="{794846D3-1B3B-4C05-826B-A34404009A7A}" destId="{D45D537F-AA06-49B5-B1E2-D1ECF653590D}" srcOrd="0" destOrd="0" presId="urn:microsoft.com/office/officeart/2005/8/layout/hChevron3"/>
    <dgm:cxn modelId="{DE57CA70-FF38-42CF-A60A-B84DEA91AE30}" srcId="{D22A3129-BE50-4C02-ACA3-241ABDFA0B0C}" destId="{EBBDCC13-3497-427A-9B65-D73C94A8691B}" srcOrd="0" destOrd="0" parTransId="{9A6B73F4-F738-4431-BF13-97906DDD5B7C}" sibTransId="{969B20AC-3320-4D67-A8BC-B17D1364FD54}"/>
    <dgm:cxn modelId="{581FBC87-C241-4034-A4D2-500C5D344F99}" type="presOf" srcId="{D22A3129-BE50-4C02-ACA3-241ABDFA0B0C}" destId="{A7140E7A-F7C5-445D-A63D-95E7EA4F2B2C}" srcOrd="0" destOrd="0" presId="urn:microsoft.com/office/officeart/2005/8/layout/hChevron3"/>
    <dgm:cxn modelId="{1692229D-34F1-4269-8B6F-1E0FF7EC4BF6}" type="presOf" srcId="{EBBDCC13-3497-427A-9B65-D73C94A8691B}" destId="{8C543277-1F2B-476F-A36E-322E765317B8}" srcOrd="0" destOrd="0" presId="urn:microsoft.com/office/officeart/2005/8/layout/hChevron3"/>
    <dgm:cxn modelId="{DCE8C953-9804-4672-A0C3-129A9CE9C14E}" type="presParOf" srcId="{A7140E7A-F7C5-445D-A63D-95E7EA4F2B2C}" destId="{8C543277-1F2B-476F-A36E-322E765317B8}" srcOrd="0" destOrd="0" presId="urn:microsoft.com/office/officeart/2005/8/layout/hChevron3"/>
    <dgm:cxn modelId="{200ED11C-1429-47B0-9395-08D3917861AD}" type="presParOf" srcId="{A7140E7A-F7C5-445D-A63D-95E7EA4F2B2C}" destId="{3C6A27BD-E5D1-4E5D-88A9-E58512A017B8}" srcOrd="1" destOrd="0" presId="urn:microsoft.com/office/officeart/2005/8/layout/hChevron3"/>
    <dgm:cxn modelId="{B563C6A0-9E4B-4FC9-AFD1-1395D1769954}" type="presParOf" srcId="{A7140E7A-F7C5-445D-A63D-95E7EA4F2B2C}" destId="{D45D537F-AA06-49B5-B1E2-D1ECF653590D}" srcOrd="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43277-1F2B-476F-A36E-322E765317B8}">
      <dsp:nvSpPr>
        <dsp:cNvPr id="0" name=""/>
        <dsp:cNvSpPr/>
      </dsp:nvSpPr>
      <dsp:spPr>
        <a:xfrm>
          <a:off x="0" y="0"/>
          <a:ext cx="5397165" cy="788156"/>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354" tIns="82677" rIns="41339" bIns="82677" numCol="1" spcCol="1270" anchor="ctr" anchorCtr="0">
          <a:noAutofit/>
        </a:bodyPr>
        <a:lstStyle/>
        <a:p>
          <a:pPr marL="0" lvl="0" indent="0" algn="ctr" defTabSz="1377950">
            <a:lnSpc>
              <a:spcPct val="90000"/>
            </a:lnSpc>
            <a:spcBef>
              <a:spcPct val="0"/>
            </a:spcBef>
            <a:spcAft>
              <a:spcPct val="35000"/>
            </a:spcAft>
            <a:buNone/>
          </a:pPr>
          <a:r>
            <a:rPr kumimoji="1" lang="ja-JP" sz="3100" kern="1200" dirty="0"/>
            <a:t>学習</a:t>
          </a:r>
          <a:endParaRPr lang="ja-JP" sz="3100" kern="1200" dirty="0"/>
        </a:p>
      </dsp:txBody>
      <dsp:txXfrm>
        <a:off x="0" y="0"/>
        <a:ext cx="5200126" cy="788156"/>
      </dsp:txXfrm>
    </dsp:sp>
    <dsp:sp modelId="{D45D537F-AA06-49B5-B1E2-D1ECF653590D}">
      <dsp:nvSpPr>
        <dsp:cNvPr id="0" name=""/>
        <dsp:cNvSpPr/>
      </dsp:nvSpPr>
      <dsp:spPr>
        <a:xfrm>
          <a:off x="4332935" y="0"/>
          <a:ext cx="5397165" cy="788156"/>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r>
            <a:rPr kumimoji="1" lang="ja-JP" sz="3100" kern="1200" dirty="0"/>
            <a:t>予測</a:t>
          </a:r>
          <a:r>
            <a:rPr kumimoji="1" lang="ja-JP" altLang="en-US" sz="3100" kern="1200" dirty="0"/>
            <a:t>・識別</a:t>
          </a:r>
          <a:endParaRPr lang="ja-JP" sz="3100" kern="1200" dirty="0"/>
        </a:p>
      </dsp:txBody>
      <dsp:txXfrm>
        <a:off x="4727013" y="0"/>
        <a:ext cx="4609009" cy="7881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364B3-52E8-41EA-8F28-0191BD60384A}">
      <dsp:nvSpPr>
        <dsp:cNvPr id="0" name=""/>
        <dsp:cNvSpPr/>
      </dsp:nvSpPr>
      <dsp:spPr>
        <a:xfrm>
          <a:off x="3987" y="0"/>
          <a:ext cx="3486500" cy="830997"/>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6022" tIns="88011" rIns="44006" bIns="88011" numCol="1" spcCol="1270" anchor="ctr" anchorCtr="0">
          <a:noAutofit/>
        </a:bodyPr>
        <a:lstStyle/>
        <a:p>
          <a:pPr marL="0" lvl="0" indent="0" algn="ctr" defTabSz="1466850">
            <a:lnSpc>
              <a:spcPct val="90000"/>
            </a:lnSpc>
            <a:spcBef>
              <a:spcPct val="0"/>
            </a:spcBef>
            <a:spcAft>
              <a:spcPct val="35000"/>
            </a:spcAft>
            <a:buNone/>
          </a:pPr>
          <a:r>
            <a:rPr lang="ja-JP" altLang="en-US" sz="3300" kern="1200" dirty="0"/>
            <a:t>特徴抽出</a:t>
          </a:r>
        </a:p>
      </dsp:txBody>
      <dsp:txXfrm>
        <a:off x="3987" y="0"/>
        <a:ext cx="3278751" cy="830997"/>
      </dsp:txXfrm>
    </dsp:sp>
    <dsp:sp modelId="{8C543277-1F2B-476F-A36E-322E765317B8}">
      <dsp:nvSpPr>
        <dsp:cNvPr id="0" name=""/>
        <dsp:cNvSpPr/>
      </dsp:nvSpPr>
      <dsp:spPr>
        <a:xfrm>
          <a:off x="2717161" y="0"/>
          <a:ext cx="3486500" cy="830997"/>
        </a:xfrm>
        <a:prstGeom prst="chevron">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r>
            <a:rPr kumimoji="1" lang="ja-JP" altLang="en-US" sz="3300" kern="1200" dirty="0"/>
            <a:t>学習</a:t>
          </a:r>
          <a:endParaRPr lang="ja-JP" altLang="en-US" sz="3300" kern="1200" dirty="0"/>
        </a:p>
      </dsp:txBody>
      <dsp:txXfrm>
        <a:off x="3132660" y="0"/>
        <a:ext cx="2655503" cy="830997"/>
      </dsp:txXfrm>
    </dsp:sp>
    <dsp:sp modelId="{D45D537F-AA06-49B5-B1E2-D1ECF653590D}">
      <dsp:nvSpPr>
        <dsp:cNvPr id="0" name=""/>
        <dsp:cNvSpPr/>
      </dsp:nvSpPr>
      <dsp:spPr>
        <a:xfrm>
          <a:off x="5586375" y="0"/>
          <a:ext cx="3486500" cy="830997"/>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r>
            <a:rPr kumimoji="1" lang="ja-JP" altLang="en-US" sz="3300" kern="1200" dirty="0"/>
            <a:t>予測・識別</a:t>
          </a:r>
          <a:endParaRPr lang="ja-JP" altLang="en-US" sz="3300" kern="1200" dirty="0"/>
        </a:p>
      </dsp:txBody>
      <dsp:txXfrm>
        <a:off x="6001874" y="0"/>
        <a:ext cx="2655503" cy="8309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43277-1F2B-476F-A36E-322E765317B8}">
      <dsp:nvSpPr>
        <dsp:cNvPr id="0" name=""/>
        <dsp:cNvSpPr/>
      </dsp:nvSpPr>
      <dsp:spPr>
        <a:xfrm>
          <a:off x="22326" y="0"/>
          <a:ext cx="5032610" cy="830997"/>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6022" tIns="88011" rIns="44006" bIns="88011" numCol="1" spcCol="1270" anchor="ctr" anchorCtr="0">
          <a:noAutofit/>
        </a:bodyPr>
        <a:lstStyle/>
        <a:p>
          <a:pPr marL="0" lvl="0" indent="0" algn="ctr" defTabSz="1466850">
            <a:lnSpc>
              <a:spcPct val="90000"/>
            </a:lnSpc>
            <a:spcBef>
              <a:spcPct val="0"/>
            </a:spcBef>
            <a:spcAft>
              <a:spcPct val="35000"/>
            </a:spcAft>
            <a:buNone/>
          </a:pPr>
          <a:r>
            <a:rPr kumimoji="1" lang="ja-JP" sz="3300" kern="1200"/>
            <a:t>学習</a:t>
          </a:r>
          <a:endParaRPr lang="ja-JP" sz="3300" kern="1200"/>
        </a:p>
      </dsp:txBody>
      <dsp:txXfrm>
        <a:off x="22326" y="0"/>
        <a:ext cx="4824861" cy="830997"/>
      </dsp:txXfrm>
    </dsp:sp>
    <dsp:sp modelId="{D45D537F-AA06-49B5-B1E2-D1ECF653590D}">
      <dsp:nvSpPr>
        <dsp:cNvPr id="0" name=""/>
        <dsp:cNvSpPr/>
      </dsp:nvSpPr>
      <dsp:spPr>
        <a:xfrm>
          <a:off x="4040265" y="0"/>
          <a:ext cx="5032610" cy="830997"/>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r>
            <a:rPr kumimoji="1" lang="ja-JP" sz="3300" kern="1200" dirty="0"/>
            <a:t>予測</a:t>
          </a:r>
          <a:r>
            <a:rPr kumimoji="1" lang="ja-JP" altLang="en-US" sz="3300" kern="1200" dirty="0"/>
            <a:t>・識別</a:t>
          </a:r>
          <a:endParaRPr lang="ja-JP" sz="3300" kern="1200" dirty="0"/>
        </a:p>
      </dsp:txBody>
      <dsp:txXfrm>
        <a:off x="4455764" y="0"/>
        <a:ext cx="4201613" cy="830997"/>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4187979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4154830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79260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1682007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869693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1063363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276029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163988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072470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3151712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2025/6/5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984604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BC02D7-CBD1-4D33-B166-78A898DF0F76}" type="datetimeFigureOut">
              <a:rPr kumimoji="1" lang="ja-JP" altLang="en-US" smtClean="0"/>
              <a:t>2025/6/5</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338951003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ueharaLab/NLP_4-Classifier/blob/main/bow_dataset.md" TargetMode="External"/><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ueharaLab/NLP_4-Classifier/blob/main/knn_bow.md"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0.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hyperlink" Target="https://atmarkit.itmedia.co.jp/ait/articles/2111/10/news023.html" TargetMode="External"/><Relationship Id="rId5" Type="http://schemas.openxmlformats.org/officeDocument/2006/relationships/image" Target="../media/image60.png"/><Relationship Id="rId4" Type="http://schemas.openxmlformats.org/officeDocument/2006/relationships/image" Target="../media/image9.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image" Target="../media/image80.png"/><Relationship Id="rId4" Type="http://schemas.openxmlformats.org/officeDocument/2006/relationships/image" Target="../media/image7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0.png"/><Relationship Id="rId1" Type="http://schemas.openxmlformats.org/officeDocument/2006/relationships/slideLayout" Target="../slideLayouts/slideLayout7.xml"/><Relationship Id="rId6" Type="http://schemas.openxmlformats.org/officeDocument/2006/relationships/hyperlink" Target="https://github.com/ueharaLab/NLP_4-Classifier/blob/main/tf_idf.md" TargetMode="External"/><Relationship Id="rId5" Type="http://schemas.openxmlformats.org/officeDocument/2006/relationships/image" Target="../media/image120.png"/><Relationship Id="rId4" Type="http://schemas.openxmlformats.org/officeDocument/2006/relationships/image" Target="../media/image1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0DF4DB4-0544-435C-992C-E0E55AA5E14F}"/>
              </a:ext>
            </a:extLst>
          </p:cNvPr>
          <p:cNvSpPr txBox="1"/>
          <p:nvPr/>
        </p:nvSpPr>
        <p:spPr>
          <a:xfrm>
            <a:off x="0" y="2782669"/>
            <a:ext cx="8226445" cy="646331"/>
          </a:xfrm>
          <a:prstGeom prst="rect">
            <a:avLst/>
          </a:prstGeom>
          <a:noFill/>
        </p:spPr>
        <p:txBody>
          <a:bodyPr wrap="square" rtlCol="0">
            <a:spAutoFit/>
          </a:bodyPr>
          <a:lstStyle/>
          <a:p>
            <a:pPr algn="ctr"/>
            <a:r>
              <a:rPr kumimoji="1" lang="en-US" altLang="ja-JP" sz="3600" b="1" dirty="0" err="1">
                <a:latin typeface="メイリオ" panose="020B0604030504040204" pitchFamily="50" charset="-128"/>
                <a:ea typeface="メイリオ" panose="020B0604030504040204" pitchFamily="50" charset="-128"/>
              </a:rPr>
              <a:t>BoW</a:t>
            </a:r>
            <a:r>
              <a:rPr kumimoji="1" lang="ja-JP" altLang="en-US" sz="3600" b="1" dirty="0">
                <a:latin typeface="メイリオ" panose="020B0604030504040204" pitchFamily="50" charset="-128"/>
                <a:ea typeface="メイリオ" panose="020B0604030504040204" pitchFamily="50" charset="-128"/>
              </a:rPr>
              <a:t>にもとづく教師あり機械学習</a:t>
            </a:r>
          </a:p>
        </p:txBody>
      </p:sp>
    </p:spTree>
    <p:extLst>
      <p:ext uri="{BB962C8B-B14F-4D97-AF65-F5344CB8AC3E}">
        <p14:creationId xmlns:p14="http://schemas.microsoft.com/office/powerpoint/2010/main" val="117530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D87FF4C-5B0C-672C-9022-2ED7BA8A0FF7}"/>
              </a:ext>
            </a:extLst>
          </p:cNvPr>
          <p:cNvSpPr txBox="1"/>
          <p:nvPr/>
        </p:nvSpPr>
        <p:spPr>
          <a:xfrm>
            <a:off x="438539" y="169884"/>
            <a:ext cx="7680308" cy="584775"/>
          </a:xfrm>
          <a:prstGeom prst="rect">
            <a:avLst/>
          </a:prstGeom>
          <a:noFill/>
        </p:spPr>
        <p:txBody>
          <a:bodyPr wrap="none" rtlCol="0">
            <a:spAutoFit/>
          </a:bodyPr>
          <a:lstStyle/>
          <a:p>
            <a:pPr algn="l"/>
            <a:r>
              <a:rPr kumimoji="1" lang="en-US" altLang="ja-JP" sz="3200" dirty="0" err="1">
                <a:latin typeface="メイリオ" panose="020B0604030504040204" pitchFamily="50" charset="-128"/>
                <a:ea typeface="メイリオ" panose="020B0604030504040204" pitchFamily="50" charset="-128"/>
              </a:rPr>
              <a:t>BoW</a:t>
            </a:r>
            <a:r>
              <a:rPr kumimoji="1" lang="ja-JP" altLang="en-US" sz="3200" dirty="0">
                <a:latin typeface="メイリオ" panose="020B0604030504040204" pitchFamily="50" charset="-128"/>
                <a:ea typeface="メイリオ" panose="020B0604030504040204" pitchFamily="50" charset="-128"/>
              </a:rPr>
              <a:t>に教師ラベルをつけたデータセット</a:t>
            </a:r>
          </a:p>
        </p:txBody>
      </p:sp>
      <p:sp>
        <p:nvSpPr>
          <p:cNvPr id="5" name="テキスト ボックス 4">
            <a:extLst>
              <a:ext uri="{FF2B5EF4-FFF2-40B4-BE49-F238E27FC236}">
                <a16:creationId xmlns:a16="http://schemas.microsoft.com/office/drawing/2014/main" id="{1D3140E4-3919-9A9C-C933-BFA0B1548451}"/>
              </a:ext>
            </a:extLst>
          </p:cNvPr>
          <p:cNvSpPr txBox="1"/>
          <p:nvPr/>
        </p:nvSpPr>
        <p:spPr>
          <a:xfrm>
            <a:off x="438539" y="819791"/>
            <a:ext cx="10636898" cy="1200329"/>
          </a:xfrm>
          <a:prstGeom prst="rect">
            <a:avLst/>
          </a:prstGeom>
          <a:noFill/>
        </p:spPr>
        <p:txBody>
          <a:bodyPr wrap="square" rtlCol="0">
            <a:spAutoFit/>
          </a:bodyPr>
          <a:lstStyle/>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tsukurepo.csv</a:t>
            </a:r>
            <a:r>
              <a:rPr kumimoji="1" lang="ja-JP" altLang="en-US" sz="2400" dirty="0">
                <a:latin typeface="メイリオ" panose="020B0604030504040204" pitchFamily="50" charset="-128"/>
                <a:ea typeface="メイリオ" panose="020B0604030504040204" pitchFamily="50" charset="-128"/>
              </a:rPr>
              <a:t>を開くと、杏仁豆腐、シュークリーム、プリンのいずれかのラベルが付いた</a:t>
            </a:r>
            <a:r>
              <a:rPr kumimoji="1" lang="en-US" altLang="ja-JP" sz="2400" dirty="0" err="1">
                <a:latin typeface="メイリオ" panose="020B0604030504040204" pitchFamily="50" charset="-128"/>
                <a:ea typeface="メイリオ" panose="020B0604030504040204" pitchFamily="50" charset="-128"/>
              </a:rPr>
              <a:t>BoW</a:t>
            </a:r>
            <a:r>
              <a:rPr kumimoji="1" lang="ja-JP" altLang="en-US" sz="2400" dirty="0">
                <a:latin typeface="メイリオ" panose="020B0604030504040204" pitchFamily="50" charset="-128"/>
                <a:ea typeface="メイリオ" panose="020B0604030504040204" pitchFamily="50" charset="-128"/>
              </a:rPr>
              <a:t>となっている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これらを教師ラベル、</a:t>
            </a:r>
            <a:r>
              <a:rPr kumimoji="1" lang="en-US" altLang="ja-JP" sz="2400" dirty="0" err="1">
                <a:latin typeface="メイリオ" panose="020B0604030504040204" pitchFamily="50" charset="-128"/>
                <a:ea typeface="メイリオ" panose="020B0604030504040204" pitchFamily="50" charset="-128"/>
              </a:rPr>
              <a:t>BoW</a:t>
            </a:r>
            <a:r>
              <a:rPr kumimoji="1" lang="ja-JP" altLang="en-US" sz="2400" dirty="0">
                <a:latin typeface="メイリオ" panose="020B0604030504040204" pitchFamily="50" charset="-128"/>
                <a:ea typeface="メイリオ" panose="020B0604030504040204" pitchFamily="50" charset="-128"/>
              </a:rPr>
              <a:t>を特徴量にして教師あり学習ができる</a:t>
            </a:r>
            <a:endParaRPr kumimoji="1" lang="en-US" altLang="ja-JP" sz="2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95FB1D2-4D23-038C-1929-76FDBC1AEBEC}"/>
              </a:ext>
            </a:extLst>
          </p:cNvPr>
          <p:cNvSpPr txBox="1"/>
          <p:nvPr/>
        </p:nvSpPr>
        <p:spPr>
          <a:xfrm>
            <a:off x="532357" y="2061589"/>
            <a:ext cx="390683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詳しくは、</a:t>
            </a:r>
            <a:r>
              <a:rPr kumimoji="1" lang="en-US" altLang="ja-JP" sz="2400" dirty="0" err="1">
                <a:latin typeface="メイリオ" panose="020B0604030504040204" pitchFamily="50" charset="-128"/>
                <a:ea typeface="メイリオ" panose="020B0604030504040204" pitchFamily="50" charset="-128"/>
              </a:rPr>
              <a:t>github</a:t>
            </a:r>
            <a:r>
              <a:rPr kumimoji="1" lang="ja-JP" altLang="en-US" sz="2400" dirty="0">
                <a:latin typeface="メイリオ" panose="020B0604030504040204" pitchFamily="50" charset="-128"/>
                <a:ea typeface="メイリオ" panose="020B0604030504040204" pitchFamily="50" charset="-128"/>
              </a:rPr>
              <a:t>をどうぞ</a:t>
            </a:r>
          </a:p>
        </p:txBody>
      </p:sp>
      <p:cxnSp>
        <p:nvCxnSpPr>
          <p:cNvPr id="9" name="直線矢印コネクタ 8">
            <a:extLst>
              <a:ext uri="{FF2B5EF4-FFF2-40B4-BE49-F238E27FC236}">
                <a16:creationId xmlns:a16="http://schemas.microsoft.com/office/drawing/2014/main" id="{6B3F5912-64A8-76BF-2C20-D569EA1CEE68}"/>
              </a:ext>
            </a:extLst>
          </p:cNvPr>
          <p:cNvCxnSpPr/>
          <p:nvPr/>
        </p:nvCxnSpPr>
        <p:spPr>
          <a:xfrm>
            <a:off x="1137632" y="3429000"/>
            <a:ext cx="0" cy="299979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05853EFC-DF79-14B9-D944-3B2CA6EE56DF}"/>
              </a:ext>
            </a:extLst>
          </p:cNvPr>
          <p:cNvSpPr txBox="1"/>
          <p:nvPr/>
        </p:nvSpPr>
        <p:spPr>
          <a:xfrm>
            <a:off x="0" y="4434061"/>
            <a:ext cx="1064715"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500</a:t>
            </a:r>
            <a:r>
              <a:rPr kumimoji="1" lang="ja-JP" altLang="en-US" sz="2400" dirty="0">
                <a:latin typeface="メイリオ" panose="020B0604030504040204" pitchFamily="50" charset="-128"/>
                <a:ea typeface="メイリオ" panose="020B0604030504040204" pitchFamily="50" charset="-128"/>
              </a:rPr>
              <a:t>件</a:t>
            </a:r>
          </a:p>
        </p:txBody>
      </p:sp>
      <p:cxnSp>
        <p:nvCxnSpPr>
          <p:cNvPr id="12" name="直線矢印コネクタ 11">
            <a:extLst>
              <a:ext uri="{FF2B5EF4-FFF2-40B4-BE49-F238E27FC236}">
                <a16:creationId xmlns:a16="http://schemas.microsoft.com/office/drawing/2014/main" id="{6BC82ACE-C6AD-ABD5-6A2A-BC1C0BBF3EF1}"/>
              </a:ext>
            </a:extLst>
          </p:cNvPr>
          <p:cNvCxnSpPr>
            <a:cxnSpLocks/>
          </p:cNvCxnSpPr>
          <p:nvPr/>
        </p:nvCxnSpPr>
        <p:spPr>
          <a:xfrm>
            <a:off x="1408220" y="3187567"/>
            <a:ext cx="10422996"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CA7698B1-386E-36CF-4062-B2AF04AFDD88}"/>
              </a:ext>
            </a:extLst>
          </p:cNvPr>
          <p:cNvSpPr txBox="1"/>
          <p:nvPr/>
        </p:nvSpPr>
        <p:spPr>
          <a:xfrm>
            <a:off x="5746954" y="2763224"/>
            <a:ext cx="1871025"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4200</a:t>
            </a:r>
            <a:r>
              <a:rPr kumimoji="1" lang="ja-JP" altLang="en-US" sz="2400" dirty="0">
                <a:latin typeface="メイリオ" panose="020B0604030504040204" pitchFamily="50" charset="-128"/>
                <a:ea typeface="メイリオ" panose="020B0604030504040204" pitchFamily="50" charset="-128"/>
              </a:rPr>
              <a:t>次元！</a:t>
            </a:r>
          </a:p>
        </p:txBody>
      </p:sp>
      <p:pic>
        <p:nvPicPr>
          <p:cNvPr id="16" name="図 15">
            <a:extLst>
              <a:ext uri="{FF2B5EF4-FFF2-40B4-BE49-F238E27FC236}">
                <a16:creationId xmlns:a16="http://schemas.microsoft.com/office/drawing/2014/main" id="{5922D0FB-D60D-DB70-8E39-2D2011D6E76B}"/>
              </a:ext>
            </a:extLst>
          </p:cNvPr>
          <p:cNvPicPr>
            <a:picLocks noChangeAspect="1"/>
          </p:cNvPicPr>
          <p:nvPr/>
        </p:nvPicPr>
        <p:blipFill>
          <a:blip r:embed="rId2"/>
          <a:stretch>
            <a:fillRect/>
          </a:stretch>
        </p:blipFill>
        <p:spPr>
          <a:xfrm>
            <a:off x="1491681" y="3318195"/>
            <a:ext cx="10320874" cy="3463227"/>
          </a:xfrm>
          <a:prstGeom prst="rect">
            <a:avLst/>
          </a:prstGeom>
        </p:spPr>
      </p:pic>
      <p:sp>
        <p:nvSpPr>
          <p:cNvPr id="2" name="テキスト ボックス 1">
            <a:extLst>
              <a:ext uri="{FF2B5EF4-FFF2-40B4-BE49-F238E27FC236}">
                <a16:creationId xmlns:a16="http://schemas.microsoft.com/office/drawing/2014/main" id="{11AA789C-B7AA-1CAD-CAA7-FE9960467EB5}"/>
              </a:ext>
            </a:extLst>
          </p:cNvPr>
          <p:cNvSpPr txBox="1"/>
          <p:nvPr/>
        </p:nvSpPr>
        <p:spPr>
          <a:xfrm>
            <a:off x="532357" y="2421398"/>
            <a:ext cx="8860118" cy="369332"/>
          </a:xfrm>
          <a:prstGeom prst="rect">
            <a:avLst/>
          </a:prstGeom>
          <a:noFill/>
        </p:spPr>
        <p:txBody>
          <a:bodyPr wrap="none" rtlCol="0">
            <a:spAutoFit/>
          </a:bodyPr>
          <a:lstStyle/>
          <a:p>
            <a:pPr algn="l"/>
            <a:r>
              <a:rPr kumimoji="1" lang="en-US" altLang="ja-JP" dirty="0">
                <a:latin typeface="メイリオ" panose="020B0604030504040204" pitchFamily="50" charset="-128"/>
                <a:ea typeface="メイリオ" panose="020B0604030504040204" pitchFamily="50" charset="-128"/>
                <a:hlinkClick r:id="rId3"/>
              </a:rPr>
              <a:t>https://github.com/ueharaLab/NLP_4-Classifier/blob/main/bow_dataset.md</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4587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990F9877-5847-0C03-BC08-3A087D1C39D6}"/>
              </a:ext>
            </a:extLst>
          </p:cNvPr>
          <p:cNvPicPr>
            <a:picLocks noChangeAspect="1"/>
          </p:cNvPicPr>
          <p:nvPr/>
        </p:nvPicPr>
        <p:blipFill>
          <a:blip r:embed="rId2"/>
          <a:stretch>
            <a:fillRect/>
          </a:stretch>
        </p:blipFill>
        <p:spPr>
          <a:xfrm>
            <a:off x="519093" y="4377765"/>
            <a:ext cx="4175760" cy="2301240"/>
          </a:xfrm>
          <a:prstGeom prst="rect">
            <a:avLst/>
          </a:prstGeom>
        </p:spPr>
      </p:pic>
      <p:sp>
        <p:nvSpPr>
          <p:cNvPr id="2" name="テキスト ボックス 1">
            <a:extLst>
              <a:ext uri="{FF2B5EF4-FFF2-40B4-BE49-F238E27FC236}">
                <a16:creationId xmlns:a16="http://schemas.microsoft.com/office/drawing/2014/main" id="{EA1EB885-7539-544A-40E6-E5312C2676EE}"/>
              </a:ext>
            </a:extLst>
          </p:cNvPr>
          <p:cNvSpPr txBox="1"/>
          <p:nvPr/>
        </p:nvSpPr>
        <p:spPr>
          <a:xfrm>
            <a:off x="355998" y="272542"/>
            <a:ext cx="7468711" cy="584775"/>
          </a:xfrm>
          <a:prstGeom prst="rect">
            <a:avLst/>
          </a:prstGeom>
          <a:noFill/>
        </p:spPr>
        <p:txBody>
          <a:bodyPr wrap="none" rtlCol="0">
            <a:spAutoFit/>
          </a:bodyPr>
          <a:lstStyle/>
          <a:p>
            <a:pPr algn="l"/>
            <a:r>
              <a:rPr kumimoji="1" lang="en-US" altLang="ja-JP" sz="3200" dirty="0" err="1">
                <a:latin typeface="メイリオ" panose="020B0604030504040204" pitchFamily="50" charset="-128"/>
                <a:ea typeface="メイリオ" panose="020B0604030504040204" pitchFamily="50" charset="-128"/>
              </a:rPr>
              <a:t>BoW</a:t>
            </a:r>
            <a:r>
              <a:rPr kumimoji="1" lang="ja-JP" altLang="en-US" sz="3200" dirty="0">
                <a:latin typeface="メイリオ" panose="020B0604030504040204" pitchFamily="50" charset="-128"/>
                <a:ea typeface="メイリオ" panose="020B0604030504040204" pitchFamily="50" charset="-128"/>
              </a:rPr>
              <a:t>の各データは</a:t>
            </a:r>
            <a:r>
              <a:rPr kumimoji="1" lang="en-US" altLang="ja-JP" sz="3200" dirty="0">
                <a:latin typeface="メイリオ" panose="020B0604030504040204" pitchFamily="50" charset="-128"/>
                <a:ea typeface="メイリオ" panose="020B0604030504040204" pitchFamily="50" charset="-128"/>
              </a:rPr>
              <a:t>4200</a:t>
            </a:r>
            <a:r>
              <a:rPr kumimoji="1" lang="ja-JP" altLang="en-US" sz="3200" dirty="0">
                <a:latin typeface="メイリオ" panose="020B0604030504040204" pitchFamily="50" charset="-128"/>
                <a:ea typeface="メイリオ" panose="020B0604030504040204" pitchFamily="50" charset="-128"/>
              </a:rPr>
              <a:t>次元空間上の点</a:t>
            </a:r>
          </a:p>
        </p:txBody>
      </p:sp>
      <p:sp>
        <p:nvSpPr>
          <p:cNvPr id="5" name="テキスト ボックス 4">
            <a:extLst>
              <a:ext uri="{FF2B5EF4-FFF2-40B4-BE49-F238E27FC236}">
                <a16:creationId xmlns:a16="http://schemas.microsoft.com/office/drawing/2014/main" id="{F0EB9971-4D85-BCCE-11C5-59A2259DADCD}"/>
              </a:ext>
            </a:extLst>
          </p:cNvPr>
          <p:cNvSpPr txBox="1"/>
          <p:nvPr/>
        </p:nvSpPr>
        <p:spPr>
          <a:xfrm>
            <a:off x="384276" y="857318"/>
            <a:ext cx="9655332" cy="1938992"/>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簡単化して</a:t>
            </a:r>
            <a:r>
              <a:rPr kumimoji="1" lang="en-US" altLang="ja-JP" sz="2400" dirty="0">
                <a:latin typeface="メイリオ" panose="020B0604030504040204" pitchFamily="50" charset="-128"/>
                <a:ea typeface="メイリオ" panose="020B0604030504040204" pitchFamily="50" charset="-128"/>
              </a:rPr>
              <a:t>3</a:t>
            </a:r>
            <a:r>
              <a:rPr kumimoji="1" lang="ja-JP" altLang="en-US" sz="2400" dirty="0">
                <a:latin typeface="メイリオ" panose="020B0604030504040204" pitchFamily="50" charset="-128"/>
                <a:ea typeface="メイリオ" panose="020B0604030504040204" pitchFamily="50" charset="-128"/>
              </a:rPr>
              <a:t>次元</a:t>
            </a:r>
            <a:r>
              <a:rPr kumimoji="1" lang="en-US" altLang="ja-JP" sz="2400" dirty="0" err="1">
                <a:latin typeface="メイリオ" panose="020B0604030504040204" pitchFamily="50" charset="-128"/>
                <a:ea typeface="メイリオ" panose="020B0604030504040204" pitchFamily="50" charset="-128"/>
              </a:rPr>
              <a:t>BoW</a:t>
            </a:r>
            <a:r>
              <a:rPr kumimoji="1" lang="ja-JP" altLang="en-US" sz="2400" dirty="0">
                <a:latin typeface="メイリオ" panose="020B0604030504040204" pitchFamily="50" charset="-128"/>
                <a:ea typeface="メイリオ" panose="020B0604030504040204" pitchFamily="50" charset="-128"/>
              </a:rPr>
              <a:t>を空間として捉える。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各データ</a:t>
            </a:r>
            <a:r>
              <a:rPr kumimoji="1" lang="en-US" altLang="ja-JP" sz="2400" dirty="0">
                <a:latin typeface="メイリオ" panose="020B0604030504040204" pitchFamily="50" charset="-128"/>
                <a:ea typeface="メイリオ" panose="020B0604030504040204" pitchFamily="50" charset="-128"/>
              </a:rPr>
              <a:t>(</a:t>
            </a:r>
            <a:r>
              <a:rPr kumimoji="1" lang="en-US" altLang="ja-JP" sz="2400" dirty="0" err="1">
                <a:latin typeface="メイリオ" panose="020B0604030504040204" pitchFamily="50" charset="-128"/>
                <a:ea typeface="メイリオ" panose="020B0604030504040204" pitchFamily="50" charset="-128"/>
              </a:rPr>
              <a:t>BoW</a:t>
            </a:r>
            <a:r>
              <a:rPr kumimoji="1" lang="ja-JP" altLang="en-US" sz="2400" dirty="0">
                <a:latin typeface="メイリオ" panose="020B0604030504040204" pitchFamily="50" charset="-128"/>
                <a:ea typeface="メイリオ" panose="020B0604030504040204" pitchFamily="50" charset="-128"/>
              </a:rPr>
              <a:t>の各行）は</a:t>
            </a:r>
            <a:r>
              <a:rPr kumimoji="1" lang="en-US" altLang="ja-JP" sz="2400" dirty="0">
                <a:latin typeface="メイリオ" panose="020B0604030504040204" pitchFamily="50" charset="-128"/>
                <a:ea typeface="メイリオ" panose="020B0604030504040204" pitchFamily="50" charset="-128"/>
              </a:rPr>
              <a:t>3</a:t>
            </a:r>
            <a:r>
              <a:rPr kumimoji="1" lang="ja-JP" altLang="en-US" sz="2400" dirty="0">
                <a:latin typeface="メイリオ" panose="020B0604030504040204" pitchFamily="50" charset="-128"/>
                <a:ea typeface="メイリオ" panose="020B0604030504040204" pitchFamily="50" charset="-128"/>
              </a:rPr>
              <a:t>次元空間上の点で表せる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各点の座標は、カスタード、生クリーム、カラメルの頻度</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プリン、シュークリーム、杏仁豆腐、ぞれぞれ空間上である程度まとまっているはず</a:t>
            </a:r>
          </a:p>
        </p:txBody>
      </p:sp>
      <p:sp>
        <p:nvSpPr>
          <p:cNvPr id="8" name="楕円 7">
            <a:extLst>
              <a:ext uri="{FF2B5EF4-FFF2-40B4-BE49-F238E27FC236}">
                <a16:creationId xmlns:a16="http://schemas.microsoft.com/office/drawing/2014/main" id="{86FAF95A-1C54-705E-861B-024BCA9E024E}"/>
              </a:ext>
            </a:extLst>
          </p:cNvPr>
          <p:cNvSpPr/>
          <p:nvPr/>
        </p:nvSpPr>
        <p:spPr>
          <a:xfrm>
            <a:off x="1810138" y="4284461"/>
            <a:ext cx="783772" cy="31724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1470B7F4-4568-F611-A94F-5780F3149602}"/>
              </a:ext>
            </a:extLst>
          </p:cNvPr>
          <p:cNvSpPr/>
          <p:nvPr/>
        </p:nvSpPr>
        <p:spPr>
          <a:xfrm>
            <a:off x="2593910" y="4284461"/>
            <a:ext cx="783772" cy="31724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08C75DC7-02BC-7423-0819-91D035A77788}"/>
              </a:ext>
            </a:extLst>
          </p:cNvPr>
          <p:cNvSpPr/>
          <p:nvPr/>
        </p:nvSpPr>
        <p:spPr>
          <a:xfrm>
            <a:off x="3911081" y="4284461"/>
            <a:ext cx="783772" cy="31724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4C4740E4-CE18-AC20-93AA-3B98472964A5}"/>
              </a:ext>
            </a:extLst>
          </p:cNvPr>
          <p:cNvCxnSpPr>
            <a:cxnSpLocks/>
          </p:cNvCxnSpPr>
          <p:nvPr/>
        </p:nvCxnSpPr>
        <p:spPr>
          <a:xfrm>
            <a:off x="7778328" y="2982412"/>
            <a:ext cx="0" cy="19649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B0856692-D946-11E4-E6E2-695B9B1E2AEA}"/>
              </a:ext>
            </a:extLst>
          </p:cNvPr>
          <p:cNvCxnSpPr>
            <a:cxnSpLocks/>
          </p:cNvCxnSpPr>
          <p:nvPr/>
        </p:nvCxnSpPr>
        <p:spPr>
          <a:xfrm flipH="1">
            <a:off x="5751275" y="4947351"/>
            <a:ext cx="2027055" cy="1256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A7F5B2EE-9A77-4ABA-F705-6306F3184D1A}"/>
              </a:ext>
            </a:extLst>
          </p:cNvPr>
          <p:cNvCxnSpPr>
            <a:cxnSpLocks/>
          </p:cNvCxnSpPr>
          <p:nvPr/>
        </p:nvCxnSpPr>
        <p:spPr>
          <a:xfrm>
            <a:off x="7793218" y="4977744"/>
            <a:ext cx="2246389" cy="10081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68E35265-CA82-4FA1-30D4-333C30485D22}"/>
              </a:ext>
            </a:extLst>
          </p:cNvPr>
          <p:cNvSpPr txBox="1"/>
          <p:nvPr/>
        </p:nvSpPr>
        <p:spPr>
          <a:xfrm>
            <a:off x="5456854" y="6069025"/>
            <a:ext cx="1538883"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生クリーム</a:t>
            </a:r>
          </a:p>
        </p:txBody>
      </p:sp>
      <p:sp>
        <p:nvSpPr>
          <p:cNvPr id="16" name="テキスト ボックス 15">
            <a:extLst>
              <a:ext uri="{FF2B5EF4-FFF2-40B4-BE49-F238E27FC236}">
                <a16:creationId xmlns:a16="http://schemas.microsoft.com/office/drawing/2014/main" id="{1A9812A4-FE07-2162-0C4C-27F9F3CE974D}"/>
              </a:ext>
            </a:extLst>
          </p:cNvPr>
          <p:cNvSpPr txBox="1"/>
          <p:nvPr/>
        </p:nvSpPr>
        <p:spPr>
          <a:xfrm>
            <a:off x="9950025" y="6020703"/>
            <a:ext cx="1538883"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カスタード</a:t>
            </a:r>
          </a:p>
        </p:txBody>
      </p:sp>
      <p:sp>
        <p:nvSpPr>
          <p:cNvPr id="17" name="テキスト ボックス 16">
            <a:extLst>
              <a:ext uri="{FF2B5EF4-FFF2-40B4-BE49-F238E27FC236}">
                <a16:creationId xmlns:a16="http://schemas.microsoft.com/office/drawing/2014/main" id="{6C21A4F6-9395-C6E9-47D8-0A61CF6228ED}"/>
              </a:ext>
            </a:extLst>
          </p:cNvPr>
          <p:cNvSpPr txBox="1"/>
          <p:nvPr/>
        </p:nvSpPr>
        <p:spPr>
          <a:xfrm>
            <a:off x="7539319" y="2534460"/>
            <a:ext cx="1231106"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カラメル</a:t>
            </a:r>
          </a:p>
        </p:txBody>
      </p:sp>
      <p:sp>
        <p:nvSpPr>
          <p:cNvPr id="18" name="テキスト ボックス 17">
            <a:extLst>
              <a:ext uri="{FF2B5EF4-FFF2-40B4-BE49-F238E27FC236}">
                <a16:creationId xmlns:a16="http://schemas.microsoft.com/office/drawing/2014/main" id="{7F9F183E-7168-3431-8293-F0AE887C4700}"/>
              </a:ext>
            </a:extLst>
          </p:cNvPr>
          <p:cNvSpPr txBox="1"/>
          <p:nvPr/>
        </p:nvSpPr>
        <p:spPr>
          <a:xfrm rot="3925103">
            <a:off x="8277299" y="4129334"/>
            <a:ext cx="364202" cy="307777"/>
          </a:xfrm>
          <a:prstGeom prst="rect">
            <a:avLst/>
          </a:prstGeom>
          <a:noFill/>
        </p:spPr>
        <p:txBody>
          <a:bodyPr wrap="non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9" name="テキスト ボックス 18">
            <a:extLst>
              <a:ext uri="{FF2B5EF4-FFF2-40B4-BE49-F238E27FC236}">
                <a16:creationId xmlns:a16="http://schemas.microsoft.com/office/drawing/2014/main" id="{8AEA9832-7B1C-D14B-5E57-0FA7274BA832}"/>
              </a:ext>
            </a:extLst>
          </p:cNvPr>
          <p:cNvSpPr txBox="1"/>
          <p:nvPr/>
        </p:nvSpPr>
        <p:spPr>
          <a:xfrm rot="3925103">
            <a:off x="8877312" y="4079019"/>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0" name="テキスト ボックス 19">
            <a:extLst>
              <a:ext uri="{FF2B5EF4-FFF2-40B4-BE49-F238E27FC236}">
                <a16:creationId xmlns:a16="http://schemas.microsoft.com/office/drawing/2014/main" id="{A5F27BDF-F51D-FB4C-D73F-554C0B137D98}"/>
              </a:ext>
            </a:extLst>
          </p:cNvPr>
          <p:cNvSpPr txBox="1"/>
          <p:nvPr/>
        </p:nvSpPr>
        <p:spPr>
          <a:xfrm rot="3925103">
            <a:off x="6883252" y="4520515"/>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859B5906-7F46-5711-6A30-1F2814591374}"/>
              </a:ext>
            </a:extLst>
          </p:cNvPr>
          <p:cNvSpPr txBox="1"/>
          <p:nvPr/>
        </p:nvSpPr>
        <p:spPr>
          <a:xfrm rot="3925103">
            <a:off x="8108198" y="4790963"/>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2" name="テキスト ボックス 21">
            <a:extLst>
              <a:ext uri="{FF2B5EF4-FFF2-40B4-BE49-F238E27FC236}">
                <a16:creationId xmlns:a16="http://schemas.microsoft.com/office/drawing/2014/main" id="{1663FEED-1CCC-28F6-2A67-C36B4FA75D62}"/>
              </a:ext>
            </a:extLst>
          </p:cNvPr>
          <p:cNvSpPr txBox="1"/>
          <p:nvPr/>
        </p:nvSpPr>
        <p:spPr>
          <a:xfrm rot="3925103">
            <a:off x="8015541" y="5184941"/>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3" name="テキスト ボックス 22">
            <a:extLst>
              <a:ext uri="{FF2B5EF4-FFF2-40B4-BE49-F238E27FC236}">
                <a16:creationId xmlns:a16="http://schemas.microsoft.com/office/drawing/2014/main" id="{01C7093F-8651-02FA-3A7F-F545D992E981}"/>
              </a:ext>
            </a:extLst>
          </p:cNvPr>
          <p:cNvSpPr txBox="1"/>
          <p:nvPr/>
        </p:nvSpPr>
        <p:spPr>
          <a:xfrm rot="3925103">
            <a:off x="7597906" y="455947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4" name="テキスト ボックス 23">
            <a:extLst>
              <a:ext uri="{FF2B5EF4-FFF2-40B4-BE49-F238E27FC236}">
                <a16:creationId xmlns:a16="http://schemas.microsoft.com/office/drawing/2014/main" id="{4A761A5F-D7DC-8D81-0C9E-DB001CB6C71A}"/>
              </a:ext>
            </a:extLst>
          </p:cNvPr>
          <p:cNvSpPr txBox="1"/>
          <p:nvPr/>
        </p:nvSpPr>
        <p:spPr>
          <a:xfrm rot="3925103">
            <a:off x="8397462" y="4812561"/>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5" name="テキスト ボックス 24">
            <a:extLst>
              <a:ext uri="{FF2B5EF4-FFF2-40B4-BE49-F238E27FC236}">
                <a16:creationId xmlns:a16="http://schemas.microsoft.com/office/drawing/2014/main" id="{A859A069-5958-91B8-52E9-CC21F8FCD6BD}"/>
              </a:ext>
            </a:extLst>
          </p:cNvPr>
          <p:cNvSpPr txBox="1"/>
          <p:nvPr/>
        </p:nvSpPr>
        <p:spPr>
          <a:xfrm rot="3925103">
            <a:off x="9136358" y="3129017"/>
            <a:ext cx="364202" cy="461665"/>
          </a:xfrm>
          <a:prstGeom prst="rect">
            <a:avLst/>
          </a:prstGeom>
          <a:noFill/>
        </p:spPr>
        <p:txBody>
          <a:bodyPr wrap="square" rtlCol="0">
            <a:spAutoFit/>
          </a:bodyPr>
          <a:lstStyle/>
          <a:p>
            <a:pPr algn="l"/>
            <a:r>
              <a:rPr kumimoji="1" lang="ja-JP" altLang="en-US" sz="2400" dirty="0">
                <a:solidFill>
                  <a:srgbClr val="FF0000"/>
                </a:solidFill>
                <a:latin typeface="メイリオ" panose="020B0604030504040204" pitchFamily="50" charset="-128"/>
                <a:ea typeface="メイリオ" panose="020B0604030504040204" pitchFamily="50" charset="-128"/>
              </a:rPr>
              <a:t>●</a:t>
            </a:r>
          </a:p>
        </p:txBody>
      </p:sp>
      <p:sp>
        <p:nvSpPr>
          <p:cNvPr id="26" name="テキスト ボックス 25">
            <a:extLst>
              <a:ext uri="{FF2B5EF4-FFF2-40B4-BE49-F238E27FC236}">
                <a16:creationId xmlns:a16="http://schemas.microsoft.com/office/drawing/2014/main" id="{DF0B35CC-EC9A-269B-9D4B-D45847CFE016}"/>
              </a:ext>
            </a:extLst>
          </p:cNvPr>
          <p:cNvSpPr txBox="1"/>
          <p:nvPr/>
        </p:nvSpPr>
        <p:spPr>
          <a:xfrm rot="3925103">
            <a:off x="8635001" y="4239733"/>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7" name="テキスト ボックス 26">
            <a:extLst>
              <a:ext uri="{FF2B5EF4-FFF2-40B4-BE49-F238E27FC236}">
                <a16:creationId xmlns:a16="http://schemas.microsoft.com/office/drawing/2014/main" id="{36E32D6B-A17A-4548-24A0-986EBF6D8062}"/>
              </a:ext>
            </a:extLst>
          </p:cNvPr>
          <p:cNvSpPr txBox="1"/>
          <p:nvPr/>
        </p:nvSpPr>
        <p:spPr>
          <a:xfrm rot="3925103">
            <a:off x="7234285" y="468706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8" name="テキスト ボックス 27">
            <a:extLst>
              <a:ext uri="{FF2B5EF4-FFF2-40B4-BE49-F238E27FC236}">
                <a16:creationId xmlns:a16="http://schemas.microsoft.com/office/drawing/2014/main" id="{9F26B36C-9C56-0FDE-E581-EF56D1E74BE2}"/>
              </a:ext>
            </a:extLst>
          </p:cNvPr>
          <p:cNvSpPr txBox="1"/>
          <p:nvPr/>
        </p:nvSpPr>
        <p:spPr>
          <a:xfrm rot="3925103">
            <a:off x="7929418" y="490433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9" name="テキスト ボックス 28">
            <a:extLst>
              <a:ext uri="{FF2B5EF4-FFF2-40B4-BE49-F238E27FC236}">
                <a16:creationId xmlns:a16="http://schemas.microsoft.com/office/drawing/2014/main" id="{6DEAF4F3-0778-B68D-C1C6-5EA764C13E16}"/>
              </a:ext>
            </a:extLst>
          </p:cNvPr>
          <p:cNvSpPr txBox="1"/>
          <p:nvPr/>
        </p:nvSpPr>
        <p:spPr>
          <a:xfrm rot="3925103">
            <a:off x="8541237" y="464835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DB8D5EA8-7CE7-A1D3-4079-06479A9BDD85}"/>
              </a:ext>
            </a:extLst>
          </p:cNvPr>
          <p:cNvSpPr txBox="1"/>
          <p:nvPr/>
        </p:nvSpPr>
        <p:spPr>
          <a:xfrm rot="3925103">
            <a:off x="6718541" y="4940748"/>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1" name="テキスト ボックス 30">
            <a:extLst>
              <a:ext uri="{FF2B5EF4-FFF2-40B4-BE49-F238E27FC236}">
                <a16:creationId xmlns:a16="http://schemas.microsoft.com/office/drawing/2014/main" id="{F81D23CC-0C66-CB7B-F44A-CA40770E6CF2}"/>
              </a:ext>
            </a:extLst>
          </p:cNvPr>
          <p:cNvSpPr txBox="1"/>
          <p:nvPr/>
        </p:nvSpPr>
        <p:spPr>
          <a:xfrm rot="3925103">
            <a:off x="8166329" y="4258124"/>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2" name="テキスト ボックス 31">
            <a:extLst>
              <a:ext uri="{FF2B5EF4-FFF2-40B4-BE49-F238E27FC236}">
                <a16:creationId xmlns:a16="http://schemas.microsoft.com/office/drawing/2014/main" id="{A2AD5504-9C4A-2F26-A4AE-712372CFD89F}"/>
              </a:ext>
            </a:extLst>
          </p:cNvPr>
          <p:cNvSpPr txBox="1"/>
          <p:nvPr/>
        </p:nvSpPr>
        <p:spPr>
          <a:xfrm rot="3925103">
            <a:off x="9138059" y="2815768"/>
            <a:ext cx="364202" cy="461665"/>
          </a:xfrm>
          <a:prstGeom prst="rect">
            <a:avLst/>
          </a:prstGeom>
          <a:noFill/>
        </p:spPr>
        <p:txBody>
          <a:bodyPr wrap="square" rtlCol="0">
            <a:spAutoFit/>
          </a:bodyPr>
          <a:lstStyle/>
          <a:p>
            <a:pPr algn="l"/>
            <a:r>
              <a:rPr kumimoji="1" lang="ja-JP" altLang="en-US" sz="2400" dirty="0">
                <a:solidFill>
                  <a:srgbClr val="00B050"/>
                </a:solidFill>
                <a:latin typeface="メイリオ" panose="020B0604030504040204" pitchFamily="50" charset="-128"/>
                <a:ea typeface="メイリオ" panose="020B0604030504040204" pitchFamily="50" charset="-128"/>
              </a:rPr>
              <a:t>●</a:t>
            </a:r>
          </a:p>
        </p:txBody>
      </p:sp>
      <p:sp>
        <p:nvSpPr>
          <p:cNvPr id="33" name="テキスト ボックス 32">
            <a:extLst>
              <a:ext uri="{FF2B5EF4-FFF2-40B4-BE49-F238E27FC236}">
                <a16:creationId xmlns:a16="http://schemas.microsoft.com/office/drawing/2014/main" id="{20AD15BE-9F40-FE8F-7462-49CCA2A7BE34}"/>
              </a:ext>
            </a:extLst>
          </p:cNvPr>
          <p:cNvSpPr txBox="1"/>
          <p:nvPr/>
        </p:nvSpPr>
        <p:spPr>
          <a:xfrm rot="3925103">
            <a:off x="7545814" y="4060872"/>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4" name="テキスト ボックス 33">
            <a:extLst>
              <a:ext uri="{FF2B5EF4-FFF2-40B4-BE49-F238E27FC236}">
                <a16:creationId xmlns:a16="http://schemas.microsoft.com/office/drawing/2014/main" id="{7505AD89-D631-643E-5F5B-1A6E45A657B1}"/>
              </a:ext>
            </a:extLst>
          </p:cNvPr>
          <p:cNvSpPr txBox="1"/>
          <p:nvPr/>
        </p:nvSpPr>
        <p:spPr>
          <a:xfrm rot="3925103">
            <a:off x="7817399" y="4202995"/>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5" name="テキスト ボックス 34">
            <a:extLst>
              <a:ext uri="{FF2B5EF4-FFF2-40B4-BE49-F238E27FC236}">
                <a16:creationId xmlns:a16="http://schemas.microsoft.com/office/drawing/2014/main" id="{8430036B-5B6B-DC23-AC6F-D471B149DE09}"/>
              </a:ext>
            </a:extLst>
          </p:cNvPr>
          <p:cNvSpPr txBox="1"/>
          <p:nvPr/>
        </p:nvSpPr>
        <p:spPr>
          <a:xfrm rot="3925103">
            <a:off x="7325011" y="5089575"/>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3EE98555-D49E-C641-9187-A6D28EF4BCD3}"/>
              </a:ext>
            </a:extLst>
          </p:cNvPr>
          <p:cNvSpPr txBox="1"/>
          <p:nvPr/>
        </p:nvSpPr>
        <p:spPr>
          <a:xfrm rot="3925103">
            <a:off x="7442491" y="4377287"/>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7" name="テキスト ボックス 36">
            <a:extLst>
              <a:ext uri="{FF2B5EF4-FFF2-40B4-BE49-F238E27FC236}">
                <a16:creationId xmlns:a16="http://schemas.microsoft.com/office/drawing/2014/main" id="{5F5297DC-D53C-C0CB-14CE-5D9A3BC8131A}"/>
              </a:ext>
            </a:extLst>
          </p:cNvPr>
          <p:cNvSpPr txBox="1"/>
          <p:nvPr/>
        </p:nvSpPr>
        <p:spPr>
          <a:xfrm rot="3925103">
            <a:off x="7036138" y="5086725"/>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8" name="テキスト ボックス 37">
            <a:extLst>
              <a:ext uri="{FF2B5EF4-FFF2-40B4-BE49-F238E27FC236}">
                <a16:creationId xmlns:a16="http://schemas.microsoft.com/office/drawing/2014/main" id="{9D6DEBAE-1DDA-156D-E3E2-80C383C1D993}"/>
              </a:ext>
            </a:extLst>
          </p:cNvPr>
          <p:cNvSpPr txBox="1"/>
          <p:nvPr/>
        </p:nvSpPr>
        <p:spPr>
          <a:xfrm rot="3925103">
            <a:off x="7642608" y="520026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9" name="テキスト ボックス 38">
            <a:extLst>
              <a:ext uri="{FF2B5EF4-FFF2-40B4-BE49-F238E27FC236}">
                <a16:creationId xmlns:a16="http://schemas.microsoft.com/office/drawing/2014/main" id="{25520DA7-E20D-1044-FDC7-E7B6B5406D97}"/>
              </a:ext>
            </a:extLst>
          </p:cNvPr>
          <p:cNvSpPr txBox="1"/>
          <p:nvPr/>
        </p:nvSpPr>
        <p:spPr>
          <a:xfrm rot="3925103">
            <a:off x="7884477" y="4584649"/>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40" name="テキスト ボックス 39">
            <a:extLst>
              <a:ext uri="{FF2B5EF4-FFF2-40B4-BE49-F238E27FC236}">
                <a16:creationId xmlns:a16="http://schemas.microsoft.com/office/drawing/2014/main" id="{4EF4AAEC-EDE9-23B7-3369-A0F9CD1A54EF}"/>
              </a:ext>
            </a:extLst>
          </p:cNvPr>
          <p:cNvSpPr txBox="1"/>
          <p:nvPr/>
        </p:nvSpPr>
        <p:spPr>
          <a:xfrm rot="3925103">
            <a:off x="7567409" y="4882582"/>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41" name="テキスト ボックス 40">
            <a:extLst>
              <a:ext uri="{FF2B5EF4-FFF2-40B4-BE49-F238E27FC236}">
                <a16:creationId xmlns:a16="http://schemas.microsoft.com/office/drawing/2014/main" id="{AF42DCCC-9E49-5D02-93AE-0BD852EB2419}"/>
              </a:ext>
            </a:extLst>
          </p:cNvPr>
          <p:cNvSpPr txBox="1"/>
          <p:nvPr/>
        </p:nvSpPr>
        <p:spPr>
          <a:xfrm rot="3925103">
            <a:off x="8275510" y="4582921"/>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7FBAD29-F90D-5FE8-84CE-C4DA599955FC}"/>
              </a:ext>
            </a:extLst>
          </p:cNvPr>
          <p:cNvSpPr txBox="1"/>
          <p:nvPr/>
        </p:nvSpPr>
        <p:spPr>
          <a:xfrm>
            <a:off x="9485609" y="2903792"/>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プリン</a:t>
            </a:r>
          </a:p>
        </p:txBody>
      </p:sp>
      <p:sp>
        <p:nvSpPr>
          <p:cNvPr id="44" name="テキスト ボックス 43">
            <a:extLst>
              <a:ext uri="{FF2B5EF4-FFF2-40B4-BE49-F238E27FC236}">
                <a16:creationId xmlns:a16="http://schemas.microsoft.com/office/drawing/2014/main" id="{740C7540-4568-413E-3BD6-7A9E5D4D8B18}"/>
              </a:ext>
            </a:extLst>
          </p:cNvPr>
          <p:cNvSpPr txBox="1"/>
          <p:nvPr/>
        </p:nvSpPr>
        <p:spPr>
          <a:xfrm>
            <a:off x="9531321" y="3186534"/>
            <a:ext cx="233910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シュークリーム</a:t>
            </a:r>
          </a:p>
        </p:txBody>
      </p:sp>
      <p:sp>
        <p:nvSpPr>
          <p:cNvPr id="46" name="テキスト ボックス 45">
            <a:extLst>
              <a:ext uri="{FF2B5EF4-FFF2-40B4-BE49-F238E27FC236}">
                <a16:creationId xmlns:a16="http://schemas.microsoft.com/office/drawing/2014/main" id="{DFDED3C4-0396-188D-22F0-00BE4119AD8C}"/>
              </a:ext>
            </a:extLst>
          </p:cNvPr>
          <p:cNvSpPr txBox="1"/>
          <p:nvPr/>
        </p:nvSpPr>
        <p:spPr>
          <a:xfrm>
            <a:off x="6493262" y="6341362"/>
            <a:ext cx="4095993" cy="461665"/>
          </a:xfrm>
          <a:prstGeom prst="rect">
            <a:avLst/>
          </a:prstGeom>
          <a:noFill/>
        </p:spPr>
        <p:txBody>
          <a:bodyPr wrap="none" rtlCol="0">
            <a:spAutoFit/>
          </a:bodyPr>
          <a:lstStyle/>
          <a:p>
            <a:pPr algn="l"/>
            <a:r>
              <a:rPr kumimoji="1" lang="ja-JP" altLang="en-US" sz="2400" b="1" dirty="0">
                <a:latin typeface="メイリオ" panose="020B0604030504040204" pitchFamily="50" charset="-128"/>
                <a:ea typeface="メイリオ" panose="020B0604030504040204" pitchFamily="50" charset="-128"/>
              </a:rPr>
              <a:t>実際は</a:t>
            </a:r>
            <a:r>
              <a:rPr kumimoji="1" lang="en-US" altLang="ja-JP" sz="2400" b="1" dirty="0">
                <a:latin typeface="メイリオ" panose="020B0604030504040204" pitchFamily="50" charset="-128"/>
                <a:ea typeface="メイリオ" panose="020B0604030504040204" pitchFamily="50" charset="-128"/>
              </a:rPr>
              <a:t>4200</a:t>
            </a:r>
            <a:r>
              <a:rPr kumimoji="1" lang="ja-JP" altLang="en-US" sz="2400" b="1" dirty="0">
                <a:latin typeface="メイリオ" panose="020B0604030504040204" pitchFamily="50" charset="-128"/>
                <a:ea typeface="メイリオ" panose="020B0604030504040204" pitchFamily="50" charset="-128"/>
              </a:rPr>
              <a:t>次元空間上の点</a:t>
            </a:r>
          </a:p>
        </p:txBody>
      </p:sp>
      <p:sp>
        <p:nvSpPr>
          <p:cNvPr id="47" name="テキスト ボックス 46">
            <a:extLst>
              <a:ext uri="{FF2B5EF4-FFF2-40B4-BE49-F238E27FC236}">
                <a16:creationId xmlns:a16="http://schemas.microsoft.com/office/drawing/2014/main" id="{889A7608-0A00-AC71-EBDF-FB61F5E0E376}"/>
              </a:ext>
            </a:extLst>
          </p:cNvPr>
          <p:cNvSpPr txBox="1"/>
          <p:nvPr/>
        </p:nvSpPr>
        <p:spPr>
          <a:xfrm>
            <a:off x="9360021" y="3582180"/>
            <a:ext cx="233910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杏仁豆腐は省略</a:t>
            </a:r>
          </a:p>
        </p:txBody>
      </p:sp>
      <p:sp>
        <p:nvSpPr>
          <p:cNvPr id="50" name="テキスト ボックス 49">
            <a:extLst>
              <a:ext uri="{FF2B5EF4-FFF2-40B4-BE49-F238E27FC236}">
                <a16:creationId xmlns:a16="http://schemas.microsoft.com/office/drawing/2014/main" id="{A0B0C874-CF27-0517-C9F6-6EF2B303909F}"/>
              </a:ext>
            </a:extLst>
          </p:cNvPr>
          <p:cNvSpPr txBox="1"/>
          <p:nvPr/>
        </p:nvSpPr>
        <p:spPr>
          <a:xfrm rot="18852434">
            <a:off x="8289885" y="4659907"/>
            <a:ext cx="1851747"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カスタードらしい空間領域</a:t>
            </a:r>
          </a:p>
        </p:txBody>
      </p:sp>
      <p:sp>
        <p:nvSpPr>
          <p:cNvPr id="51" name="楕円 50">
            <a:extLst>
              <a:ext uri="{FF2B5EF4-FFF2-40B4-BE49-F238E27FC236}">
                <a16:creationId xmlns:a16="http://schemas.microsoft.com/office/drawing/2014/main" id="{C526FA82-0AC3-20B1-23DF-1B545A41CA98}"/>
              </a:ext>
            </a:extLst>
          </p:cNvPr>
          <p:cNvSpPr/>
          <p:nvPr/>
        </p:nvSpPr>
        <p:spPr>
          <a:xfrm rot="18998506">
            <a:off x="7685593" y="4348858"/>
            <a:ext cx="1831655" cy="7573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楕円 51">
            <a:extLst>
              <a:ext uri="{FF2B5EF4-FFF2-40B4-BE49-F238E27FC236}">
                <a16:creationId xmlns:a16="http://schemas.microsoft.com/office/drawing/2014/main" id="{C7A329A2-C45A-898E-87E1-38AD9967E4BB}"/>
              </a:ext>
            </a:extLst>
          </p:cNvPr>
          <p:cNvSpPr/>
          <p:nvPr/>
        </p:nvSpPr>
        <p:spPr>
          <a:xfrm rot="18998506">
            <a:off x="6561679" y="4368881"/>
            <a:ext cx="1831655" cy="757393"/>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ボックス 52">
            <a:extLst>
              <a:ext uri="{FF2B5EF4-FFF2-40B4-BE49-F238E27FC236}">
                <a16:creationId xmlns:a16="http://schemas.microsoft.com/office/drawing/2014/main" id="{98A15FC1-8DDB-ED14-ED56-8A671FB3CD36}"/>
              </a:ext>
            </a:extLst>
          </p:cNvPr>
          <p:cNvSpPr txBox="1"/>
          <p:nvPr/>
        </p:nvSpPr>
        <p:spPr>
          <a:xfrm rot="18592327">
            <a:off x="6040716" y="4010425"/>
            <a:ext cx="1851748"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カラメルらしい空間領域</a:t>
            </a:r>
          </a:p>
        </p:txBody>
      </p:sp>
      <p:sp>
        <p:nvSpPr>
          <p:cNvPr id="54" name="テキスト ボックス 53">
            <a:extLst>
              <a:ext uri="{FF2B5EF4-FFF2-40B4-BE49-F238E27FC236}">
                <a16:creationId xmlns:a16="http://schemas.microsoft.com/office/drawing/2014/main" id="{1C471698-6BED-4250-8766-1DEFCE39B414}"/>
              </a:ext>
            </a:extLst>
          </p:cNvPr>
          <p:cNvSpPr txBox="1"/>
          <p:nvPr/>
        </p:nvSpPr>
        <p:spPr>
          <a:xfrm>
            <a:off x="4551190" y="2926496"/>
            <a:ext cx="3284874" cy="646331"/>
          </a:xfrm>
          <a:prstGeom prst="rect">
            <a:avLst/>
          </a:prstGeom>
          <a:noFill/>
        </p:spPr>
        <p:txBody>
          <a:bodyPr wrap="none" rtlCol="0">
            <a:spAutoFit/>
          </a:bodyPr>
          <a:lstStyle/>
          <a:p>
            <a:pPr algn="l"/>
            <a:r>
              <a:rPr kumimoji="1" lang="ja-JP" altLang="en-US" b="1" dirty="0">
                <a:latin typeface="メイリオ" panose="020B0604030504040204" pitchFamily="50" charset="-128"/>
                <a:ea typeface="メイリオ" panose="020B0604030504040204" pitchFamily="50" charset="-128"/>
              </a:rPr>
              <a:t>点の色：教師ラベル</a:t>
            </a:r>
            <a:endParaRPr kumimoji="1" lang="en-US" altLang="ja-JP" b="1" dirty="0">
              <a:latin typeface="メイリオ" panose="020B0604030504040204" pitchFamily="50" charset="-128"/>
              <a:ea typeface="メイリオ" panose="020B0604030504040204" pitchFamily="50" charset="-128"/>
            </a:endParaRPr>
          </a:p>
          <a:p>
            <a:pPr algn="l"/>
            <a:r>
              <a:rPr kumimoji="1" lang="ja-JP" altLang="en-US" b="1" dirty="0">
                <a:latin typeface="メイリオ" panose="020B0604030504040204" pitchFamily="50" charset="-128"/>
                <a:ea typeface="メイリオ" panose="020B0604030504040204" pitchFamily="50" charset="-128"/>
              </a:rPr>
              <a:t>点の座標：</a:t>
            </a:r>
            <a:r>
              <a:rPr kumimoji="1" lang="en-US" altLang="ja-JP" b="1" dirty="0" err="1">
                <a:latin typeface="メイリオ" panose="020B0604030504040204" pitchFamily="50" charset="-128"/>
                <a:ea typeface="メイリオ" panose="020B0604030504040204" pitchFamily="50" charset="-128"/>
              </a:rPr>
              <a:t>BoW</a:t>
            </a:r>
            <a:r>
              <a:rPr kumimoji="1" lang="ja-JP" altLang="en-US" b="1" dirty="0">
                <a:latin typeface="メイリオ" panose="020B0604030504040204" pitchFamily="50" charset="-128"/>
                <a:ea typeface="メイリオ" panose="020B0604030504040204" pitchFamily="50" charset="-128"/>
              </a:rPr>
              <a:t>特徴ベクトル</a:t>
            </a:r>
          </a:p>
        </p:txBody>
      </p:sp>
    </p:spTree>
    <p:extLst>
      <p:ext uri="{BB962C8B-B14F-4D97-AF65-F5344CB8AC3E}">
        <p14:creationId xmlns:p14="http://schemas.microsoft.com/office/powerpoint/2010/main" val="1538045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BB650EAA-7DC7-7836-C718-12A0E28FE5D6}"/>
              </a:ext>
            </a:extLst>
          </p:cNvPr>
          <p:cNvPicPr>
            <a:picLocks noChangeAspect="1"/>
          </p:cNvPicPr>
          <p:nvPr/>
        </p:nvPicPr>
        <p:blipFill>
          <a:blip r:embed="rId2"/>
          <a:stretch>
            <a:fillRect/>
          </a:stretch>
        </p:blipFill>
        <p:spPr>
          <a:xfrm>
            <a:off x="5597928" y="2676525"/>
            <a:ext cx="6677025" cy="4181475"/>
          </a:xfrm>
          <a:prstGeom prst="rect">
            <a:avLst/>
          </a:prstGeom>
        </p:spPr>
      </p:pic>
      <p:sp>
        <p:nvSpPr>
          <p:cNvPr id="3" name="テキスト ボックス 2">
            <a:extLst>
              <a:ext uri="{FF2B5EF4-FFF2-40B4-BE49-F238E27FC236}">
                <a16:creationId xmlns:a16="http://schemas.microsoft.com/office/drawing/2014/main" id="{FE286470-6642-0C3B-C00E-1B6ECAE7AE05}"/>
              </a:ext>
            </a:extLst>
          </p:cNvPr>
          <p:cNvSpPr txBox="1"/>
          <p:nvPr/>
        </p:nvSpPr>
        <p:spPr>
          <a:xfrm>
            <a:off x="270589" y="243555"/>
            <a:ext cx="7160935"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平均棒グラフ（前回）と空間との関係</a:t>
            </a:r>
          </a:p>
        </p:txBody>
      </p:sp>
      <p:sp>
        <p:nvSpPr>
          <p:cNvPr id="8" name="テキスト ボックス 7">
            <a:extLst>
              <a:ext uri="{FF2B5EF4-FFF2-40B4-BE49-F238E27FC236}">
                <a16:creationId xmlns:a16="http://schemas.microsoft.com/office/drawing/2014/main" id="{44088558-1AED-28A7-B1FE-B0BEC6A4AF82}"/>
              </a:ext>
            </a:extLst>
          </p:cNvPr>
          <p:cNvSpPr txBox="1"/>
          <p:nvPr/>
        </p:nvSpPr>
        <p:spPr>
          <a:xfrm>
            <a:off x="270589" y="773451"/>
            <a:ext cx="11596444"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平均棒グラフ：ラベル別の</a:t>
            </a:r>
            <a:r>
              <a:rPr kumimoji="1" lang="en-US" altLang="ja-JP" sz="2400" dirty="0" err="1">
                <a:latin typeface="メイリオ" panose="020B0604030504040204" pitchFamily="50" charset="-128"/>
                <a:ea typeface="メイリオ" panose="020B0604030504040204" pitchFamily="50" charset="-128"/>
              </a:rPr>
              <a:t>BoW</a:t>
            </a:r>
            <a:r>
              <a:rPr kumimoji="1" lang="ja-JP" altLang="en-US" sz="2400" dirty="0">
                <a:latin typeface="メイリオ" panose="020B0604030504040204" pitchFamily="50" charset="-128"/>
                <a:ea typeface="メイリオ" panose="020B0604030504040204" pitchFamily="50" charset="-128"/>
              </a:rPr>
              <a:t>特徴ベクトルの平均</a:t>
            </a:r>
            <a:endParaRPr kumimoji="1" lang="en-US" altLang="ja-JP" sz="2400" dirty="0">
              <a:latin typeface="メイリオ" panose="020B0604030504040204" pitchFamily="50" charset="-128"/>
              <a:ea typeface="メイリオ" panose="020B0604030504040204" pitchFamily="50" charset="-128"/>
            </a:endParaRPr>
          </a:p>
          <a:p>
            <a:pPr algn="l"/>
            <a:r>
              <a:rPr kumimoji="1" lang="en-US" altLang="ja-JP" sz="2400" dirty="0">
                <a:latin typeface="メイリオ" panose="020B0604030504040204" pitchFamily="50" charset="-128"/>
                <a:ea typeface="メイリオ" panose="020B0604030504040204" pitchFamily="50" charset="-128"/>
              </a:rPr>
              <a:t>               </a:t>
            </a:r>
            <a:r>
              <a:rPr kumimoji="1" lang="ja-JP" altLang="en-US" sz="2400" dirty="0">
                <a:latin typeface="メイリオ" panose="020B0604030504040204" pitchFamily="50" charset="-128"/>
                <a:ea typeface="メイリオ" panose="020B0604030504040204" pitchFamily="50" charset="-128"/>
              </a:rPr>
              <a:t>→　ということは、空間上に散らばる点群</a:t>
            </a:r>
            <a:r>
              <a:rPr kumimoji="1" lang="ja-JP" altLang="en-US" sz="2400" dirty="0">
                <a:solidFill>
                  <a:srgbClr val="00B050"/>
                </a:solidFill>
                <a:latin typeface="メイリオ" panose="020B0604030504040204" pitchFamily="50" charset="-128"/>
                <a:ea typeface="メイリオ" panose="020B0604030504040204" pitchFamily="50" charset="-128"/>
              </a:rPr>
              <a:t>●</a:t>
            </a:r>
            <a:r>
              <a:rPr kumimoji="1" lang="ja-JP" altLang="en-US" sz="2400" dirty="0">
                <a:solidFill>
                  <a:srgbClr val="FF0000"/>
                </a:solidFill>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の重心</a:t>
            </a:r>
            <a:r>
              <a:rPr kumimoji="1" lang="ja-JP" altLang="en-US" sz="2400" dirty="0">
                <a:solidFill>
                  <a:srgbClr val="00B050"/>
                </a:solidFill>
                <a:latin typeface="メイリオ" panose="020B0604030504040204" pitchFamily="50" charset="-128"/>
                <a:ea typeface="メイリオ" panose="020B0604030504040204" pitchFamily="50" charset="-128"/>
              </a:rPr>
              <a:t>★</a:t>
            </a:r>
            <a:r>
              <a:rPr kumimoji="1" lang="ja-JP" altLang="en-US" sz="2400" dirty="0">
                <a:solidFill>
                  <a:srgbClr val="FF0000"/>
                </a:solidFill>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になるはず　</a:t>
            </a:r>
          </a:p>
        </p:txBody>
      </p:sp>
      <p:sp>
        <p:nvSpPr>
          <p:cNvPr id="9" name="テキスト ボックス 8">
            <a:extLst>
              <a:ext uri="{FF2B5EF4-FFF2-40B4-BE49-F238E27FC236}">
                <a16:creationId xmlns:a16="http://schemas.microsoft.com/office/drawing/2014/main" id="{BBDE68DE-BAE8-F991-F4BC-2028074343EA}"/>
              </a:ext>
            </a:extLst>
          </p:cNvPr>
          <p:cNvSpPr txBox="1"/>
          <p:nvPr/>
        </p:nvSpPr>
        <p:spPr>
          <a:xfrm>
            <a:off x="8704414" y="4646992"/>
            <a:ext cx="492443" cy="461665"/>
          </a:xfrm>
          <a:prstGeom prst="rect">
            <a:avLst/>
          </a:prstGeom>
          <a:noFill/>
        </p:spPr>
        <p:txBody>
          <a:bodyPr wrap="none" rtlCol="0">
            <a:spAutoFit/>
          </a:bodyPr>
          <a:lstStyle/>
          <a:p>
            <a:pPr algn="l"/>
            <a:r>
              <a:rPr kumimoji="1" lang="ja-JP" altLang="en-US" sz="2400" dirty="0">
                <a:solidFill>
                  <a:srgbClr val="FF0000"/>
                </a:solidFill>
                <a:latin typeface="メイリオ" panose="020B0604030504040204" pitchFamily="50" charset="-128"/>
                <a:ea typeface="メイリオ" panose="020B0604030504040204" pitchFamily="50" charset="-128"/>
              </a:rPr>
              <a:t>★</a:t>
            </a:r>
          </a:p>
        </p:txBody>
      </p:sp>
      <p:sp>
        <p:nvSpPr>
          <p:cNvPr id="10" name="テキスト ボックス 9">
            <a:extLst>
              <a:ext uri="{FF2B5EF4-FFF2-40B4-BE49-F238E27FC236}">
                <a16:creationId xmlns:a16="http://schemas.microsoft.com/office/drawing/2014/main" id="{58618183-3945-2055-2A05-9E079E3F07DD}"/>
              </a:ext>
            </a:extLst>
          </p:cNvPr>
          <p:cNvSpPr txBox="1"/>
          <p:nvPr/>
        </p:nvSpPr>
        <p:spPr>
          <a:xfrm>
            <a:off x="7600949" y="4669176"/>
            <a:ext cx="492443" cy="461665"/>
          </a:xfrm>
          <a:prstGeom prst="rect">
            <a:avLst/>
          </a:prstGeom>
          <a:noFill/>
        </p:spPr>
        <p:txBody>
          <a:bodyPr wrap="none" rtlCol="0">
            <a:spAutoFit/>
          </a:bodyPr>
          <a:lstStyle/>
          <a:p>
            <a:pPr algn="l"/>
            <a:r>
              <a:rPr kumimoji="1" lang="ja-JP" altLang="en-US" sz="2400" dirty="0">
                <a:solidFill>
                  <a:srgbClr val="00B050"/>
                </a:solidFill>
                <a:latin typeface="メイリオ" panose="020B0604030504040204" pitchFamily="50" charset="-128"/>
                <a:ea typeface="メイリオ" panose="020B0604030504040204" pitchFamily="50" charset="-128"/>
              </a:rPr>
              <a:t>★</a:t>
            </a:r>
          </a:p>
        </p:txBody>
      </p:sp>
      <p:sp>
        <p:nvSpPr>
          <p:cNvPr id="15" name="矢印: 下カーブ 14">
            <a:extLst>
              <a:ext uri="{FF2B5EF4-FFF2-40B4-BE49-F238E27FC236}">
                <a16:creationId xmlns:a16="http://schemas.microsoft.com/office/drawing/2014/main" id="{CF39B73B-CD1F-1BFD-CAEF-98149F876C61}"/>
              </a:ext>
            </a:extLst>
          </p:cNvPr>
          <p:cNvSpPr/>
          <p:nvPr/>
        </p:nvSpPr>
        <p:spPr>
          <a:xfrm rot="864326">
            <a:off x="6252485" y="3229191"/>
            <a:ext cx="2266989" cy="905069"/>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2" name="図 1">
            <a:extLst>
              <a:ext uri="{FF2B5EF4-FFF2-40B4-BE49-F238E27FC236}">
                <a16:creationId xmlns:a16="http://schemas.microsoft.com/office/drawing/2014/main" id="{3CBB46FF-D531-9EF0-0498-B7515C943790}"/>
              </a:ext>
            </a:extLst>
          </p:cNvPr>
          <p:cNvPicPr>
            <a:picLocks noChangeAspect="1"/>
          </p:cNvPicPr>
          <p:nvPr/>
        </p:nvPicPr>
        <p:blipFill>
          <a:blip r:embed="rId3"/>
          <a:stretch>
            <a:fillRect/>
          </a:stretch>
        </p:blipFill>
        <p:spPr>
          <a:xfrm>
            <a:off x="270589" y="1818376"/>
            <a:ext cx="6677026" cy="3700928"/>
          </a:xfrm>
          <a:prstGeom prst="rect">
            <a:avLst/>
          </a:prstGeom>
        </p:spPr>
      </p:pic>
      <p:sp>
        <p:nvSpPr>
          <p:cNvPr id="4" name="テキスト ボックス 3">
            <a:extLst>
              <a:ext uri="{FF2B5EF4-FFF2-40B4-BE49-F238E27FC236}">
                <a16:creationId xmlns:a16="http://schemas.microsoft.com/office/drawing/2014/main" id="{F6046842-4A58-D201-4539-0E57CB6E203C}"/>
              </a:ext>
            </a:extLst>
          </p:cNvPr>
          <p:cNvSpPr txBox="1"/>
          <p:nvPr/>
        </p:nvSpPr>
        <p:spPr>
          <a:xfrm>
            <a:off x="379712" y="1816591"/>
            <a:ext cx="233910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シュークリーム</a:t>
            </a:r>
          </a:p>
        </p:txBody>
      </p:sp>
      <p:sp>
        <p:nvSpPr>
          <p:cNvPr id="5" name="テキスト ボックス 4">
            <a:extLst>
              <a:ext uri="{FF2B5EF4-FFF2-40B4-BE49-F238E27FC236}">
                <a16:creationId xmlns:a16="http://schemas.microsoft.com/office/drawing/2014/main" id="{FEC519C2-C768-0513-D9DF-B08BBB90A715}"/>
              </a:ext>
            </a:extLst>
          </p:cNvPr>
          <p:cNvSpPr txBox="1"/>
          <p:nvPr/>
        </p:nvSpPr>
        <p:spPr>
          <a:xfrm>
            <a:off x="441267" y="3621294"/>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プリン</a:t>
            </a:r>
          </a:p>
        </p:txBody>
      </p:sp>
    </p:spTree>
    <p:extLst>
      <p:ext uri="{BB962C8B-B14F-4D97-AF65-F5344CB8AC3E}">
        <p14:creationId xmlns:p14="http://schemas.microsoft.com/office/powerpoint/2010/main" val="3418277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0F085027-9CCC-E978-2952-CA4715F20945}"/>
              </a:ext>
            </a:extLst>
          </p:cNvPr>
          <p:cNvCxnSpPr>
            <a:cxnSpLocks/>
          </p:cNvCxnSpPr>
          <p:nvPr/>
        </p:nvCxnSpPr>
        <p:spPr>
          <a:xfrm>
            <a:off x="2859310" y="3068806"/>
            <a:ext cx="0" cy="19649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直線コネクタ 2">
            <a:extLst>
              <a:ext uri="{FF2B5EF4-FFF2-40B4-BE49-F238E27FC236}">
                <a16:creationId xmlns:a16="http://schemas.microsoft.com/office/drawing/2014/main" id="{7C1AE92E-7BDD-AE36-D0AF-7FF176764BF7}"/>
              </a:ext>
            </a:extLst>
          </p:cNvPr>
          <p:cNvCxnSpPr>
            <a:cxnSpLocks/>
          </p:cNvCxnSpPr>
          <p:nvPr/>
        </p:nvCxnSpPr>
        <p:spPr>
          <a:xfrm flipH="1">
            <a:off x="832257" y="5033745"/>
            <a:ext cx="2027055" cy="1256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2F563F53-BED5-5D8E-9A03-31A549675285}"/>
              </a:ext>
            </a:extLst>
          </p:cNvPr>
          <p:cNvCxnSpPr>
            <a:cxnSpLocks/>
          </p:cNvCxnSpPr>
          <p:nvPr/>
        </p:nvCxnSpPr>
        <p:spPr>
          <a:xfrm>
            <a:off x="2874200" y="5064138"/>
            <a:ext cx="2246389" cy="10081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FE313C71-EC2D-D08B-175F-23E901F93902}"/>
              </a:ext>
            </a:extLst>
          </p:cNvPr>
          <p:cNvSpPr txBox="1"/>
          <p:nvPr/>
        </p:nvSpPr>
        <p:spPr>
          <a:xfrm rot="3925103">
            <a:off x="3358281" y="4215728"/>
            <a:ext cx="364202" cy="307777"/>
          </a:xfrm>
          <a:prstGeom prst="rect">
            <a:avLst/>
          </a:prstGeom>
          <a:noFill/>
        </p:spPr>
        <p:txBody>
          <a:bodyPr wrap="non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9" name="テキスト ボックス 8">
            <a:extLst>
              <a:ext uri="{FF2B5EF4-FFF2-40B4-BE49-F238E27FC236}">
                <a16:creationId xmlns:a16="http://schemas.microsoft.com/office/drawing/2014/main" id="{408460C2-9678-31D2-8E74-99AFD9EE6596}"/>
              </a:ext>
            </a:extLst>
          </p:cNvPr>
          <p:cNvSpPr txBox="1"/>
          <p:nvPr/>
        </p:nvSpPr>
        <p:spPr>
          <a:xfrm rot="3925103">
            <a:off x="3958294" y="4165413"/>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0" name="テキスト ボックス 9">
            <a:extLst>
              <a:ext uri="{FF2B5EF4-FFF2-40B4-BE49-F238E27FC236}">
                <a16:creationId xmlns:a16="http://schemas.microsoft.com/office/drawing/2014/main" id="{3E375AFB-4FB8-BA08-3CE4-0526AB456F54}"/>
              </a:ext>
            </a:extLst>
          </p:cNvPr>
          <p:cNvSpPr txBox="1"/>
          <p:nvPr/>
        </p:nvSpPr>
        <p:spPr>
          <a:xfrm rot="3925103">
            <a:off x="1925523" y="4588342"/>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C328B52D-C2B6-63F1-FBA8-4CDF2021735E}"/>
              </a:ext>
            </a:extLst>
          </p:cNvPr>
          <p:cNvSpPr txBox="1"/>
          <p:nvPr/>
        </p:nvSpPr>
        <p:spPr>
          <a:xfrm rot="3925103">
            <a:off x="3189180" y="487735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2" name="テキスト ボックス 11">
            <a:extLst>
              <a:ext uri="{FF2B5EF4-FFF2-40B4-BE49-F238E27FC236}">
                <a16:creationId xmlns:a16="http://schemas.microsoft.com/office/drawing/2014/main" id="{DE299457-770E-D632-CC21-3E4F05A3FC9E}"/>
              </a:ext>
            </a:extLst>
          </p:cNvPr>
          <p:cNvSpPr txBox="1"/>
          <p:nvPr/>
        </p:nvSpPr>
        <p:spPr>
          <a:xfrm rot="3925103">
            <a:off x="3096523" y="527133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9427EE5A-9470-460E-F88F-5FB6E16D5FB0}"/>
              </a:ext>
            </a:extLst>
          </p:cNvPr>
          <p:cNvSpPr txBox="1"/>
          <p:nvPr/>
        </p:nvSpPr>
        <p:spPr>
          <a:xfrm rot="3925103">
            <a:off x="2678888" y="4645870"/>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4" name="テキスト ボックス 13">
            <a:extLst>
              <a:ext uri="{FF2B5EF4-FFF2-40B4-BE49-F238E27FC236}">
                <a16:creationId xmlns:a16="http://schemas.microsoft.com/office/drawing/2014/main" id="{05BB4AA0-0EF7-D109-E8B6-2C03F21B7561}"/>
              </a:ext>
            </a:extLst>
          </p:cNvPr>
          <p:cNvSpPr txBox="1"/>
          <p:nvPr/>
        </p:nvSpPr>
        <p:spPr>
          <a:xfrm rot="3925103">
            <a:off x="3478444" y="489895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F6F22FCD-EC4D-748D-16B9-404991B0EE22}"/>
              </a:ext>
            </a:extLst>
          </p:cNvPr>
          <p:cNvSpPr txBox="1"/>
          <p:nvPr/>
        </p:nvSpPr>
        <p:spPr>
          <a:xfrm rot="3925103">
            <a:off x="4131999" y="5209334"/>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6" name="テキスト ボックス 15">
            <a:extLst>
              <a:ext uri="{FF2B5EF4-FFF2-40B4-BE49-F238E27FC236}">
                <a16:creationId xmlns:a16="http://schemas.microsoft.com/office/drawing/2014/main" id="{FD0FCD59-D22F-1A15-FBA8-F0000B8D7853}"/>
              </a:ext>
            </a:extLst>
          </p:cNvPr>
          <p:cNvSpPr txBox="1"/>
          <p:nvPr/>
        </p:nvSpPr>
        <p:spPr>
          <a:xfrm rot="3925103">
            <a:off x="3715983" y="432612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7" name="テキスト ボックス 16">
            <a:extLst>
              <a:ext uri="{FF2B5EF4-FFF2-40B4-BE49-F238E27FC236}">
                <a16:creationId xmlns:a16="http://schemas.microsoft.com/office/drawing/2014/main" id="{DDD62187-3DC9-C4EB-4525-B25415769BC0}"/>
              </a:ext>
            </a:extLst>
          </p:cNvPr>
          <p:cNvSpPr txBox="1"/>
          <p:nvPr/>
        </p:nvSpPr>
        <p:spPr>
          <a:xfrm rot="3925103">
            <a:off x="2315267" y="4773463"/>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8" name="テキスト ボックス 17">
            <a:extLst>
              <a:ext uri="{FF2B5EF4-FFF2-40B4-BE49-F238E27FC236}">
                <a16:creationId xmlns:a16="http://schemas.microsoft.com/office/drawing/2014/main" id="{A4688C6C-C955-199D-7779-E43E7AD3A5AE}"/>
              </a:ext>
            </a:extLst>
          </p:cNvPr>
          <p:cNvSpPr txBox="1"/>
          <p:nvPr/>
        </p:nvSpPr>
        <p:spPr>
          <a:xfrm rot="3925103">
            <a:off x="3010400" y="4990731"/>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9" name="テキスト ボックス 18">
            <a:extLst>
              <a:ext uri="{FF2B5EF4-FFF2-40B4-BE49-F238E27FC236}">
                <a16:creationId xmlns:a16="http://schemas.microsoft.com/office/drawing/2014/main" id="{AFDAEAC2-EE8E-DE9A-50FB-AEDF7F5DE369}"/>
              </a:ext>
            </a:extLst>
          </p:cNvPr>
          <p:cNvSpPr txBox="1"/>
          <p:nvPr/>
        </p:nvSpPr>
        <p:spPr>
          <a:xfrm rot="3925103">
            <a:off x="3622219" y="4734749"/>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0" name="テキスト ボックス 19">
            <a:extLst>
              <a:ext uri="{FF2B5EF4-FFF2-40B4-BE49-F238E27FC236}">
                <a16:creationId xmlns:a16="http://schemas.microsoft.com/office/drawing/2014/main" id="{77562068-3A7A-F01B-DBAA-92B9F44DE15A}"/>
              </a:ext>
            </a:extLst>
          </p:cNvPr>
          <p:cNvSpPr txBox="1"/>
          <p:nvPr/>
        </p:nvSpPr>
        <p:spPr>
          <a:xfrm rot="3925103">
            <a:off x="1799523" y="5027142"/>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D7C49494-9746-1D79-2A71-577935DBBC4A}"/>
              </a:ext>
            </a:extLst>
          </p:cNvPr>
          <p:cNvSpPr txBox="1"/>
          <p:nvPr/>
        </p:nvSpPr>
        <p:spPr>
          <a:xfrm rot="3925103">
            <a:off x="3247311" y="4344518"/>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2" name="テキスト ボックス 21">
            <a:extLst>
              <a:ext uri="{FF2B5EF4-FFF2-40B4-BE49-F238E27FC236}">
                <a16:creationId xmlns:a16="http://schemas.microsoft.com/office/drawing/2014/main" id="{AFB39600-72B0-FF1C-8852-7B05F5A157E3}"/>
              </a:ext>
            </a:extLst>
          </p:cNvPr>
          <p:cNvSpPr txBox="1"/>
          <p:nvPr/>
        </p:nvSpPr>
        <p:spPr>
          <a:xfrm rot="3925103">
            <a:off x="4133700" y="4896085"/>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3" name="テキスト ボックス 22">
            <a:extLst>
              <a:ext uri="{FF2B5EF4-FFF2-40B4-BE49-F238E27FC236}">
                <a16:creationId xmlns:a16="http://schemas.microsoft.com/office/drawing/2014/main" id="{346AD145-AD3A-7EC8-C08D-1F240C3E6555}"/>
              </a:ext>
            </a:extLst>
          </p:cNvPr>
          <p:cNvSpPr txBox="1"/>
          <p:nvPr/>
        </p:nvSpPr>
        <p:spPr>
          <a:xfrm rot="3925103">
            <a:off x="2626796" y="414726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4" name="テキスト ボックス 23">
            <a:extLst>
              <a:ext uri="{FF2B5EF4-FFF2-40B4-BE49-F238E27FC236}">
                <a16:creationId xmlns:a16="http://schemas.microsoft.com/office/drawing/2014/main" id="{6E37CBC7-E793-BE4C-6435-11DD40D9C60E}"/>
              </a:ext>
            </a:extLst>
          </p:cNvPr>
          <p:cNvSpPr txBox="1"/>
          <p:nvPr/>
        </p:nvSpPr>
        <p:spPr>
          <a:xfrm rot="3925103">
            <a:off x="2898381" y="428938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5" name="テキスト ボックス 24">
            <a:extLst>
              <a:ext uri="{FF2B5EF4-FFF2-40B4-BE49-F238E27FC236}">
                <a16:creationId xmlns:a16="http://schemas.microsoft.com/office/drawing/2014/main" id="{440D2127-8586-A362-A9B8-01A4CC7C3FF4}"/>
              </a:ext>
            </a:extLst>
          </p:cNvPr>
          <p:cNvSpPr txBox="1"/>
          <p:nvPr/>
        </p:nvSpPr>
        <p:spPr>
          <a:xfrm rot="3925103">
            <a:off x="2405993" y="517596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6" name="テキスト ボックス 25">
            <a:extLst>
              <a:ext uri="{FF2B5EF4-FFF2-40B4-BE49-F238E27FC236}">
                <a16:creationId xmlns:a16="http://schemas.microsoft.com/office/drawing/2014/main" id="{6346B5A9-D26A-8EC2-04B5-A9AD24BDB6A2}"/>
              </a:ext>
            </a:extLst>
          </p:cNvPr>
          <p:cNvSpPr txBox="1"/>
          <p:nvPr/>
        </p:nvSpPr>
        <p:spPr>
          <a:xfrm rot="3925103">
            <a:off x="2523473" y="4463681"/>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7" name="テキスト ボックス 26">
            <a:extLst>
              <a:ext uri="{FF2B5EF4-FFF2-40B4-BE49-F238E27FC236}">
                <a16:creationId xmlns:a16="http://schemas.microsoft.com/office/drawing/2014/main" id="{EC3D214F-A48F-CD36-5BEE-9590D24ABB24}"/>
              </a:ext>
            </a:extLst>
          </p:cNvPr>
          <p:cNvSpPr txBox="1"/>
          <p:nvPr/>
        </p:nvSpPr>
        <p:spPr>
          <a:xfrm rot="3925103">
            <a:off x="2117120" y="517311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8" name="テキスト ボックス 27">
            <a:extLst>
              <a:ext uri="{FF2B5EF4-FFF2-40B4-BE49-F238E27FC236}">
                <a16:creationId xmlns:a16="http://schemas.microsoft.com/office/drawing/2014/main" id="{B117D6B4-6532-62FF-A771-3EF76F5AC09C}"/>
              </a:ext>
            </a:extLst>
          </p:cNvPr>
          <p:cNvSpPr txBox="1"/>
          <p:nvPr/>
        </p:nvSpPr>
        <p:spPr>
          <a:xfrm rot="3925103">
            <a:off x="2723590" y="5286661"/>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9" name="テキスト ボックス 28">
            <a:extLst>
              <a:ext uri="{FF2B5EF4-FFF2-40B4-BE49-F238E27FC236}">
                <a16:creationId xmlns:a16="http://schemas.microsoft.com/office/drawing/2014/main" id="{F0991C85-C917-E6C4-F440-251A85783222}"/>
              </a:ext>
            </a:extLst>
          </p:cNvPr>
          <p:cNvSpPr txBox="1"/>
          <p:nvPr/>
        </p:nvSpPr>
        <p:spPr>
          <a:xfrm rot="3925103">
            <a:off x="2965459" y="4671043"/>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5FD05C79-D518-28FD-C31D-3C2C37783A77}"/>
              </a:ext>
            </a:extLst>
          </p:cNvPr>
          <p:cNvSpPr txBox="1"/>
          <p:nvPr/>
        </p:nvSpPr>
        <p:spPr>
          <a:xfrm rot="3925103">
            <a:off x="2648391" y="496897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1" name="テキスト ボックス 30">
            <a:extLst>
              <a:ext uri="{FF2B5EF4-FFF2-40B4-BE49-F238E27FC236}">
                <a16:creationId xmlns:a16="http://schemas.microsoft.com/office/drawing/2014/main" id="{6F603A13-FC1C-1006-45AA-2C5F3F3D7090}"/>
              </a:ext>
            </a:extLst>
          </p:cNvPr>
          <p:cNvSpPr txBox="1"/>
          <p:nvPr/>
        </p:nvSpPr>
        <p:spPr>
          <a:xfrm rot="3925103">
            <a:off x="3356492" y="466931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2" name="テキスト ボックス 31">
            <a:extLst>
              <a:ext uri="{FF2B5EF4-FFF2-40B4-BE49-F238E27FC236}">
                <a16:creationId xmlns:a16="http://schemas.microsoft.com/office/drawing/2014/main" id="{5B6C64EA-236C-77EB-497E-838E8DE90950}"/>
              </a:ext>
            </a:extLst>
          </p:cNvPr>
          <p:cNvSpPr txBox="1"/>
          <p:nvPr/>
        </p:nvSpPr>
        <p:spPr>
          <a:xfrm>
            <a:off x="4450451" y="4824982"/>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プリン</a:t>
            </a:r>
          </a:p>
        </p:txBody>
      </p:sp>
      <p:sp>
        <p:nvSpPr>
          <p:cNvPr id="33" name="フローチャート: せん孔テープ 32">
            <a:extLst>
              <a:ext uri="{FF2B5EF4-FFF2-40B4-BE49-F238E27FC236}">
                <a16:creationId xmlns:a16="http://schemas.microsoft.com/office/drawing/2014/main" id="{07525E8E-153B-054C-BAEF-6D0CB7A8B449}"/>
              </a:ext>
            </a:extLst>
          </p:cNvPr>
          <p:cNvSpPr/>
          <p:nvPr/>
        </p:nvSpPr>
        <p:spPr>
          <a:xfrm rot="19337434">
            <a:off x="1932005" y="4245631"/>
            <a:ext cx="2686421" cy="1307634"/>
          </a:xfrm>
          <a:prstGeom prst="flowChartPunchedTape">
            <a:avLst/>
          </a:prstGeom>
          <a:solidFill>
            <a:srgbClr val="4472C4">
              <a:alpha val="52941"/>
            </a:srgbClr>
          </a:solidFill>
          <a:scene3d>
            <a:camera prst="isometricOffAxis2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6E0894D8-DDFE-F918-5B90-BCF24AED7B94}"/>
              </a:ext>
            </a:extLst>
          </p:cNvPr>
          <p:cNvSpPr txBox="1"/>
          <p:nvPr/>
        </p:nvSpPr>
        <p:spPr>
          <a:xfrm>
            <a:off x="138405" y="6273977"/>
            <a:ext cx="1538883"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生クリーム</a:t>
            </a:r>
          </a:p>
        </p:txBody>
      </p:sp>
      <p:sp>
        <p:nvSpPr>
          <p:cNvPr id="35" name="テキスト ボックス 34">
            <a:extLst>
              <a:ext uri="{FF2B5EF4-FFF2-40B4-BE49-F238E27FC236}">
                <a16:creationId xmlns:a16="http://schemas.microsoft.com/office/drawing/2014/main" id="{F6404724-14E1-A2A7-29E8-60C93D746AB0}"/>
              </a:ext>
            </a:extLst>
          </p:cNvPr>
          <p:cNvSpPr txBox="1"/>
          <p:nvPr/>
        </p:nvSpPr>
        <p:spPr>
          <a:xfrm>
            <a:off x="4631576" y="6225655"/>
            <a:ext cx="1538883"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カスタード</a:t>
            </a:r>
          </a:p>
        </p:txBody>
      </p:sp>
      <p:sp>
        <p:nvSpPr>
          <p:cNvPr id="36" name="テキスト ボックス 35">
            <a:extLst>
              <a:ext uri="{FF2B5EF4-FFF2-40B4-BE49-F238E27FC236}">
                <a16:creationId xmlns:a16="http://schemas.microsoft.com/office/drawing/2014/main" id="{F6661521-C34C-4D75-D8B8-B55FA2FD9284}"/>
              </a:ext>
            </a:extLst>
          </p:cNvPr>
          <p:cNvSpPr txBox="1"/>
          <p:nvPr/>
        </p:nvSpPr>
        <p:spPr>
          <a:xfrm>
            <a:off x="2171203" y="2548279"/>
            <a:ext cx="141577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カラメル</a:t>
            </a:r>
          </a:p>
        </p:txBody>
      </p:sp>
      <p:sp>
        <p:nvSpPr>
          <p:cNvPr id="37" name="テキスト ボックス 36">
            <a:extLst>
              <a:ext uri="{FF2B5EF4-FFF2-40B4-BE49-F238E27FC236}">
                <a16:creationId xmlns:a16="http://schemas.microsoft.com/office/drawing/2014/main" id="{D66C89EF-6B5C-471F-8DB1-E32843AAC07A}"/>
              </a:ext>
            </a:extLst>
          </p:cNvPr>
          <p:cNvSpPr txBox="1"/>
          <p:nvPr/>
        </p:nvSpPr>
        <p:spPr>
          <a:xfrm>
            <a:off x="4450451" y="5156965"/>
            <a:ext cx="233910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シュークリーム</a:t>
            </a:r>
          </a:p>
        </p:txBody>
      </p:sp>
      <p:sp>
        <p:nvSpPr>
          <p:cNvPr id="38" name="テキスト ボックス 37">
            <a:extLst>
              <a:ext uri="{FF2B5EF4-FFF2-40B4-BE49-F238E27FC236}">
                <a16:creationId xmlns:a16="http://schemas.microsoft.com/office/drawing/2014/main" id="{03E3D7D0-9F4E-1D0B-6074-9AE39728DC82}"/>
              </a:ext>
            </a:extLst>
          </p:cNvPr>
          <p:cNvSpPr txBox="1"/>
          <p:nvPr/>
        </p:nvSpPr>
        <p:spPr>
          <a:xfrm>
            <a:off x="215570" y="346142"/>
            <a:ext cx="9732151" cy="584775"/>
          </a:xfrm>
          <a:prstGeom prst="rect">
            <a:avLst/>
          </a:prstGeom>
          <a:noFill/>
        </p:spPr>
        <p:txBody>
          <a:bodyPr wrap="none" rtlCol="0">
            <a:spAutoFit/>
          </a:bodyPr>
          <a:lstStyle/>
          <a:p>
            <a:pPr algn="l"/>
            <a:r>
              <a:rPr kumimoji="1" lang="en-US" altLang="ja-JP" sz="3200" dirty="0" err="1">
                <a:latin typeface="メイリオ" panose="020B0604030504040204" pitchFamily="50" charset="-128"/>
                <a:ea typeface="メイリオ" panose="020B0604030504040204" pitchFamily="50" charset="-128"/>
              </a:rPr>
              <a:t>BoW</a:t>
            </a:r>
            <a:r>
              <a:rPr kumimoji="1" lang="ja-JP" altLang="en-US" sz="3200" dirty="0">
                <a:latin typeface="メイリオ" panose="020B0604030504040204" pitchFamily="50" charset="-128"/>
                <a:ea typeface="メイリオ" panose="020B0604030504040204" pitchFamily="50" charset="-128"/>
              </a:rPr>
              <a:t>を教師あり学習データセットに用いるイメージ</a:t>
            </a:r>
          </a:p>
        </p:txBody>
      </p:sp>
      <p:sp>
        <p:nvSpPr>
          <p:cNvPr id="39" name="テキスト ボックス 38">
            <a:extLst>
              <a:ext uri="{FF2B5EF4-FFF2-40B4-BE49-F238E27FC236}">
                <a16:creationId xmlns:a16="http://schemas.microsoft.com/office/drawing/2014/main" id="{1B399039-E687-1181-1F98-C9EA928CB4DD}"/>
              </a:ext>
            </a:extLst>
          </p:cNvPr>
          <p:cNvSpPr txBox="1"/>
          <p:nvPr/>
        </p:nvSpPr>
        <p:spPr>
          <a:xfrm>
            <a:off x="241041" y="867035"/>
            <a:ext cx="11709918" cy="1569660"/>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教師ラベル毎に空間上にまとまっているはずなので、境界が見つかるはず。</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en-US" altLang="ja-JP" sz="2400" dirty="0" err="1">
                <a:latin typeface="メイリオ" panose="020B0604030504040204" pitchFamily="50" charset="-128"/>
                <a:ea typeface="メイリオ" panose="020B0604030504040204" pitchFamily="50" charset="-128"/>
              </a:rPr>
              <a:t>BoW</a:t>
            </a:r>
            <a:r>
              <a:rPr kumimoji="1" lang="ja-JP" altLang="en-US" sz="2400" dirty="0">
                <a:latin typeface="メイリオ" panose="020B0604030504040204" pitchFamily="50" charset="-128"/>
                <a:ea typeface="メイリオ" panose="020B0604030504040204" pitchFamily="50" charset="-128"/>
              </a:rPr>
              <a:t>が形成する語彙空間上でこのような境界面を推定することが教師あり学習</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境界がわかれば、ラベル不明の点が何か（プリン </a:t>
            </a:r>
            <a:r>
              <a:rPr kumimoji="1" lang="en-US" altLang="ja-JP" sz="2400" dirty="0">
                <a:latin typeface="メイリオ" panose="020B0604030504040204" pitchFamily="50" charset="-128"/>
                <a:ea typeface="メイリオ" panose="020B0604030504040204" pitchFamily="50" charset="-128"/>
              </a:rPr>
              <a:t>or </a:t>
            </a:r>
            <a:r>
              <a:rPr kumimoji="1" lang="ja-JP" altLang="en-US" sz="2400" dirty="0">
                <a:latin typeface="メイリオ" panose="020B0604030504040204" pitchFamily="50" charset="-128"/>
                <a:ea typeface="メイリオ" panose="020B0604030504040204" pitchFamily="50" charset="-128"/>
              </a:rPr>
              <a:t>シュークリーム、）を予測できる。これが識別（分類）→　右図</a:t>
            </a:r>
          </a:p>
        </p:txBody>
      </p:sp>
      <p:cxnSp>
        <p:nvCxnSpPr>
          <p:cNvPr id="40" name="直線コネクタ 39">
            <a:extLst>
              <a:ext uri="{FF2B5EF4-FFF2-40B4-BE49-F238E27FC236}">
                <a16:creationId xmlns:a16="http://schemas.microsoft.com/office/drawing/2014/main" id="{8B9ED5CD-DDBC-4D21-1B5E-2CF7AC85E001}"/>
              </a:ext>
            </a:extLst>
          </p:cNvPr>
          <p:cNvCxnSpPr>
            <a:cxnSpLocks/>
          </p:cNvCxnSpPr>
          <p:nvPr/>
        </p:nvCxnSpPr>
        <p:spPr>
          <a:xfrm>
            <a:off x="8907134" y="2949952"/>
            <a:ext cx="0" cy="19649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622F1CDE-BE8C-31B7-8FF4-C1A9E9EC7137}"/>
              </a:ext>
            </a:extLst>
          </p:cNvPr>
          <p:cNvCxnSpPr>
            <a:cxnSpLocks/>
          </p:cNvCxnSpPr>
          <p:nvPr/>
        </p:nvCxnSpPr>
        <p:spPr>
          <a:xfrm flipH="1">
            <a:off x="6880081" y="4914891"/>
            <a:ext cx="2027055" cy="1256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6A1635AF-3805-6474-6433-5129551FE595}"/>
              </a:ext>
            </a:extLst>
          </p:cNvPr>
          <p:cNvCxnSpPr>
            <a:cxnSpLocks/>
          </p:cNvCxnSpPr>
          <p:nvPr/>
        </p:nvCxnSpPr>
        <p:spPr>
          <a:xfrm>
            <a:off x="8922024" y="4945284"/>
            <a:ext cx="2246389" cy="10081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フローチャート: せん孔テープ 45">
            <a:extLst>
              <a:ext uri="{FF2B5EF4-FFF2-40B4-BE49-F238E27FC236}">
                <a16:creationId xmlns:a16="http://schemas.microsoft.com/office/drawing/2014/main" id="{E4EFEC3D-059D-35BD-B66F-9C145CC36630}"/>
              </a:ext>
            </a:extLst>
          </p:cNvPr>
          <p:cNvSpPr/>
          <p:nvPr/>
        </p:nvSpPr>
        <p:spPr>
          <a:xfrm rot="19337434">
            <a:off x="7979829" y="4126777"/>
            <a:ext cx="2686421" cy="1307634"/>
          </a:xfrm>
          <a:prstGeom prst="flowChartPunchedTape">
            <a:avLst/>
          </a:prstGeom>
          <a:solidFill>
            <a:srgbClr val="4472C4">
              <a:alpha val="52941"/>
            </a:srgbClr>
          </a:solidFill>
          <a:scene3d>
            <a:camera prst="isometricOffAxis2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CDC7C8C8-F6E6-29DA-76E9-62C9E0F5BCD4}"/>
              </a:ext>
            </a:extLst>
          </p:cNvPr>
          <p:cNvSpPr txBox="1"/>
          <p:nvPr/>
        </p:nvSpPr>
        <p:spPr>
          <a:xfrm>
            <a:off x="9567904" y="4950154"/>
            <a:ext cx="492443" cy="461665"/>
          </a:xfrm>
          <a:prstGeom prst="rect">
            <a:avLst/>
          </a:prstGeom>
          <a:noFill/>
        </p:spPr>
        <p:txBody>
          <a:bodyPr wrap="none" rtlCol="0">
            <a:spAutoFit/>
          </a:bodyPr>
          <a:lstStyle/>
          <a:p>
            <a:pPr algn="l"/>
            <a:r>
              <a:rPr kumimoji="1" lang="ja-JP" altLang="en-US" sz="2400" dirty="0">
                <a:solidFill>
                  <a:schemeClr val="bg1">
                    <a:lumMod val="65000"/>
                  </a:schemeClr>
                </a:solidFill>
                <a:latin typeface="メイリオ" panose="020B0604030504040204" pitchFamily="50" charset="-128"/>
                <a:ea typeface="メイリオ" panose="020B0604030504040204" pitchFamily="50" charset="-128"/>
              </a:rPr>
              <a:t>●</a:t>
            </a:r>
          </a:p>
        </p:txBody>
      </p:sp>
      <p:cxnSp>
        <p:nvCxnSpPr>
          <p:cNvPr id="48" name="直線矢印コネクタ 47">
            <a:extLst>
              <a:ext uri="{FF2B5EF4-FFF2-40B4-BE49-F238E27FC236}">
                <a16:creationId xmlns:a16="http://schemas.microsoft.com/office/drawing/2014/main" id="{F95EED5C-204A-FCEF-428F-9E0E7AA27D29}"/>
              </a:ext>
            </a:extLst>
          </p:cNvPr>
          <p:cNvCxnSpPr/>
          <p:nvPr/>
        </p:nvCxnSpPr>
        <p:spPr>
          <a:xfrm>
            <a:off x="9371011" y="5014160"/>
            <a:ext cx="419100" cy="74838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18BC75AE-2129-CF29-D63B-11E7FD307A46}"/>
              </a:ext>
            </a:extLst>
          </p:cNvPr>
          <p:cNvCxnSpPr>
            <a:cxnSpLocks/>
          </p:cNvCxnSpPr>
          <p:nvPr/>
        </p:nvCxnSpPr>
        <p:spPr>
          <a:xfrm flipH="1" flipV="1">
            <a:off x="8948201" y="3983517"/>
            <a:ext cx="320701" cy="749175"/>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0B66A20B-84EE-40A9-AEF5-5DEF3BAE878F}"/>
              </a:ext>
            </a:extLst>
          </p:cNvPr>
          <p:cNvSpPr txBox="1"/>
          <p:nvPr/>
        </p:nvSpPr>
        <p:spPr>
          <a:xfrm>
            <a:off x="6430348" y="6214391"/>
            <a:ext cx="1538883"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生クリーム</a:t>
            </a:r>
          </a:p>
        </p:txBody>
      </p:sp>
      <p:sp>
        <p:nvSpPr>
          <p:cNvPr id="52" name="テキスト ボックス 51">
            <a:extLst>
              <a:ext uri="{FF2B5EF4-FFF2-40B4-BE49-F238E27FC236}">
                <a16:creationId xmlns:a16="http://schemas.microsoft.com/office/drawing/2014/main" id="{B06E8DFE-CCE1-2731-F58A-C7005B979359}"/>
              </a:ext>
            </a:extLst>
          </p:cNvPr>
          <p:cNvSpPr txBox="1"/>
          <p:nvPr/>
        </p:nvSpPr>
        <p:spPr>
          <a:xfrm>
            <a:off x="10490964" y="6089311"/>
            <a:ext cx="1538883"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カスタード</a:t>
            </a:r>
          </a:p>
        </p:txBody>
      </p:sp>
      <p:sp>
        <p:nvSpPr>
          <p:cNvPr id="53" name="テキスト ボックス 52">
            <a:extLst>
              <a:ext uri="{FF2B5EF4-FFF2-40B4-BE49-F238E27FC236}">
                <a16:creationId xmlns:a16="http://schemas.microsoft.com/office/drawing/2014/main" id="{2BEC9F0B-8589-5D7F-08DD-6ABCB4CD4047}"/>
              </a:ext>
            </a:extLst>
          </p:cNvPr>
          <p:cNvSpPr txBox="1"/>
          <p:nvPr/>
        </p:nvSpPr>
        <p:spPr>
          <a:xfrm>
            <a:off x="8214138" y="2548738"/>
            <a:ext cx="141577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カラメル</a:t>
            </a:r>
          </a:p>
        </p:txBody>
      </p:sp>
      <p:sp>
        <p:nvSpPr>
          <p:cNvPr id="54" name="吹き出し: 角を丸めた四角形 53">
            <a:extLst>
              <a:ext uri="{FF2B5EF4-FFF2-40B4-BE49-F238E27FC236}">
                <a16:creationId xmlns:a16="http://schemas.microsoft.com/office/drawing/2014/main" id="{C50B10DE-63BC-599E-0CF1-83B36569F966}"/>
              </a:ext>
            </a:extLst>
          </p:cNvPr>
          <p:cNvSpPr/>
          <p:nvPr/>
        </p:nvSpPr>
        <p:spPr>
          <a:xfrm>
            <a:off x="10300070" y="4945284"/>
            <a:ext cx="1729777" cy="611336"/>
          </a:xfrm>
          <a:prstGeom prst="wedgeRoundRectCallout">
            <a:avLst>
              <a:gd name="adj1" fmla="val -71696"/>
              <a:gd name="adj2" fmla="val -1765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シュークリームと識別</a:t>
            </a:r>
          </a:p>
        </p:txBody>
      </p:sp>
      <p:sp>
        <p:nvSpPr>
          <p:cNvPr id="55" name="テキスト ボックス 54">
            <a:extLst>
              <a:ext uri="{FF2B5EF4-FFF2-40B4-BE49-F238E27FC236}">
                <a16:creationId xmlns:a16="http://schemas.microsoft.com/office/drawing/2014/main" id="{0389BA0D-29A4-74F0-6BFD-5AE05165C6F9}"/>
              </a:ext>
            </a:extLst>
          </p:cNvPr>
          <p:cNvSpPr txBox="1"/>
          <p:nvPr/>
        </p:nvSpPr>
        <p:spPr>
          <a:xfrm>
            <a:off x="504397" y="2844225"/>
            <a:ext cx="902811" cy="523220"/>
          </a:xfrm>
          <a:prstGeom prst="rect">
            <a:avLst/>
          </a:prstGeom>
          <a:noFill/>
        </p:spPr>
        <p:txBody>
          <a:bodyPr wrap="none" rtlCol="0">
            <a:spAutoFit/>
          </a:bodyPr>
          <a:lstStyle/>
          <a:p>
            <a:pPr algn="l"/>
            <a:r>
              <a:rPr kumimoji="1" lang="ja-JP" altLang="en-US" sz="2800" b="1" dirty="0">
                <a:latin typeface="メイリオ" panose="020B0604030504040204" pitchFamily="50" charset="-128"/>
                <a:ea typeface="メイリオ" panose="020B0604030504040204" pitchFamily="50" charset="-128"/>
              </a:rPr>
              <a:t>学習</a:t>
            </a:r>
          </a:p>
        </p:txBody>
      </p:sp>
      <p:sp>
        <p:nvSpPr>
          <p:cNvPr id="56" name="テキスト ボックス 55">
            <a:extLst>
              <a:ext uri="{FF2B5EF4-FFF2-40B4-BE49-F238E27FC236}">
                <a16:creationId xmlns:a16="http://schemas.microsoft.com/office/drawing/2014/main" id="{5EA6EBBF-4D02-1872-5B09-A3FE35320657}"/>
              </a:ext>
            </a:extLst>
          </p:cNvPr>
          <p:cNvSpPr txBox="1"/>
          <p:nvPr/>
        </p:nvSpPr>
        <p:spPr>
          <a:xfrm>
            <a:off x="6703132" y="2793056"/>
            <a:ext cx="902811" cy="523220"/>
          </a:xfrm>
          <a:prstGeom prst="rect">
            <a:avLst/>
          </a:prstGeom>
          <a:noFill/>
        </p:spPr>
        <p:txBody>
          <a:bodyPr wrap="none" rtlCol="0">
            <a:spAutoFit/>
          </a:bodyPr>
          <a:lstStyle/>
          <a:p>
            <a:pPr algn="l"/>
            <a:r>
              <a:rPr kumimoji="1" lang="ja-JP" altLang="en-US" sz="2800" b="1" dirty="0">
                <a:latin typeface="メイリオ" panose="020B0604030504040204" pitchFamily="50" charset="-128"/>
                <a:ea typeface="メイリオ" panose="020B0604030504040204" pitchFamily="50" charset="-128"/>
              </a:rPr>
              <a:t>識別</a:t>
            </a:r>
          </a:p>
        </p:txBody>
      </p:sp>
    </p:spTree>
    <p:extLst>
      <p:ext uri="{BB962C8B-B14F-4D97-AF65-F5344CB8AC3E}">
        <p14:creationId xmlns:p14="http://schemas.microsoft.com/office/powerpoint/2010/main" val="3202035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図表 1">
            <a:extLst>
              <a:ext uri="{FF2B5EF4-FFF2-40B4-BE49-F238E27FC236}">
                <a16:creationId xmlns:a16="http://schemas.microsoft.com/office/drawing/2014/main" id="{3D6BD340-AE9E-2548-7B09-5D85C31A5651}"/>
              </a:ext>
            </a:extLst>
          </p:cNvPr>
          <p:cNvGraphicFramePr/>
          <p:nvPr/>
        </p:nvGraphicFramePr>
        <p:xfrm>
          <a:off x="802860" y="1121249"/>
          <a:ext cx="9730101" cy="7881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テキスト ボックス 2">
            <a:extLst>
              <a:ext uri="{FF2B5EF4-FFF2-40B4-BE49-F238E27FC236}">
                <a16:creationId xmlns:a16="http://schemas.microsoft.com/office/drawing/2014/main" id="{8C637128-7A07-7808-FE8F-427674CA6399}"/>
              </a:ext>
            </a:extLst>
          </p:cNvPr>
          <p:cNvSpPr txBox="1"/>
          <p:nvPr/>
        </p:nvSpPr>
        <p:spPr>
          <a:xfrm>
            <a:off x="247650" y="352425"/>
            <a:ext cx="6038833" cy="584775"/>
          </a:xfrm>
          <a:prstGeom prst="rect">
            <a:avLst/>
          </a:prstGeom>
          <a:noFill/>
        </p:spPr>
        <p:txBody>
          <a:bodyPr wrap="none" rtlCol="0">
            <a:spAutoFit/>
          </a:bodyPr>
          <a:lstStyle/>
          <a:p>
            <a:pPr algn="l"/>
            <a:r>
              <a:rPr kumimoji="1" lang="en-US" altLang="ja-JP" sz="3200" dirty="0" err="1">
                <a:latin typeface="メイリオ" panose="020B0604030504040204" pitchFamily="50" charset="-128"/>
                <a:ea typeface="メイリオ" panose="020B0604030504040204" pitchFamily="50" charset="-128"/>
              </a:rPr>
              <a:t>BoW</a:t>
            </a:r>
            <a:r>
              <a:rPr kumimoji="1" lang="ja-JP" altLang="en-US" sz="3200" dirty="0">
                <a:latin typeface="メイリオ" panose="020B0604030504040204" pitchFamily="50" charset="-128"/>
                <a:ea typeface="メイリオ" panose="020B0604030504040204" pitchFamily="50" charset="-128"/>
              </a:rPr>
              <a:t>に対する教師あり機械学習</a:t>
            </a:r>
          </a:p>
        </p:txBody>
      </p:sp>
      <p:sp>
        <p:nvSpPr>
          <p:cNvPr id="40" name="テキスト ボックス 39">
            <a:extLst>
              <a:ext uri="{FF2B5EF4-FFF2-40B4-BE49-F238E27FC236}">
                <a16:creationId xmlns:a16="http://schemas.microsoft.com/office/drawing/2014/main" id="{58345667-D877-B6BE-6D5F-6BC059124840}"/>
              </a:ext>
            </a:extLst>
          </p:cNvPr>
          <p:cNvSpPr txBox="1"/>
          <p:nvPr/>
        </p:nvSpPr>
        <p:spPr>
          <a:xfrm>
            <a:off x="898807" y="2010311"/>
            <a:ext cx="449353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決定境界を引くのに使うデータ</a:t>
            </a:r>
          </a:p>
        </p:txBody>
      </p:sp>
      <p:graphicFrame>
        <p:nvGraphicFramePr>
          <p:cNvPr id="41" name="表 41">
            <a:extLst>
              <a:ext uri="{FF2B5EF4-FFF2-40B4-BE49-F238E27FC236}">
                <a16:creationId xmlns:a16="http://schemas.microsoft.com/office/drawing/2014/main" id="{ACAB35EE-9A6B-8922-0CC0-FB2C647B318E}"/>
              </a:ext>
            </a:extLst>
          </p:cNvPr>
          <p:cNvGraphicFramePr>
            <a:graphicFrameLocks noGrp="1"/>
          </p:cNvGraphicFramePr>
          <p:nvPr>
            <p:extLst>
              <p:ext uri="{D42A27DB-BD31-4B8C-83A1-F6EECF244321}">
                <p14:modId xmlns:p14="http://schemas.microsoft.com/office/powerpoint/2010/main" val="3575819529"/>
              </p:ext>
            </p:extLst>
          </p:nvPr>
        </p:nvGraphicFramePr>
        <p:xfrm>
          <a:off x="1215174" y="3622590"/>
          <a:ext cx="3708404" cy="1483360"/>
        </p:xfrm>
        <a:graphic>
          <a:graphicData uri="http://schemas.openxmlformats.org/drawingml/2006/table">
            <a:tbl>
              <a:tblPr firstRow="1" bandRow="1">
                <a:tableStyleId>{5940675A-B579-460E-94D1-54222C63F5DA}</a:tableStyleId>
              </a:tblPr>
              <a:tblGrid>
                <a:gridCol w="927101">
                  <a:extLst>
                    <a:ext uri="{9D8B030D-6E8A-4147-A177-3AD203B41FA5}">
                      <a16:colId xmlns:a16="http://schemas.microsoft.com/office/drawing/2014/main" val="4239470345"/>
                    </a:ext>
                  </a:extLst>
                </a:gridCol>
                <a:gridCol w="927101">
                  <a:extLst>
                    <a:ext uri="{9D8B030D-6E8A-4147-A177-3AD203B41FA5}">
                      <a16:colId xmlns:a16="http://schemas.microsoft.com/office/drawing/2014/main" val="3425141366"/>
                    </a:ext>
                  </a:extLst>
                </a:gridCol>
                <a:gridCol w="927101">
                  <a:extLst>
                    <a:ext uri="{9D8B030D-6E8A-4147-A177-3AD203B41FA5}">
                      <a16:colId xmlns:a16="http://schemas.microsoft.com/office/drawing/2014/main" val="301207152"/>
                    </a:ext>
                  </a:extLst>
                </a:gridCol>
                <a:gridCol w="927101">
                  <a:extLst>
                    <a:ext uri="{9D8B030D-6E8A-4147-A177-3AD203B41FA5}">
                      <a16:colId xmlns:a16="http://schemas.microsoft.com/office/drawing/2014/main" val="1857807546"/>
                    </a:ext>
                  </a:extLst>
                </a:gridCol>
              </a:tblGrid>
              <a:tr h="370840">
                <a:tc>
                  <a:txBody>
                    <a:bodyPr/>
                    <a:lstStyle/>
                    <a:p>
                      <a:endParaRPr kumimoji="1" lang="ja-JP" altLang="en-US"/>
                    </a:p>
                  </a:txBody>
                  <a:tcPr/>
                </a:tc>
                <a:tc>
                  <a:txBody>
                    <a:bodyPr/>
                    <a:lstStyle/>
                    <a:p>
                      <a:r>
                        <a:rPr kumimoji="1" lang="ja-JP" altLang="en-US" dirty="0"/>
                        <a:t>薄力粉</a:t>
                      </a:r>
                    </a:p>
                  </a:txBody>
                  <a:tcPr/>
                </a:tc>
                <a:tc>
                  <a:txBody>
                    <a:bodyPr/>
                    <a:lstStyle/>
                    <a:p>
                      <a:r>
                        <a:rPr kumimoji="1" lang="ja-JP" altLang="en-US" dirty="0"/>
                        <a:t>卵</a:t>
                      </a:r>
                    </a:p>
                  </a:txBody>
                  <a:tcPr/>
                </a:tc>
                <a:tc>
                  <a:txBody>
                    <a:bodyPr/>
                    <a:lstStyle/>
                    <a:p>
                      <a:r>
                        <a:rPr kumimoji="1" lang="ja-JP" altLang="en-US" dirty="0"/>
                        <a:t>牛乳</a:t>
                      </a:r>
                    </a:p>
                  </a:txBody>
                  <a:tcPr/>
                </a:tc>
                <a:extLst>
                  <a:ext uri="{0D108BD9-81ED-4DB2-BD59-A6C34878D82A}">
                    <a16:rowId xmlns:a16="http://schemas.microsoft.com/office/drawing/2014/main" val="1132040834"/>
                  </a:ext>
                </a:extLst>
              </a:tr>
              <a:tr h="370840">
                <a:tc>
                  <a:txBody>
                    <a:bodyPr/>
                    <a:lstStyle/>
                    <a:p>
                      <a:r>
                        <a:rPr kumimoji="1" lang="ja-JP" altLang="en-US" dirty="0"/>
                        <a:t>プリン</a:t>
                      </a:r>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2589278005"/>
                  </a:ext>
                </a:extLst>
              </a:tr>
              <a:tr h="370840">
                <a:tc>
                  <a:txBody>
                    <a:bodyPr/>
                    <a:lstStyle/>
                    <a:p>
                      <a:r>
                        <a:rPr kumimoji="1" lang="ja-JP" altLang="en-US" dirty="0"/>
                        <a:t>プリン</a:t>
                      </a:r>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994849994"/>
                  </a:ext>
                </a:extLst>
              </a:tr>
              <a:tr h="370840">
                <a:tc>
                  <a:txBody>
                    <a:bodyPr/>
                    <a:lstStyle/>
                    <a:p>
                      <a:r>
                        <a:rPr kumimoji="1" lang="ja-JP" altLang="en-US" dirty="0"/>
                        <a:t>シュー</a:t>
                      </a:r>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1401146252"/>
                  </a:ext>
                </a:extLst>
              </a:tr>
            </a:tbl>
          </a:graphicData>
        </a:graphic>
      </p:graphicFrame>
      <p:graphicFrame>
        <p:nvGraphicFramePr>
          <p:cNvPr id="44" name="表 41">
            <a:extLst>
              <a:ext uri="{FF2B5EF4-FFF2-40B4-BE49-F238E27FC236}">
                <a16:creationId xmlns:a16="http://schemas.microsoft.com/office/drawing/2014/main" id="{FCF2412F-20D1-A2BA-47C4-0CD95C170916}"/>
              </a:ext>
            </a:extLst>
          </p:cNvPr>
          <p:cNvGraphicFramePr>
            <a:graphicFrameLocks noGrp="1"/>
          </p:cNvGraphicFramePr>
          <p:nvPr>
            <p:extLst>
              <p:ext uri="{D42A27DB-BD31-4B8C-83A1-F6EECF244321}">
                <p14:modId xmlns:p14="http://schemas.microsoft.com/office/powerpoint/2010/main" val="1090047662"/>
              </p:ext>
            </p:extLst>
          </p:nvPr>
        </p:nvGraphicFramePr>
        <p:xfrm>
          <a:off x="6677008" y="3622590"/>
          <a:ext cx="2781303" cy="1483360"/>
        </p:xfrm>
        <a:graphic>
          <a:graphicData uri="http://schemas.openxmlformats.org/drawingml/2006/table">
            <a:tbl>
              <a:tblPr firstRow="1" bandRow="1">
                <a:tableStyleId>{5940675A-B579-460E-94D1-54222C63F5DA}</a:tableStyleId>
              </a:tblPr>
              <a:tblGrid>
                <a:gridCol w="927101">
                  <a:extLst>
                    <a:ext uri="{9D8B030D-6E8A-4147-A177-3AD203B41FA5}">
                      <a16:colId xmlns:a16="http://schemas.microsoft.com/office/drawing/2014/main" val="3425141366"/>
                    </a:ext>
                  </a:extLst>
                </a:gridCol>
                <a:gridCol w="927101">
                  <a:extLst>
                    <a:ext uri="{9D8B030D-6E8A-4147-A177-3AD203B41FA5}">
                      <a16:colId xmlns:a16="http://schemas.microsoft.com/office/drawing/2014/main" val="301207152"/>
                    </a:ext>
                  </a:extLst>
                </a:gridCol>
                <a:gridCol w="927101">
                  <a:extLst>
                    <a:ext uri="{9D8B030D-6E8A-4147-A177-3AD203B41FA5}">
                      <a16:colId xmlns:a16="http://schemas.microsoft.com/office/drawing/2014/main" val="1857807546"/>
                    </a:ext>
                  </a:extLst>
                </a:gridCol>
              </a:tblGrid>
              <a:tr h="370840">
                <a:tc>
                  <a:txBody>
                    <a:bodyPr/>
                    <a:lstStyle/>
                    <a:p>
                      <a:r>
                        <a:rPr kumimoji="1" lang="ja-JP" altLang="en-US" dirty="0"/>
                        <a:t>薄力粉</a:t>
                      </a:r>
                    </a:p>
                  </a:txBody>
                  <a:tcPr/>
                </a:tc>
                <a:tc>
                  <a:txBody>
                    <a:bodyPr/>
                    <a:lstStyle/>
                    <a:p>
                      <a:r>
                        <a:rPr kumimoji="1" lang="ja-JP" altLang="en-US" dirty="0"/>
                        <a:t>卵</a:t>
                      </a:r>
                    </a:p>
                  </a:txBody>
                  <a:tcPr/>
                </a:tc>
                <a:tc>
                  <a:txBody>
                    <a:bodyPr/>
                    <a:lstStyle/>
                    <a:p>
                      <a:r>
                        <a:rPr kumimoji="1" lang="ja-JP" altLang="en-US" dirty="0"/>
                        <a:t>牛乳</a:t>
                      </a:r>
                    </a:p>
                  </a:txBody>
                  <a:tcPr/>
                </a:tc>
                <a:extLst>
                  <a:ext uri="{0D108BD9-81ED-4DB2-BD59-A6C34878D82A}">
                    <a16:rowId xmlns:a16="http://schemas.microsoft.com/office/drawing/2014/main" val="1132040834"/>
                  </a:ext>
                </a:extLst>
              </a:tr>
              <a:tr h="370840">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2589278005"/>
                  </a:ext>
                </a:extLst>
              </a:tr>
              <a:tr h="370840">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994849994"/>
                  </a:ext>
                </a:extLst>
              </a:tr>
              <a:tr h="370840">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1401146252"/>
                  </a:ext>
                </a:extLst>
              </a:tr>
            </a:tbl>
          </a:graphicData>
        </a:graphic>
      </p:graphicFrame>
      <p:sp>
        <p:nvSpPr>
          <p:cNvPr id="45" name="テキスト ボックス 44">
            <a:extLst>
              <a:ext uri="{FF2B5EF4-FFF2-40B4-BE49-F238E27FC236}">
                <a16:creationId xmlns:a16="http://schemas.microsoft.com/office/drawing/2014/main" id="{52B469CD-5A53-F471-3E01-5A9D0A44CF13}"/>
              </a:ext>
            </a:extLst>
          </p:cNvPr>
          <p:cNvSpPr txBox="1"/>
          <p:nvPr/>
        </p:nvSpPr>
        <p:spPr>
          <a:xfrm>
            <a:off x="6577971" y="2020035"/>
            <a:ext cx="357020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予測・識別に使うデータ</a:t>
            </a:r>
          </a:p>
        </p:txBody>
      </p:sp>
      <p:sp>
        <p:nvSpPr>
          <p:cNvPr id="4" name="右中かっこ 3">
            <a:extLst>
              <a:ext uri="{FF2B5EF4-FFF2-40B4-BE49-F238E27FC236}">
                <a16:creationId xmlns:a16="http://schemas.microsoft.com/office/drawing/2014/main" id="{4920612E-C228-4F9D-8944-5D4FF65636FD}"/>
              </a:ext>
            </a:extLst>
          </p:cNvPr>
          <p:cNvSpPr/>
          <p:nvPr/>
        </p:nvSpPr>
        <p:spPr>
          <a:xfrm rot="16200000">
            <a:off x="3345466" y="1959327"/>
            <a:ext cx="388339" cy="276788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DD3320CC-4B82-5A59-E582-0D2FA4D0418B}"/>
              </a:ext>
            </a:extLst>
          </p:cNvPr>
          <p:cNvSpPr txBox="1"/>
          <p:nvPr/>
        </p:nvSpPr>
        <p:spPr>
          <a:xfrm>
            <a:off x="2440412" y="2481700"/>
            <a:ext cx="3386452"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特徴ベクトル空間の座標値＝特徴量と呼ぶ</a:t>
            </a:r>
          </a:p>
        </p:txBody>
      </p:sp>
      <p:sp>
        <p:nvSpPr>
          <p:cNvPr id="12" name="右中かっこ 11">
            <a:extLst>
              <a:ext uri="{FF2B5EF4-FFF2-40B4-BE49-F238E27FC236}">
                <a16:creationId xmlns:a16="http://schemas.microsoft.com/office/drawing/2014/main" id="{47243222-68DB-C074-C3F8-E86F2C654DE4}"/>
              </a:ext>
            </a:extLst>
          </p:cNvPr>
          <p:cNvSpPr/>
          <p:nvPr/>
        </p:nvSpPr>
        <p:spPr>
          <a:xfrm rot="16200000">
            <a:off x="1474135" y="2971041"/>
            <a:ext cx="388339" cy="74445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6E64C86-D09E-F2C7-BDE7-676657631B6F}"/>
              </a:ext>
            </a:extLst>
          </p:cNvPr>
          <p:cNvSpPr txBox="1"/>
          <p:nvPr/>
        </p:nvSpPr>
        <p:spPr>
          <a:xfrm>
            <a:off x="134152" y="2471976"/>
            <a:ext cx="2236510" cy="707886"/>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教師データ</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（クラスラベル）</a:t>
            </a:r>
          </a:p>
        </p:txBody>
      </p:sp>
      <p:sp>
        <p:nvSpPr>
          <p:cNvPr id="7" name="テキスト ボックス 6">
            <a:extLst>
              <a:ext uri="{FF2B5EF4-FFF2-40B4-BE49-F238E27FC236}">
                <a16:creationId xmlns:a16="http://schemas.microsoft.com/office/drawing/2014/main" id="{1EE27F66-C36D-86B3-274E-1B2CE4649457}"/>
              </a:ext>
            </a:extLst>
          </p:cNvPr>
          <p:cNvSpPr txBox="1"/>
          <p:nvPr/>
        </p:nvSpPr>
        <p:spPr>
          <a:xfrm>
            <a:off x="6381733" y="2835643"/>
            <a:ext cx="4801314" cy="707886"/>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特徴量だけ与えられて教師データがない</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　クラスラベルを予測する</a:t>
            </a:r>
          </a:p>
        </p:txBody>
      </p:sp>
      <p:sp>
        <p:nvSpPr>
          <p:cNvPr id="8" name="テキスト ボックス 7">
            <a:extLst>
              <a:ext uri="{FF2B5EF4-FFF2-40B4-BE49-F238E27FC236}">
                <a16:creationId xmlns:a16="http://schemas.microsoft.com/office/drawing/2014/main" id="{DA1B9B7A-37C3-DCEA-D89A-92EDE856131C}"/>
              </a:ext>
            </a:extLst>
          </p:cNvPr>
          <p:cNvSpPr txBox="1"/>
          <p:nvPr/>
        </p:nvSpPr>
        <p:spPr>
          <a:xfrm>
            <a:off x="994057" y="5336476"/>
            <a:ext cx="4615177" cy="1323439"/>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学習：</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特徴量（ベクトル）と教師データから決定境界を見つけ出す。学習のために入力するデータは</a:t>
            </a:r>
            <a:r>
              <a:rPr kumimoji="1" lang="ja-JP" altLang="en-US" sz="2000" dirty="0">
                <a:solidFill>
                  <a:srgbClr val="FF0000"/>
                </a:solidFill>
                <a:latin typeface="メイリオ" panose="020B0604030504040204" pitchFamily="50" charset="-128"/>
                <a:ea typeface="メイリオ" panose="020B0604030504040204" pitchFamily="50" charset="-128"/>
              </a:rPr>
              <a:t>訓練データ</a:t>
            </a:r>
            <a:r>
              <a:rPr kumimoji="1" lang="ja-JP" altLang="en-US" sz="2000" dirty="0">
                <a:latin typeface="メイリオ" panose="020B0604030504040204" pitchFamily="50" charset="-128"/>
                <a:ea typeface="メイリオ" panose="020B0604030504040204" pitchFamily="50" charset="-128"/>
              </a:rPr>
              <a:t>と呼ぶ</a:t>
            </a:r>
          </a:p>
        </p:txBody>
      </p:sp>
      <p:sp>
        <p:nvSpPr>
          <p:cNvPr id="9" name="テキスト ボックス 8">
            <a:extLst>
              <a:ext uri="{FF2B5EF4-FFF2-40B4-BE49-F238E27FC236}">
                <a16:creationId xmlns:a16="http://schemas.microsoft.com/office/drawing/2014/main" id="{EA1CA0B5-3F41-727B-A41A-F645A6459F28}"/>
              </a:ext>
            </a:extLst>
          </p:cNvPr>
          <p:cNvSpPr txBox="1"/>
          <p:nvPr/>
        </p:nvSpPr>
        <p:spPr>
          <a:xfrm>
            <a:off x="6286483" y="5336476"/>
            <a:ext cx="5189078" cy="1323439"/>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予測：</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特徴量を学習済機械学習器与えて、決定境界からクラスラベルを予測する。予測のために入力するデータは</a:t>
            </a:r>
            <a:r>
              <a:rPr kumimoji="1" lang="ja-JP" altLang="en-US" sz="2000" dirty="0">
                <a:solidFill>
                  <a:srgbClr val="FF0000"/>
                </a:solidFill>
                <a:latin typeface="メイリオ" panose="020B0604030504040204" pitchFamily="50" charset="-128"/>
                <a:ea typeface="メイリオ" panose="020B0604030504040204" pitchFamily="50" charset="-128"/>
              </a:rPr>
              <a:t>テストデータ</a:t>
            </a:r>
            <a:r>
              <a:rPr kumimoji="1" lang="ja-JP" altLang="en-US" sz="2000" dirty="0">
                <a:latin typeface="メイリオ" panose="020B0604030504040204" pitchFamily="50" charset="-128"/>
                <a:ea typeface="メイリオ" panose="020B0604030504040204" pitchFamily="50" charset="-128"/>
              </a:rPr>
              <a:t>と呼ぶ</a:t>
            </a:r>
          </a:p>
        </p:txBody>
      </p:sp>
      <p:cxnSp>
        <p:nvCxnSpPr>
          <p:cNvPr id="11" name="直線矢印コネクタ 10">
            <a:extLst>
              <a:ext uri="{FF2B5EF4-FFF2-40B4-BE49-F238E27FC236}">
                <a16:creationId xmlns:a16="http://schemas.microsoft.com/office/drawing/2014/main" id="{F9BC67E5-0A1C-C2E0-CC22-1EB1FE4DA92B}"/>
              </a:ext>
            </a:extLst>
          </p:cNvPr>
          <p:cNvCxnSpPr/>
          <p:nvPr/>
        </p:nvCxnSpPr>
        <p:spPr>
          <a:xfrm>
            <a:off x="889282" y="3622590"/>
            <a:ext cx="0" cy="17902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84C4E9E1-8CAF-3450-970C-65DDD51955E9}"/>
              </a:ext>
            </a:extLst>
          </p:cNvPr>
          <p:cNvSpPr txBox="1"/>
          <p:nvPr/>
        </p:nvSpPr>
        <p:spPr>
          <a:xfrm rot="16200000">
            <a:off x="-465325" y="4286889"/>
            <a:ext cx="222208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行が１データ</a:t>
            </a:r>
          </a:p>
        </p:txBody>
      </p:sp>
      <p:cxnSp>
        <p:nvCxnSpPr>
          <p:cNvPr id="22" name="直線矢印コネクタ 21">
            <a:extLst>
              <a:ext uri="{FF2B5EF4-FFF2-40B4-BE49-F238E27FC236}">
                <a16:creationId xmlns:a16="http://schemas.microsoft.com/office/drawing/2014/main" id="{8E4DBF8F-B8B6-F40C-4A2C-8D0B6895545C}"/>
              </a:ext>
            </a:extLst>
          </p:cNvPr>
          <p:cNvCxnSpPr/>
          <p:nvPr/>
        </p:nvCxnSpPr>
        <p:spPr>
          <a:xfrm>
            <a:off x="6299217" y="3447201"/>
            <a:ext cx="0" cy="17902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E4407C66-9938-2532-8C5A-57E1E8016ABD}"/>
              </a:ext>
            </a:extLst>
          </p:cNvPr>
          <p:cNvSpPr txBox="1"/>
          <p:nvPr/>
        </p:nvSpPr>
        <p:spPr>
          <a:xfrm rot="16200000">
            <a:off x="4944610" y="4111500"/>
            <a:ext cx="2222083"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行が１データ</a:t>
            </a:r>
          </a:p>
        </p:txBody>
      </p:sp>
      <p:graphicFrame>
        <p:nvGraphicFramePr>
          <p:cNvPr id="24" name="表 41">
            <a:extLst>
              <a:ext uri="{FF2B5EF4-FFF2-40B4-BE49-F238E27FC236}">
                <a16:creationId xmlns:a16="http://schemas.microsoft.com/office/drawing/2014/main" id="{4581C325-F088-2BC8-8778-46E0C230EF90}"/>
              </a:ext>
            </a:extLst>
          </p:cNvPr>
          <p:cNvGraphicFramePr>
            <a:graphicFrameLocks noGrp="1"/>
          </p:cNvGraphicFramePr>
          <p:nvPr>
            <p:extLst>
              <p:ext uri="{D42A27DB-BD31-4B8C-83A1-F6EECF244321}">
                <p14:modId xmlns:p14="http://schemas.microsoft.com/office/powerpoint/2010/main" val="1513009975"/>
              </p:ext>
            </p:extLst>
          </p:nvPr>
        </p:nvGraphicFramePr>
        <p:xfrm>
          <a:off x="11234754" y="3890939"/>
          <a:ext cx="920891" cy="1112520"/>
        </p:xfrm>
        <a:graphic>
          <a:graphicData uri="http://schemas.openxmlformats.org/drawingml/2006/table">
            <a:tbl>
              <a:tblPr firstRow="1" bandRow="1">
                <a:tableStyleId>{5940675A-B579-460E-94D1-54222C63F5DA}</a:tableStyleId>
              </a:tblPr>
              <a:tblGrid>
                <a:gridCol w="920891">
                  <a:extLst>
                    <a:ext uri="{9D8B030D-6E8A-4147-A177-3AD203B41FA5}">
                      <a16:colId xmlns:a16="http://schemas.microsoft.com/office/drawing/2014/main" val="4239470345"/>
                    </a:ext>
                  </a:extLst>
                </a:gridCol>
              </a:tblGrid>
              <a:tr h="370840">
                <a:tc>
                  <a:txBody>
                    <a:bodyPr/>
                    <a:lstStyle/>
                    <a:p>
                      <a:r>
                        <a:rPr kumimoji="1" lang="ja-JP" altLang="en-US" dirty="0"/>
                        <a:t>プリン</a:t>
                      </a:r>
                    </a:p>
                  </a:txBody>
                  <a:tcPr/>
                </a:tc>
                <a:extLst>
                  <a:ext uri="{0D108BD9-81ED-4DB2-BD59-A6C34878D82A}">
                    <a16:rowId xmlns:a16="http://schemas.microsoft.com/office/drawing/2014/main" val="2589278005"/>
                  </a:ext>
                </a:extLst>
              </a:tr>
              <a:tr h="370840">
                <a:tc>
                  <a:txBody>
                    <a:bodyPr/>
                    <a:lstStyle/>
                    <a:p>
                      <a:r>
                        <a:rPr kumimoji="1" lang="ja-JP" altLang="en-US" dirty="0"/>
                        <a:t>プリン</a:t>
                      </a:r>
                    </a:p>
                  </a:txBody>
                  <a:tcPr/>
                </a:tc>
                <a:extLst>
                  <a:ext uri="{0D108BD9-81ED-4DB2-BD59-A6C34878D82A}">
                    <a16:rowId xmlns:a16="http://schemas.microsoft.com/office/drawing/2014/main" val="994849994"/>
                  </a:ext>
                </a:extLst>
              </a:tr>
              <a:tr h="370840">
                <a:tc>
                  <a:txBody>
                    <a:bodyPr/>
                    <a:lstStyle/>
                    <a:p>
                      <a:r>
                        <a:rPr kumimoji="1" lang="ja-JP" altLang="en-US" dirty="0"/>
                        <a:t>シュー</a:t>
                      </a:r>
                    </a:p>
                  </a:txBody>
                  <a:tcPr/>
                </a:tc>
                <a:extLst>
                  <a:ext uri="{0D108BD9-81ED-4DB2-BD59-A6C34878D82A}">
                    <a16:rowId xmlns:a16="http://schemas.microsoft.com/office/drawing/2014/main" val="1401146252"/>
                  </a:ext>
                </a:extLst>
              </a:tr>
            </a:tbl>
          </a:graphicData>
        </a:graphic>
      </p:graphicFrame>
      <p:sp>
        <p:nvSpPr>
          <p:cNvPr id="14" name="四角形: 角を丸くする 13">
            <a:extLst>
              <a:ext uri="{FF2B5EF4-FFF2-40B4-BE49-F238E27FC236}">
                <a16:creationId xmlns:a16="http://schemas.microsoft.com/office/drawing/2014/main" id="{EC654D20-D0F1-AA18-91D3-29E2EADC30A3}"/>
              </a:ext>
            </a:extLst>
          </p:cNvPr>
          <p:cNvSpPr/>
          <p:nvPr/>
        </p:nvSpPr>
        <p:spPr>
          <a:xfrm>
            <a:off x="9770270" y="3917556"/>
            <a:ext cx="1152525" cy="12003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学習済機械学習器</a:t>
            </a:r>
          </a:p>
        </p:txBody>
      </p:sp>
      <p:sp>
        <p:nvSpPr>
          <p:cNvPr id="15" name="二等辺三角形 14">
            <a:extLst>
              <a:ext uri="{FF2B5EF4-FFF2-40B4-BE49-F238E27FC236}">
                <a16:creationId xmlns:a16="http://schemas.microsoft.com/office/drawing/2014/main" id="{C7C9B46E-EE04-E24E-B62B-1B96CDFCCB03}"/>
              </a:ext>
            </a:extLst>
          </p:cNvPr>
          <p:cNvSpPr/>
          <p:nvPr/>
        </p:nvSpPr>
        <p:spPr>
          <a:xfrm rot="5400000">
            <a:off x="8918321" y="4421261"/>
            <a:ext cx="1391384" cy="19291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二等辺三角形 26">
            <a:extLst>
              <a:ext uri="{FF2B5EF4-FFF2-40B4-BE49-F238E27FC236}">
                <a16:creationId xmlns:a16="http://schemas.microsoft.com/office/drawing/2014/main" id="{D7CE669D-DE42-9202-EDE0-1FBB01DFD652}"/>
              </a:ext>
            </a:extLst>
          </p:cNvPr>
          <p:cNvSpPr/>
          <p:nvPr/>
        </p:nvSpPr>
        <p:spPr>
          <a:xfrm rot="5400000">
            <a:off x="10373989" y="4444260"/>
            <a:ext cx="1391384" cy="19291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07000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B58775A-92AE-4C5F-BF8F-D7E582BC9998}"/>
              </a:ext>
            </a:extLst>
          </p:cNvPr>
          <p:cNvSpPr txBox="1"/>
          <p:nvPr/>
        </p:nvSpPr>
        <p:spPr>
          <a:xfrm>
            <a:off x="298579" y="457200"/>
            <a:ext cx="6859570" cy="584775"/>
          </a:xfrm>
          <a:prstGeom prst="rect">
            <a:avLst/>
          </a:prstGeom>
          <a:noFill/>
        </p:spPr>
        <p:txBody>
          <a:bodyPr wrap="none" rtlCol="0">
            <a:spAutoFit/>
          </a:bodyPr>
          <a:lstStyle/>
          <a:p>
            <a:pPr algn="l"/>
            <a:r>
              <a:rPr kumimoji="1" lang="en-US" altLang="ja-JP" sz="3200" dirty="0" err="1">
                <a:latin typeface="メイリオ" panose="020B0604030504040204" pitchFamily="50" charset="-128"/>
                <a:ea typeface="メイリオ" panose="020B0604030504040204" pitchFamily="50" charset="-128"/>
              </a:rPr>
              <a:t>BoW</a:t>
            </a:r>
            <a:r>
              <a:rPr kumimoji="1" lang="ja-JP" altLang="en-US" sz="3200" dirty="0">
                <a:latin typeface="メイリオ" panose="020B0604030504040204" pitchFamily="50" charset="-128"/>
                <a:ea typeface="メイリオ" panose="020B0604030504040204" pitchFamily="50" charset="-128"/>
              </a:rPr>
              <a:t>に教師あり機械学習を適用する</a:t>
            </a:r>
          </a:p>
        </p:txBody>
      </p:sp>
      <p:sp>
        <p:nvSpPr>
          <p:cNvPr id="3" name="テキスト ボックス 2">
            <a:extLst>
              <a:ext uri="{FF2B5EF4-FFF2-40B4-BE49-F238E27FC236}">
                <a16:creationId xmlns:a16="http://schemas.microsoft.com/office/drawing/2014/main" id="{7516A831-03E1-6EB9-AA0F-2303899BC3BD}"/>
              </a:ext>
            </a:extLst>
          </p:cNvPr>
          <p:cNvSpPr txBox="1"/>
          <p:nvPr/>
        </p:nvSpPr>
        <p:spPr>
          <a:xfrm>
            <a:off x="470515" y="1452854"/>
            <a:ext cx="11250969" cy="1200329"/>
          </a:xfrm>
          <a:prstGeom prst="rect">
            <a:avLst/>
          </a:prstGeom>
          <a:noFill/>
        </p:spPr>
        <p:txBody>
          <a:bodyPr wrap="square" rtlCol="0">
            <a:spAutoFit/>
          </a:bodyPr>
          <a:lstStyle/>
          <a:p>
            <a:pPr marL="457200" indent="-457200">
              <a:buFont typeface="+mj-lt"/>
              <a:buAutoNum type="arabicPeriod"/>
            </a:pPr>
            <a:r>
              <a:rPr kumimoji="1" lang="ja-JP" altLang="en-US" sz="2400" dirty="0">
                <a:latin typeface="メイリオ" panose="020B0604030504040204" pitchFamily="50" charset="-128"/>
                <a:ea typeface="メイリオ" panose="020B0604030504040204" pitchFamily="50" charset="-128"/>
              </a:rPr>
              <a:t>学習すると、ラベルのないツクレポから杏仁豆腐、シュークリーム、プリンのいずれのツクレポかを識別可能になる</a:t>
            </a:r>
          </a:p>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K nearest neighbor </a:t>
            </a:r>
            <a:r>
              <a:rPr kumimoji="1" lang="ja-JP" altLang="en-US" sz="2400" dirty="0">
                <a:latin typeface="メイリオ" panose="020B0604030504040204" pitchFamily="50" charset="-128"/>
                <a:ea typeface="メイリオ" panose="020B0604030504040204" pitchFamily="50" charset="-128"/>
              </a:rPr>
              <a:t>で学習・予測してみる</a:t>
            </a:r>
          </a:p>
        </p:txBody>
      </p:sp>
      <p:sp>
        <p:nvSpPr>
          <p:cNvPr id="6" name="テキスト ボックス 5">
            <a:extLst>
              <a:ext uri="{FF2B5EF4-FFF2-40B4-BE49-F238E27FC236}">
                <a16:creationId xmlns:a16="http://schemas.microsoft.com/office/drawing/2014/main" id="{A619B752-F67B-5915-20DB-DC3808D3AE63}"/>
              </a:ext>
            </a:extLst>
          </p:cNvPr>
          <p:cNvSpPr txBox="1"/>
          <p:nvPr/>
        </p:nvSpPr>
        <p:spPr>
          <a:xfrm>
            <a:off x="1168320" y="3456639"/>
            <a:ext cx="2895344" cy="523220"/>
          </a:xfrm>
          <a:prstGeom prst="rect">
            <a:avLst/>
          </a:prstGeom>
          <a:noFill/>
        </p:spPr>
        <p:txBody>
          <a:bodyPr wrap="none" rtlCol="0">
            <a:spAutoFit/>
          </a:bodyPr>
          <a:lstStyle/>
          <a:p>
            <a:pPr algn="l"/>
            <a:r>
              <a:rPr kumimoji="1" lang="ja-JP" altLang="en-US" sz="2800" dirty="0">
                <a:latin typeface="メイリオ" panose="020B0604030504040204" pitchFamily="50" charset="-128"/>
                <a:ea typeface="メイリオ" panose="020B0604030504040204" pitchFamily="50" charset="-128"/>
              </a:rPr>
              <a:t>判別精度　</a:t>
            </a:r>
            <a:r>
              <a:rPr kumimoji="1" lang="en-US" altLang="ja-JP" sz="2800" dirty="0">
                <a:latin typeface="メイリオ" panose="020B0604030504040204" pitchFamily="50" charset="-128"/>
                <a:ea typeface="メイリオ" panose="020B0604030504040204" pitchFamily="50" charset="-128"/>
              </a:rPr>
              <a:t>0.57 </a:t>
            </a:r>
            <a:endParaRPr kumimoji="1" lang="ja-JP" altLang="en-US" sz="28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86DA416F-A6A4-C4CB-0689-121854676747}"/>
              </a:ext>
            </a:extLst>
          </p:cNvPr>
          <p:cNvSpPr txBox="1"/>
          <p:nvPr/>
        </p:nvSpPr>
        <p:spPr>
          <a:xfrm>
            <a:off x="4526339" y="3533583"/>
            <a:ext cx="1569660" cy="369332"/>
          </a:xfrm>
          <a:prstGeom prst="rect">
            <a:avLst/>
          </a:prstGeom>
          <a:noFill/>
        </p:spPr>
        <p:txBody>
          <a:bodyPr wrap="none" rtlCol="0">
            <a:spAutoFit/>
          </a:bodyPr>
          <a:lstStyle/>
          <a:p>
            <a:pPr algn="l"/>
            <a:r>
              <a:rPr kumimoji="1" lang="ja-JP" altLang="en-US" dirty="0">
                <a:latin typeface="メイリオ" panose="020B0604030504040204" pitchFamily="50" charset="-128"/>
                <a:ea typeface="メイリオ" panose="020B0604030504040204" pitchFamily="50" charset="-128"/>
              </a:rPr>
              <a:t>。。まあまあ</a:t>
            </a:r>
          </a:p>
        </p:txBody>
      </p:sp>
      <p:sp>
        <p:nvSpPr>
          <p:cNvPr id="8" name="テキスト ボックス 7">
            <a:extLst>
              <a:ext uri="{FF2B5EF4-FFF2-40B4-BE49-F238E27FC236}">
                <a16:creationId xmlns:a16="http://schemas.microsoft.com/office/drawing/2014/main" id="{593D2A6E-2B69-D3CF-D67B-765B3829B495}"/>
              </a:ext>
            </a:extLst>
          </p:cNvPr>
          <p:cNvSpPr txBox="1"/>
          <p:nvPr/>
        </p:nvSpPr>
        <p:spPr>
          <a:xfrm>
            <a:off x="6095999" y="3533583"/>
            <a:ext cx="332655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あてずっぽうでも</a:t>
            </a:r>
            <a:r>
              <a:rPr kumimoji="1" lang="en-US" altLang="ja-JP" sz="2400" dirty="0">
                <a:latin typeface="メイリオ" panose="020B0604030504040204" pitchFamily="50" charset="-128"/>
                <a:ea typeface="メイリオ" panose="020B0604030504040204" pitchFamily="50" charset="-128"/>
              </a:rPr>
              <a:t>0.33</a:t>
            </a:r>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6F5BC316-AB44-B886-E60D-55D9A5E077E4}"/>
              </a:ext>
            </a:extLst>
          </p:cNvPr>
          <p:cNvSpPr txBox="1"/>
          <p:nvPr/>
        </p:nvSpPr>
        <p:spPr>
          <a:xfrm>
            <a:off x="470515" y="1016582"/>
            <a:ext cx="11157542" cy="830997"/>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hlinkClick r:id="rId2"/>
              </a:rPr>
              <a:t>https://github.com/ueharaLab/NLP_4-Classifier/blob/main/knn_bow.md</a:t>
            </a:r>
            <a:endParaRPr kumimoji="1" lang="en-US" altLang="ja-JP" sz="2400" dirty="0">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21235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B82089B-711C-6965-2E4E-BC3A9188EA39}"/>
              </a:ext>
            </a:extLst>
          </p:cNvPr>
          <p:cNvSpPr txBox="1"/>
          <p:nvPr/>
        </p:nvSpPr>
        <p:spPr>
          <a:xfrm>
            <a:off x="657225" y="514350"/>
            <a:ext cx="6537367"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K</a:t>
            </a:r>
            <a:r>
              <a:rPr kumimoji="1" lang="ja-JP" altLang="en-US" sz="3200" dirty="0">
                <a:latin typeface="メイリオ" panose="020B0604030504040204" pitchFamily="50" charset="-128"/>
                <a:ea typeface="メイリオ" panose="020B0604030504040204" pitchFamily="50" charset="-128"/>
              </a:rPr>
              <a:t>最近傍法（</a:t>
            </a:r>
            <a:r>
              <a:rPr kumimoji="1" lang="en-US" altLang="ja-JP" sz="3200" dirty="0">
                <a:latin typeface="メイリオ" panose="020B0604030504040204" pitchFamily="50" charset="-128"/>
                <a:ea typeface="メイリオ" panose="020B0604030504040204" pitchFamily="50" charset="-128"/>
              </a:rPr>
              <a:t>K-nearest neighbor)</a:t>
            </a:r>
            <a:endParaRPr kumimoji="1" lang="ja-JP" altLang="en-US" sz="32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195B03DD-F23D-CDB4-CB9F-9C4154C0D276}"/>
              </a:ext>
            </a:extLst>
          </p:cNvPr>
          <p:cNvSpPr txBox="1"/>
          <p:nvPr/>
        </p:nvSpPr>
        <p:spPr>
          <a:xfrm>
            <a:off x="849072" y="1099125"/>
            <a:ext cx="480131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もっともシンプルな教師あり学習</a:t>
            </a:r>
          </a:p>
        </p:txBody>
      </p:sp>
      <p:pic>
        <p:nvPicPr>
          <p:cNvPr id="4" name="Picture 2" descr="スクリーンショット 2016-05-04 3.33.02.png">
            <a:extLst>
              <a:ext uri="{FF2B5EF4-FFF2-40B4-BE49-F238E27FC236}">
                <a16:creationId xmlns:a16="http://schemas.microsoft.com/office/drawing/2014/main" id="{8F8804A8-564C-2DF3-BA45-E22B49EFF3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2255" y="3562692"/>
            <a:ext cx="4497070" cy="3310657"/>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2D6DE20D-7D58-26AB-452B-65EF5A95CAB0}"/>
              </a:ext>
            </a:extLst>
          </p:cNvPr>
          <p:cNvSpPr txBox="1"/>
          <p:nvPr/>
        </p:nvSpPr>
        <p:spPr>
          <a:xfrm>
            <a:off x="890568" y="1548341"/>
            <a:ext cx="10577532" cy="1077218"/>
          </a:xfrm>
          <a:prstGeom prst="rect">
            <a:avLst/>
          </a:prstGeom>
          <a:noFill/>
        </p:spPr>
        <p:txBody>
          <a:bodyPr wrap="square" rtlCol="0">
            <a:spAutoFit/>
          </a:bodyPr>
          <a:lstStyle/>
          <a:p>
            <a:r>
              <a:rPr kumimoji="1" lang="ja-JP" altLang="en-US" sz="2000" dirty="0">
                <a:latin typeface="メイリオ" panose="020B0604030504040204" pitchFamily="50" charset="-128"/>
                <a:ea typeface="メイリオ" panose="020B0604030504040204" pitchFamily="50" charset="-128"/>
              </a:rPr>
              <a:t>学習データをベクトル空間上にプロットしておき、未知のデータが得られたら、そこから距離が近い順に任意の</a:t>
            </a:r>
            <a:r>
              <a:rPr kumimoji="1" lang="en-US" altLang="ja-JP" sz="2000" dirty="0">
                <a:latin typeface="メイリオ" panose="020B0604030504040204" pitchFamily="50" charset="-128"/>
                <a:ea typeface="メイリオ" panose="020B0604030504040204" pitchFamily="50" charset="-128"/>
              </a:rPr>
              <a:t>K</a:t>
            </a:r>
            <a:r>
              <a:rPr kumimoji="1" lang="ja-JP" altLang="en-US" sz="2000" dirty="0">
                <a:latin typeface="メイリオ" panose="020B0604030504040204" pitchFamily="50" charset="-128"/>
                <a:ea typeface="メイリオ" panose="020B0604030504040204" pitchFamily="50" charset="-128"/>
              </a:rPr>
              <a:t>個を取得し、多数決でデータが属するクラスを推定する。</a:t>
            </a:r>
            <a:endParaRPr kumimoji="1" lang="en-US" altLang="ja-JP" sz="2000" dirty="0">
              <a:latin typeface="メイリオ" panose="020B0604030504040204" pitchFamily="50" charset="-128"/>
              <a:ea typeface="メイリオ" panose="020B0604030504040204" pitchFamily="50" charset="-128"/>
            </a:endParaRPr>
          </a:p>
          <a:p>
            <a:r>
              <a:rPr kumimoji="1" lang="en-US" altLang="ja-JP" sz="2400" b="1" dirty="0">
                <a:latin typeface="メイリオ" panose="020B0604030504040204" pitchFamily="50" charset="-128"/>
                <a:ea typeface="メイリオ" panose="020B0604030504040204" pitchFamily="50" charset="-128"/>
              </a:rPr>
              <a:t>K : </a:t>
            </a:r>
            <a:r>
              <a:rPr kumimoji="1" lang="ja-JP" altLang="en-US" sz="2400" b="1" dirty="0">
                <a:latin typeface="メイリオ" panose="020B0604030504040204" pitchFamily="50" charset="-128"/>
                <a:ea typeface="メイリオ" panose="020B0604030504040204" pitchFamily="50" charset="-128"/>
              </a:rPr>
              <a:t>可変（ハイパーパラメータと呼ばれる）</a:t>
            </a:r>
          </a:p>
        </p:txBody>
      </p:sp>
      <p:sp>
        <p:nvSpPr>
          <p:cNvPr id="6" name="テキスト ボックス 5">
            <a:extLst>
              <a:ext uri="{FF2B5EF4-FFF2-40B4-BE49-F238E27FC236}">
                <a16:creationId xmlns:a16="http://schemas.microsoft.com/office/drawing/2014/main" id="{A1223188-54F7-1826-43D1-E59C9C87E180}"/>
              </a:ext>
            </a:extLst>
          </p:cNvPr>
          <p:cNvSpPr txBox="1"/>
          <p:nvPr/>
        </p:nvSpPr>
        <p:spPr>
          <a:xfrm>
            <a:off x="781051" y="3480253"/>
            <a:ext cx="4962525" cy="3170099"/>
          </a:xfrm>
          <a:prstGeom prst="rect">
            <a:avLst/>
          </a:prstGeom>
          <a:noFill/>
        </p:spPr>
        <p:txBody>
          <a:bodyPr wrap="square" rtlCol="0">
            <a:spAutoFit/>
          </a:bodyPr>
          <a:lstStyle/>
          <a:p>
            <a:r>
              <a:rPr kumimoji="1" lang="en-US" altLang="ja-JP" sz="2000" dirty="0">
                <a:latin typeface="メイリオ" panose="020B0604030504040204" pitchFamily="50" charset="-128"/>
                <a:ea typeface="メイリオ" panose="020B0604030504040204" pitchFamily="50" charset="-128"/>
              </a:rPr>
              <a:t>1.</a:t>
            </a:r>
            <a:r>
              <a:rPr kumimoji="1" lang="ja-JP" altLang="en-US" sz="2000" dirty="0">
                <a:latin typeface="メイリオ" panose="020B0604030504040204" pitchFamily="50" charset="-128"/>
                <a:ea typeface="メイリオ" panose="020B0604030504040204" pitchFamily="50" charset="-128"/>
              </a:rPr>
              <a:t>既知のデータ</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学習データ</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を黄色</a:t>
            </a:r>
            <a:endParaRPr kumimoji="1" lang="en-US" altLang="ja-JP" sz="2000" dirty="0">
              <a:latin typeface="メイリオ" panose="020B0604030504040204" pitchFamily="50" charset="-128"/>
              <a:ea typeface="メイリオ" panose="020B0604030504040204" pitchFamily="50" charset="-128"/>
            </a:endParaRPr>
          </a:p>
          <a:p>
            <a:r>
              <a:rPr kumimoji="1" lang="ja-JP" altLang="en-US" sz="2000" dirty="0">
                <a:latin typeface="メイリオ" panose="020B0604030504040204" pitchFamily="50" charset="-128"/>
                <a:ea typeface="メイリオ" panose="020B0604030504040204" pitchFamily="50" charset="-128"/>
              </a:rPr>
              <a:t>　と紫の丸としてプロットしておく。</a:t>
            </a:r>
            <a:endParaRPr kumimoji="1" lang="en-US" altLang="ja-JP" sz="2000" dirty="0">
              <a:latin typeface="メイリオ" panose="020B0604030504040204" pitchFamily="50" charset="-128"/>
              <a:ea typeface="メイリオ" panose="020B0604030504040204" pitchFamily="50" charset="-128"/>
            </a:endParaRPr>
          </a:p>
          <a:p>
            <a:endParaRPr kumimoji="1" lang="ja-JP" altLang="en-US"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2.K</a:t>
            </a:r>
            <a:r>
              <a:rPr kumimoji="1" lang="ja-JP" altLang="en-US" sz="2000" dirty="0">
                <a:latin typeface="メイリオ" panose="020B0604030504040204" pitchFamily="50" charset="-128"/>
                <a:ea typeface="メイリオ" panose="020B0604030504040204" pitchFamily="50" charset="-128"/>
              </a:rPr>
              <a:t>の数を決めておく。</a:t>
            </a:r>
            <a:r>
              <a:rPr kumimoji="1" lang="en-US" altLang="ja-JP" sz="2000" dirty="0">
                <a:latin typeface="メイリオ" panose="020B0604030504040204" pitchFamily="50" charset="-128"/>
                <a:ea typeface="メイリオ" panose="020B0604030504040204" pitchFamily="50" charset="-128"/>
              </a:rPr>
              <a:t>K=3</a:t>
            </a:r>
            <a:r>
              <a:rPr kumimoji="1" lang="ja-JP" altLang="en-US" sz="2000" dirty="0">
                <a:latin typeface="メイリオ" panose="020B0604030504040204" pitchFamily="50" charset="-128"/>
                <a:ea typeface="メイリオ" panose="020B0604030504040204" pitchFamily="50" charset="-128"/>
              </a:rPr>
              <a:t>とか。</a:t>
            </a:r>
          </a:p>
          <a:p>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3.</a:t>
            </a:r>
            <a:r>
              <a:rPr kumimoji="1" lang="ja-JP" altLang="en-US" sz="2000" dirty="0">
                <a:latin typeface="メイリオ" panose="020B0604030504040204" pitchFamily="50" charset="-128"/>
                <a:ea typeface="メイリオ" panose="020B0604030504040204" pitchFamily="50" charset="-128"/>
              </a:rPr>
              <a:t>未知のデータとして赤い星が得られ</a:t>
            </a:r>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   </a:t>
            </a:r>
            <a:r>
              <a:rPr kumimoji="1" lang="ja-JP" altLang="en-US" sz="2000" dirty="0">
                <a:latin typeface="メイリオ" panose="020B0604030504040204" pitchFamily="50" charset="-128"/>
                <a:ea typeface="メイリオ" panose="020B0604030504040204" pitchFamily="50" charset="-128"/>
              </a:rPr>
              <a:t>たら、近い点から３つ取得する。</a:t>
            </a:r>
          </a:p>
          <a:p>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4.</a:t>
            </a:r>
            <a:r>
              <a:rPr kumimoji="1" lang="ja-JP" altLang="en-US" sz="2000" dirty="0">
                <a:latin typeface="メイリオ" panose="020B0604030504040204" pitchFamily="50" charset="-128"/>
                <a:ea typeface="メイリオ" panose="020B0604030504040204" pitchFamily="50" charset="-128"/>
              </a:rPr>
              <a:t>その３つのクラスの多数決で、属</a:t>
            </a:r>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   </a:t>
            </a:r>
            <a:r>
              <a:rPr kumimoji="1" lang="ja-JP" altLang="en-US" sz="2000" dirty="0">
                <a:latin typeface="メイリオ" panose="020B0604030504040204" pitchFamily="50" charset="-128"/>
                <a:ea typeface="メイリオ" panose="020B0604030504040204" pitchFamily="50" charset="-128"/>
              </a:rPr>
              <a:t>するクラスを推定。</a:t>
            </a:r>
          </a:p>
        </p:txBody>
      </p:sp>
      <p:sp>
        <p:nvSpPr>
          <p:cNvPr id="7" name="テキスト ボックス 6">
            <a:extLst>
              <a:ext uri="{FF2B5EF4-FFF2-40B4-BE49-F238E27FC236}">
                <a16:creationId xmlns:a16="http://schemas.microsoft.com/office/drawing/2014/main" id="{2CBA648C-4D84-E7B2-26E1-2EC67B02C715}"/>
              </a:ext>
            </a:extLst>
          </p:cNvPr>
          <p:cNvSpPr txBox="1"/>
          <p:nvPr/>
        </p:nvSpPr>
        <p:spPr>
          <a:xfrm>
            <a:off x="5112161" y="2808616"/>
            <a:ext cx="5470114" cy="707886"/>
          </a:xfrm>
          <a:prstGeom prst="rect">
            <a:avLst/>
          </a:prstGeom>
          <a:noFill/>
        </p:spPr>
        <p:txBody>
          <a:bodyPr wrap="square" rtlCol="0">
            <a:spAutoFit/>
          </a:bodyPr>
          <a:lstStyle/>
          <a:p>
            <a:r>
              <a:rPr kumimoji="1" lang="en-US" altLang="ja-JP" sz="2000" dirty="0">
                <a:latin typeface="メイリオ" panose="020B0604030504040204" pitchFamily="50" charset="-128"/>
                <a:ea typeface="メイリオ" panose="020B0604030504040204" pitchFamily="50" charset="-128"/>
              </a:rPr>
              <a:t>K=3:</a:t>
            </a:r>
            <a:r>
              <a:rPr kumimoji="1" lang="ja-JP" altLang="en-US" sz="2000" dirty="0">
                <a:latin typeface="メイリオ" panose="020B0604030504040204" pitchFamily="50" charset="-128"/>
                <a:ea typeface="メイリオ" panose="020B0604030504040204" pitchFamily="50" charset="-128"/>
              </a:rPr>
              <a:t>☆は</a:t>
            </a:r>
            <a:r>
              <a:rPr kumimoji="1" lang="en-US" altLang="ja-JP" sz="2000" dirty="0">
                <a:latin typeface="メイリオ" panose="020B0604030504040204" pitchFamily="50" charset="-128"/>
                <a:ea typeface="メイリオ" panose="020B0604030504040204" pitchFamily="50" charset="-128"/>
              </a:rPr>
              <a:t>Class B(</a:t>
            </a:r>
            <a:r>
              <a:rPr kumimoji="1" lang="ja-JP" altLang="en-US" sz="2000" dirty="0">
                <a:latin typeface="メイリオ" panose="020B0604030504040204" pitchFamily="50" charset="-128"/>
                <a:ea typeface="メイリオ" panose="020B0604030504040204" pitchFamily="50" charset="-128"/>
              </a:rPr>
              <a:t>シュークリーム</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に属する</a:t>
            </a:r>
            <a:endParaRPr kumimoji="1" lang="en-US" altLang="ja-JP" sz="2000" dirty="0">
              <a:latin typeface="メイリオ" panose="020B0604030504040204" pitchFamily="50" charset="-128"/>
              <a:ea typeface="メイリオ" panose="020B0604030504040204" pitchFamily="50" charset="-128"/>
            </a:endParaRPr>
          </a:p>
          <a:p>
            <a:r>
              <a:rPr kumimoji="1" lang="en-US" altLang="ja-JP" sz="2000" dirty="0">
                <a:latin typeface="メイリオ" panose="020B0604030504040204" pitchFamily="50" charset="-128"/>
                <a:ea typeface="メイリオ" panose="020B0604030504040204" pitchFamily="50" charset="-128"/>
              </a:rPr>
              <a:t>K=6:</a:t>
            </a:r>
            <a:r>
              <a:rPr kumimoji="1" lang="ja-JP" altLang="en-US" sz="2000" dirty="0">
                <a:latin typeface="メイリオ" panose="020B0604030504040204" pitchFamily="50" charset="-128"/>
                <a:ea typeface="メイリオ" panose="020B0604030504040204" pitchFamily="50" charset="-128"/>
              </a:rPr>
              <a:t>☆は</a:t>
            </a:r>
            <a:r>
              <a:rPr kumimoji="1" lang="en-US" altLang="ja-JP" sz="2000" dirty="0">
                <a:latin typeface="メイリオ" panose="020B0604030504040204" pitchFamily="50" charset="-128"/>
                <a:ea typeface="メイリオ" panose="020B0604030504040204" pitchFamily="50" charset="-128"/>
              </a:rPr>
              <a:t>Class A(</a:t>
            </a:r>
            <a:r>
              <a:rPr kumimoji="1" lang="ja-JP" altLang="en-US" sz="2000" dirty="0">
                <a:latin typeface="メイリオ" panose="020B0604030504040204" pitchFamily="50" charset="-128"/>
                <a:ea typeface="メイリオ" panose="020B0604030504040204" pitchFamily="50" charset="-128"/>
              </a:rPr>
              <a:t>プリン</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に属する</a:t>
            </a:r>
          </a:p>
        </p:txBody>
      </p:sp>
      <p:sp>
        <p:nvSpPr>
          <p:cNvPr id="8" name="テキスト ボックス 7">
            <a:extLst>
              <a:ext uri="{FF2B5EF4-FFF2-40B4-BE49-F238E27FC236}">
                <a16:creationId xmlns:a16="http://schemas.microsoft.com/office/drawing/2014/main" id="{D25A07E2-A4DB-969E-6BB3-271C563F1F6C}"/>
              </a:ext>
            </a:extLst>
          </p:cNvPr>
          <p:cNvSpPr txBox="1"/>
          <p:nvPr/>
        </p:nvSpPr>
        <p:spPr>
          <a:xfrm>
            <a:off x="919257" y="2842131"/>
            <a:ext cx="4081567" cy="461665"/>
          </a:xfrm>
          <a:prstGeom prst="rect">
            <a:avLst/>
          </a:prstGeom>
          <a:noFill/>
        </p:spPr>
        <p:txBody>
          <a:bodyPr wrap="none" rtlCol="0">
            <a:spAutoFit/>
          </a:bodyPr>
          <a:lstStyle/>
          <a:p>
            <a:pPr algn="l"/>
            <a:r>
              <a:rPr kumimoji="1" lang="en-US" altLang="ja-JP" sz="2400" u="sng" dirty="0">
                <a:latin typeface="メイリオ" panose="020B0604030504040204" pitchFamily="50" charset="-128"/>
                <a:ea typeface="メイリオ" panose="020B0604030504040204" pitchFamily="50" charset="-128"/>
              </a:rPr>
              <a:t>K</a:t>
            </a:r>
            <a:r>
              <a:rPr kumimoji="1" lang="ja-JP" altLang="en-US" sz="2400" u="sng" dirty="0">
                <a:latin typeface="メイリオ" panose="020B0604030504040204" pitchFamily="50" charset="-128"/>
                <a:ea typeface="メイリオ" panose="020B0604030504040204" pitchFamily="50" charset="-128"/>
              </a:rPr>
              <a:t>が変わると分類が変わる！</a:t>
            </a:r>
            <a:endParaRPr kumimoji="1" lang="en-US" altLang="ja-JP" sz="2400" u="sng"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27AE4B1-6A08-7454-434F-92B247FC2A16}"/>
              </a:ext>
            </a:extLst>
          </p:cNvPr>
          <p:cNvSpPr txBox="1"/>
          <p:nvPr/>
        </p:nvSpPr>
        <p:spPr>
          <a:xfrm>
            <a:off x="5965550" y="5775709"/>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11CC1E85-80C0-4C14-82D1-24E2A0594BB7}"/>
              </a:ext>
            </a:extLst>
          </p:cNvPr>
          <p:cNvSpPr txBox="1"/>
          <p:nvPr/>
        </p:nvSpPr>
        <p:spPr>
          <a:xfrm>
            <a:off x="6535394" y="3617268"/>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
        <p:nvSpPr>
          <p:cNvPr id="12" name="テキスト ボックス 11">
            <a:extLst>
              <a:ext uri="{FF2B5EF4-FFF2-40B4-BE49-F238E27FC236}">
                <a16:creationId xmlns:a16="http://schemas.microsoft.com/office/drawing/2014/main" id="{32959291-89EB-DED1-CA6E-F94A47D6E9BD}"/>
              </a:ext>
            </a:extLst>
          </p:cNvPr>
          <p:cNvSpPr txBox="1"/>
          <p:nvPr/>
        </p:nvSpPr>
        <p:spPr>
          <a:xfrm>
            <a:off x="9453773" y="3699559"/>
            <a:ext cx="172354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（プリン）</a:t>
            </a:r>
          </a:p>
        </p:txBody>
      </p:sp>
      <p:sp>
        <p:nvSpPr>
          <p:cNvPr id="13" name="テキスト ボックス 12">
            <a:extLst>
              <a:ext uri="{FF2B5EF4-FFF2-40B4-BE49-F238E27FC236}">
                <a16:creationId xmlns:a16="http://schemas.microsoft.com/office/drawing/2014/main" id="{3CC2BF9A-4956-9D79-F935-910B9D07F554}"/>
              </a:ext>
            </a:extLst>
          </p:cNvPr>
          <p:cNvSpPr txBox="1"/>
          <p:nvPr/>
        </p:nvSpPr>
        <p:spPr>
          <a:xfrm>
            <a:off x="9443005" y="4043946"/>
            <a:ext cx="295465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（シュークリーム）</a:t>
            </a: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AADF47D9-A8D9-E5FF-F8CF-7ED7FF6332AA}"/>
                  </a:ext>
                </a:extLst>
              </p:cNvPr>
              <p:cNvSpPr txBox="1"/>
              <p:nvPr/>
            </p:nvSpPr>
            <p:spPr>
              <a:xfrm>
                <a:off x="5446740" y="5065302"/>
                <a:ext cx="407291" cy="369332"/>
              </a:xfrm>
              <a:prstGeom prst="rect">
                <a:avLst/>
              </a:prstGeom>
              <a:solidFill>
                <a:schemeClr val="bg1"/>
              </a:solid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2</m:t>
                          </m:r>
                        </m:sub>
                      </m:sSub>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9" name="テキスト ボックス 8">
                <a:extLst>
                  <a:ext uri="{FF2B5EF4-FFF2-40B4-BE49-F238E27FC236}">
                    <a16:creationId xmlns:a16="http://schemas.microsoft.com/office/drawing/2014/main" id="{AADF47D9-A8D9-E5FF-F8CF-7ED7FF6332AA}"/>
                  </a:ext>
                </a:extLst>
              </p:cNvPr>
              <p:cNvSpPr txBox="1">
                <a:spLocks noRot="1" noChangeAspect="1" noMove="1" noResize="1" noEditPoints="1" noAdjustHandles="1" noChangeArrowheads="1" noChangeShapeType="1" noTextEdit="1"/>
              </p:cNvSpPr>
              <p:nvPr/>
            </p:nvSpPr>
            <p:spPr>
              <a:xfrm>
                <a:off x="5446740" y="5065302"/>
                <a:ext cx="407291" cy="369332"/>
              </a:xfrm>
              <a:prstGeom prst="rect">
                <a:avLst/>
              </a:prstGeom>
              <a:blipFill>
                <a:blip r:embed="rId3"/>
                <a:stretch>
                  <a:fillRect l="-4478" r="-2985" b="-819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F4F4D29E-0200-D941-591A-9EC7C95A4042}"/>
                  </a:ext>
                </a:extLst>
              </p:cNvPr>
              <p:cNvSpPr txBox="1"/>
              <p:nvPr/>
            </p:nvSpPr>
            <p:spPr>
              <a:xfrm>
                <a:off x="7439927" y="6504017"/>
                <a:ext cx="400173" cy="369332"/>
              </a:xfrm>
              <a:prstGeom prst="rect">
                <a:avLst/>
              </a:prstGeom>
              <a:solidFill>
                <a:schemeClr val="bg1"/>
              </a:solid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1</m:t>
                          </m:r>
                        </m:sub>
                      </m:sSub>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14" name="テキスト ボックス 13">
                <a:extLst>
                  <a:ext uri="{FF2B5EF4-FFF2-40B4-BE49-F238E27FC236}">
                    <a16:creationId xmlns:a16="http://schemas.microsoft.com/office/drawing/2014/main" id="{F4F4D29E-0200-D941-591A-9EC7C95A4042}"/>
                  </a:ext>
                </a:extLst>
              </p:cNvPr>
              <p:cNvSpPr txBox="1">
                <a:spLocks noRot="1" noChangeAspect="1" noMove="1" noResize="1" noEditPoints="1" noAdjustHandles="1" noChangeArrowheads="1" noChangeShapeType="1" noTextEdit="1"/>
              </p:cNvSpPr>
              <p:nvPr/>
            </p:nvSpPr>
            <p:spPr>
              <a:xfrm>
                <a:off x="7439927" y="6504017"/>
                <a:ext cx="400173" cy="369332"/>
              </a:xfrm>
              <a:prstGeom prst="rect">
                <a:avLst/>
              </a:prstGeom>
              <a:blipFill>
                <a:blip r:embed="rId4"/>
                <a:stretch>
                  <a:fillRect l="-4545" r="-3030" b="-819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91371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43640BE-330B-45CB-B729-639A43439E65}"/>
              </a:ext>
            </a:extLst>
          </p:cNvPr>
          <p:cNvSpPr txBox="1"/>
          <p:nvPr/>
        </p:nvSpPr>
        <p:spPr>
          <a:xfrm>
            <a:off x="736285" y="2505997"/>
            <a:ext cx="10225876" cy="954107"/>
          </a:xfrm>
          <a:prstGeom prst="rect">
            <a:avLst/>
          </a:prstGeom>
          <a:noFill/>
        </p:spPr>
        <p:txBody>
          <a:bodyPr wrap="none" rtlCol="0">
            <a:spAutoFit/>
          </a:bodyPr>
          <a:lstStyle/>
          <a:p>
            <a:pPr marL="342900" indent="-342900">
              <a:buFont typeface="Wingdings" panose="05000000000000000000" pitchFamily="2" charset="2"/>
              <a:buChar char="l"/>
            </a:pPr>
            <a:r>
              <a:rPr kumimoji="1" lang="ja-JP" altLang="en-US" sz="2800" dirty="0">
                <a:latin typeface="メイリオ" panose="020B0604030504040204" pitchFamily="50" charset="-128"/>
                <a:ea typeface="メイリオ" panose="020B0604030504040204" pitchFamily="50" charset="-128"/>
              </a:rPr>
              <a:t>教師あり機械学習にはハイパーパラメータがあることが多い</a:t>
            </a:r>
            <a:endParaRPr kumimoji="1" lang="en-US" altLang="ja-JP" sz="28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kumimoji="1" lang="ja-JP" altLang="en-US" sz="2800" dirty="0">
                <a:latin typeface="メイリオ" panose="020B0604030504040204" pitchFamily="50" charset="-128"/>
                <a:ea typeface="メイリオ" panose="020B0604030504040204" pitchFamily="50" charset="-128"/>
              </a:rPr>
              <a:t>ハイパーパラメータをいじると分類結果が変わることがある</a:t>
            </a:r>
          </a:p>
        </p:txBody>
      </p:sp>
      <p:sp>
        <p:nvSpPr>
          <p:cNvPr id="3" name="テキスト ボックス 2">
            <a:extLst>
              <a:ext uri="{FF2B5EF4-FFF2-40B4-BE49-F238E27FC236}">
                <a16:creationId xmlns:a16="http://schemas.microsoft.com/office/drawing/2014/main" id="{ED396D39-2727-483B-9611-D160FFECBD86}"/>
              </a:ext>
            </a:extLst>
          </p:cNvPr>
          <p:cNvSpPr txBox="1"/>
          <p:nvPr/>
        </p:nvSpPr>
        <p:spPr>
          <a:xfrm>
            <a:off x="2546791" y="4704081"/>
            <a:ext cx="7098418" cy="461665"/>
          </a:xfrm>
          <a:prstGeom prst="rect">
            <a:avLst/>
          </a:prstGeom>
          <a:noFill/>
        </p:spPr>
        <p:txBody>
          <a:bodyPr wrap="none" rtlCol="0">
            <a:spAutoFit/>
          </a:bodyPr>
          <a:lstStyle/>
          <a:p>
            <a:pPr algn="l"/>
            <a:r>
              <a:rPr kumimoji="1" lang="ja-JP" altLang="en-US" sz="2400" b="1" dirty="0">
                <a:latin typeface="メイリオ" panose="020B0604030504040204" pitchFamily="50" charset="-128"/>
                <a:ea typeface="メイリオ" panose="020B0604030504040204" pitchFamily="50" charset="-128"/>
              </a:rPr>
              <a:t>もし　</a:t>
            </a:r>
            <a:r>
              <a:rPr kumimoji="1" lang="en-US" altLang="ja-JP" sz="2400" b="1" dirty="0">
                <a:latin typeface="メイリオ" panose="020B0604030504040204" pitchFamily="50" charset="-128"/>
                <a:ea typeface="メイリオ" panose="020B0604030504040204" pitchFamily="50" charset="-128"/>
              </a:rPr>
              <a:t>K=</a:t>
            </a:r>
            <a:r>
              <a:rPr kumimoji="1" lang="ja-JP" altLang="en-US" sz="2400" b="1" dirty="0">
                <a:latin typeface="メイリオ" panose="020B0604030504040204" pitchFamily="50" charset="-128"/>
                <a:ea typeface="メイリオ" panose="020B0604030504040204" pitchFamily="50" charset="-128"/>
              </a:rPr>
              <a:t>訓練データの総数　だとどうなるか？　</a:t>
            </a:r>
          </a:p>
        </p:txBody>
      </p:sp>
    </p:spTree>
    <p:extLst>
      <p:ext uri="{BB962C8B-B14F-4D97-AF65-F5344CB8AC3E}">
        <p14:creationId xmlns:p14="http://schemas.microsoft.com/office/powerpoint/2010/main" val="3112075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CBA1E1F-2AD3-DC03-B209-FC6CDF72465C}"/>
              </a:ext>
            </a:extLst>
          </p:cNvPr>
          <p:cNvSpPr txBox="1"/>
          <p:nvPr/>
        </p:nvSpPr>
        <p:spPr>
          <a:xfrm>
            <a:off x="971550" y="390346"/>
            <a:ext cx="1005403"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演習</a:t>
            </a:r>
          </a:p>
        </p:txBody>
      </p:sp>
      <p:sp>
        <p:nvSpPr>
          <p:cNvPr id="9" name="テキスト ボックス 8">
            <a:extLst>
              <a:ext uri="{FF2B5EF4-FFF2-40B4-BE49-F238E27FC236}">
                <a16:creationId xmlns:a16="http://schemas.microsoft.com/office/drawing/2014/main" id="{A2B45022-CE2C-427F-3B00-5E988AD2469D}"/>
              </a:ext>
            </a:extLst>
          </p:cNvPr>
          <p:cNvSpPr txBox="1"/>
          <p:nvPr/>
        </p:nvSpPr>
        <p:spPr>
          <a:xfrm>
            <a:off x="7325231" y="4841942"/>
            <a:ext cx="492443" cy="461665"/>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卵</a:t>
            </a:r>
          </a:p>
        </p:txBody>
      </p:sp>
      <p:sp>
        <p:nvSpPr>
          <p:cNvPr id="38" name="テキスト ボックス 37">
            <a:extLst>
              <a:ext uri="{FF2B5EF4-FFF2-40B4-BE49-F238E27FC236}">
                <a16:creationId xmlns:a16="http://schemas.microsoft.com/office/drawing/2014/main" id="{E8B84147-C7AA-8E6D-2BDF-939E20A632C1}"/>
              </a:ext>
            </a:extLst>
          </p:cNvPr>
          <p:cNvSpPr txBox="1"/>
          <p:nvPr/>
        </p:nvSpPr>
        <p:spPr>
          <a:xfrm rot="3925103">
            <a:off x="8024248" y="4451148"/>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9" name="テキスト ボックス 38">
            <a:extLst>
              <a:ext uri="{FF2B5EF4-FFF2-40B4-BE49-F238E27FC236}">
                <a16:creationId xmlns:a16="http://schemas.microsoft.com/office/drawing/2014/main" id="{F4569D83-6EC0-864C-FEAE-24435A795314}"/>
              </a:ext>
            </a:extLst>
          </p:cNvPr>
          <p:cNvSpPr txBox="1"/>
          <p:nvPr/>
        </p:nvSpPr>
        <p:spPr>
          <a:xfrm rot="3925103">
            <a:off x="8025949" y="413789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40" name="テキスト ボックス 39">
            <a:extLst>
              <a:ext uri="{FF2B5EF4-FFF2-40B4-BE49-F238E27FC236}">
                <a16:creationId xmlns:a16="http://schemas.microsoft.com/office/drawing/2014/main" id="{55592943-C50F-8A29-252C-2D9871737FFF}"/>
              </a:ext>
            </a:extLst>
          </p:cNvPr>
          <p:cNvSpPr txBox="1"/>
          <p:nvPr/>
        </p:nvSpPr>
        <p:spPr>
          <a:xfrm>
            <a:off x="9122658" y="3666746"/>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プリン</a:t>
            </a:r>
          </a:p>
        </p:txBody>
      </p:sp>
      <p:sp>
        <p:nvSpPr>
          <p:cNvPr id="41" name="テキスト ボックス 40">
            <a:extLst>
              <a:ext uri="{FF2B5EF4-FFF2-40B4-BE49-F238E27FC236}">
                <a16:creationId xmlns:a16="http://schemas.microsoft.com/office/drawing/2014/main" id="{3A16C3B0-297D-C929-29C6-A772086263F4}"/>
              </a:ext>
            </a:extLst>
          </p:cNvPr>
          <p:cNvSpPr txBox="1"/>
          <p:nvPr/>
        </p:nvSpPr>
        <p:spPr>
          <a:xfrm>
            <a:off x="9168370" y="3949488"/>
            <a:ext cx="233910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シュークリーム</a:t>
            </a:r>
          </a:p>
        </p:txBody>
      </p:sp>
      <p:pic>
        <p:nvPicPr>
          <p:cNvPr id="43" name="図 42">
            <a:extLst>
              <a:ext uri="{FF2B5EF4-FFF2-40B4-BE49-F238E27FC236}">
                <a16:creationId xmlns:a16="http://schemas.microsoft.com/office/drawing/2014/main" id="{7BEF9650-30F2-C1CF-FF00-9D81FEB33F46}"/>
              </a:ext>
            </a:extLst>
          </p:cNvPr>
          <p:cNvPicPr>
            <a:picLocks noChangeAspect="1"/>
          </p:cNvPicPr>
          <p:nvPr/>
        </p:nvPicPr>
        <p:blipFill>
          <a:blip r:embed="rId2"/>
          <a:stretch>
            <a:fillRect/>
          </a:stretch>
        </p:blipFill>
        <p:spPr>
          <a:xfrm>
            <a:off x="2892717" y="1724730"/>
            <a:ext cx="4921916" cy="3095118"/>
          </a:xfrm>
          <a:prstGeom prst="rect">
            <a:avLst/>
          </a:prstGeom>
        </p:spPr>
      </p:pic>
      <p:sp>
        <p:nvSpPr>
          <p:cNvPr id="45" name="テキスト ボックス 44">
            <a:extLst>
              <a:ext uri="{FF2B5EF4-FFF2-40B4-BE49-F238E27FC236}">
                <a16:creationId xmlns:a16="http://schemas.microsoft.com/office/drawing/2014/main" id="{B5BD72FA-FE01-F365-9B7C-9F70E88FF4EE}"/>
              </a:ext>
            </a:extLst>
          </p:cNvPr>
          <p:cNvSpPr txBox="1"/>
          <p:nvPr/>
        </p:nvSpPr>
        <p:spPr>
          <a:xfrm>
            <a:off x="3706164" y="3424783"/>
            <a:ext cx="49244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a:t>
            </a:r>
          </a:p>
        </p:txBody>
      </p:sp>
      <p:sp>
        <p:nvSpPr>
          <p:cNvPr id="46" name="テキスト ボックス 45">
            <a:extLst>
              <a:ext uri="{FF2B5EF4-FFF2-40B4-BE49-F238E27FC236}">
                <a16:creationId xmlns:a16="http://schemas.microsoft.com/office/drawing/2014/main" id="{F18FA865-C562-0396-66DF-BDECF947EDC1}"/>
              </a:ext>
            </a:extLst>
          </p:cNvPr>
          <p:cNvSpPr txBox="1"/>
          <p:nvPr/>
        </p:nvSpPr>
        <p:spPr>
          <a:xfrm>
            <a:off x="3812198" y="4021363"/>
            <a:ext cx="542925" cy="461665"/>
          </a:xfrm>
          <a:prstGeom prst="rect">
            <a:avLst/>
          </a:prstGeom>
          <a:noFill/>
        </p:spPr>
        <p:txBody>
          <a:bodyPr wrap="square" rtlCol="0">
            <a:spAutoFit/>
          </a:bodyPr>
          <a:lstStyle/>
          <a:p>
            <a:pPr algn="l"/>
            <a:r>
              <a:rPr kumimoji="1" lang="ja-JP" altLang="en-US" sz="2400" dirty="0">
                <a:solidFill>
                  <a:srgbClr val="FF0000"/>
                </a:solidFill>
                <a:latin typeface="メイリオ" panose="020B0604030504040204" pitchFamily="50" charset="-128"/>
                <a:ea typeface="メイリオ" panose="020B0604030504040204" pitchFamily="50" charset="-128"/>
              </a:rPr>
              <a:t>●</a:t>
            </a:r>
          </a:p>
        </p:txBody>
      </p:sp>
      <p:sp>
        <p:nvSpPr>
          <p:cNvPr id="49" name="テキスト ボックス 48">
            <a:extLst>
              <a:ext uri="{FF2B5EF4-FFF2-40B4-BE49-F238E27FC236}">
                <a16:creationId xmlns:a16="http://schemas.microsoft.com/office/drawing/2014/main" id="{E89D29CC-0AF9-C23E-A215-F036FF26A939}"/>
              </a:ext>
            </a:extLst>
          </p:cNvPr>
          <p:cNvSpPr txBox="1"/>
          <p:nvPr/>
        </p:nvSpPr>
        <p:spPr>
          <a:xfrm>
            <a:off x="4109032" y="3574224"/>
            <a:ext cx="542925" cy="461665"/>
          </a:xfrm>
          <a:prstGeom prst="rect">
            <a:avLst/>
          </a:prstGeom>
          <a:noFill/>
        </p:spPr>
        <p:txBody>
          <a:bodyPr wrap="square" rtlCol="0">
            <a:spAutoFit/>
          </a:bodyPr>
          <a:lstStyle/>
          <a:p>
            <a:pPr algn="l"/>
            <a:r>
              <a:rPr kumimoji="1" lang="ja-JP" altLang="en-US" sz="2400" dirty="0">
                <a:solidFill>
                  <a:srgbClr val="FF0000"/>
                </a:solidFill>
                <a:latin typeface="メイリオ" panose="020B0604030504040204" pitchFamily="50" charset="-128"/>
                <a:ea typeface="メイリオ" panose="020B0604030504040204" pitchFamily="50" charset="-128"/>
              </a:rPr>
              <a:t>●</a:t>
            </a:r>
          </a:p>
        </p:txBody>
      </p:sp>
      <p:cxnSp>
        <p:nvCxnSpPr>
          <p:cNvPr id="8" name="直線矢印コネクタ 7">
            <a:extLst>
              <a:ext uri="{FF2B5EF4-FFF2-40B4-BE49-F238E27FC236}">
                <a16:creationId xmlns:a16="http://schemas.microsoft.com/office/drawing/2014/main" id="{C49CBB6C-25E6-4439-F57F-58435B9B682E}"/>
              </a:ext>
            </a:extLst>
          </p:cNvPr>
          <p:cNvCxnSpPr>
            <a:cxnSpLocks/>
          </p:cNvCxnSpPr>
          <p:nvPr/>
        </p:nvCxnSpPr>
        <p:spPr>
          <a:xfrm>
            <a:off x="2892717" y="4752858"/>
            <a:ext cx="4789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179E2D1B-DB85-FD62-55FC-A8ADC7EB4C01}"/>
              </a:ext>
            </a:extLst>
          </p:cNvPr>
          <p:cNvCxnSpPr>
            <a:cxnSpLocks/>
          </p:cNvCxnSpPr>
          <p:nvPr/>
        </p:nvCxnSpPr>
        <p:spPr>
          <a:xfrm flipV="1">
            <a:off x="2897908" y="2164301"/>
            <a:ext cx="0" cy="25955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CE004E88-8442-54CD-4DDD-7AA5C31ED37E}"/>
              </a:ext>
            </a:extLst>
          </p:cNvPr>
          <p:cNvSpPr txBox="1"/>
          <p:nvPr/>
        </p:nvSpPr>
        <p:spPr>
          <a:xfrm>
            <a:off x="2314884" y="1702636"/>
            <a:ext cx="800219" cy="461665"/>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牛乳</a:t>
            </a:r>
          </a:p>
        </p:txBody>
      </p:sp>
      <p:sp>
        <p:nvSpPr>
          <p:cNvPr id="51" name="テキスト ボックス 50">
            <a:extLst>
              <a:ext uri="{FF2B5EF4-FFF2-40B4-BE49-F238E27FC236}">
                <a16:creationId xmlns:a16="http://schemas.microsoft.com/office/drawing/2014/main" id="{9B8CA908-D437-5CC2-A329-826B7F2EED3C}"/>
              </a:ext>
            </a:extLst>
          </p:cNvPr>
          <p:cNvSpPr txBox="1"/>
          <p:nvPr/>
        </p:nvSpPr>
        <p:spPr>
          <a:xfrm>
            <a:off x="3003001" y="635764"/>
            <a:ext cx="572464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★は以下の場合どちらに識別されるか？</a:t>
            </a:r>
          </a:p>
        </p:txBody>
      </p:sp>
      <p:sp>
        <p:nvSpPr>
          <p:cNvPr id="52" name="テキスト ボックス 51">
            <a:extLst>
              <a:ext uri="{FF2B5EF4-FFF2-40B4-BE49-F238E27FC236}">
                <a16:creationId xmlns:a16="http://schemas.microsoft.com/office/drawing/2014/main" id="{642C9242-2088-6457-B2D0-45BA00AF6907}"/>
              </a:ext>
            </a:extLst>
          </p:cNvPr>
          <p:cNvSpPr txBox="1"/>
          <p:nvPr/>
        </p:nvSpPr>
        <p:spPr>
          <a:xfrm>
            <a:off x="3459377" y="1097429"/>
            <a:ext cx="825867" cy="830997"/>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K=2</a:t>
            </a:r>
          </a:p>
          <a:p>
            <a:pPr algn="l"/>
            <a:r>
              <a:rPr kumimoji="1" lang="en-US" altLang="ja-JP" sz="2400" dirty="0">
                <a:latin typeface="メイリオ" panose="020B0604030504040204" pitchFamily="50" charset="-128"/>
                <a:ea typeface="メイリオ" panose="020B0604030504040204" pitchFamily="50" charset="-128"/>
              </a:rPr>
              <a:t>K=5</a:t>
            </a:r>
            <a:endParaRPr kumimoji="1" lang="ja-JP" altLang="en-US" sz="240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01CE905B-7423-AC53-1F62-1805BDA380CD}"/>
              </a:ext>
            </a:extLst>
          </p:cNvPr>
          <p:cNvSpPr txBox="1"/>
          <p:nvPr/>
        </p:nvSpPr>
        <p:spPr>
          <a:xfrm>
            <a:off x="1905000" y="5735942"/>
            <a:ext cx="8913017"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次元平面→</a:t>
            </a:r>
            <a:r>
              <a:rPr kumimoji="1" lang="en-US" altLang="ja-JP" sz="2400" dirty="0">
                <a:latin typeface="メイリオ" panose="020B0604030504040204" pitchFamily="50" charset="-128"/>
                <a:ea typeface="メイリオ" panose="020B0604030504040204" pitchFamily="50" charset="-128"/>
              </a:rPr>
              <a:t>N</a:t>
            </a:r>
            <a:r>
              <a:rPr kumimoji="1" lang="ja-JP" altLang="en-US" sz="2400" dirty="0">
                <a:latin typeface="メイリオ" panose="020B0604030504040204" pitchFamily="50" charset="-128"/>
                <a:ea typeface="メイリオ" panose="020B0604030504040204" pitchFamily="50" charset="-128"/>
              </a:rPr>
              <a:t>次元空間でも同じルールで識別できることに注意</a:t>
            </a:r>
          </a:p>
        </p:txBody>
      </p:sp>
    </p:spTree>
    <p:extLst>
      <p:ext uri="{BB962C8B-B14F-4D97-AF65-F5344CB8AC3E}">
        <p14:creationId xmlns:p14="http://schemas.microsoft.com/office/powerpoint/2010/main" val="2952893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FED0350-477E-A360-866B-9DF9082A23C8}"/>
              </a:ext>
            </a:extLst>
          </p:cNvPr>
          <p:cNvSpPr txBox="1"/>
          <p:nvPr/>
        </p:nvSpPr>
        <p:spPr>
          <a:xfrm>
            <a:off x="220092" y="285376"/>
            <a:ext cx="9272090"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ところで</a:t>
            </a:r>
            <a:r>
              <a:rPr kumimoji="1" lang="en-US" altLang="ja-JP" sz="3200" dirty="0">
                <a:latin typeface="メイリオ" panose="020B0604030504040204" pitchFamily="50" charset="-128"/>
                <a:ea typeface="メイリオ" panose="020B0604030504040204" pitchFamily="50" charset="-128"/>
              </a:rPr>
              <a:t>KNN</a:t>
            </a:r>
            <a:r>
              <a:rPr kumimoji="1" lang="ja-JP" altLang="en-US" sz="3200" dirty="0">
                <a:latin typeface="メイリオ" panose="020B0604030504040204" pitchFamily="50" charset="-128"/>
                <a:ea typeface="メイリオ" panose="020B0604030504040204" pitchFamily="50" charset="-128"/>
              </a:rPr>
              <a:t>で近い・遠いはどう計算しているか</a:t>
            </a:r>
          </a:p>
        </p:txBody>
      </p:sp>
      <p:pic>
        <p:nvPicPr>
          <p:cNvPr id="3" name="Picture 2" descr="スクリーンショット 2016-05-04 3.33.02.png">
            <a:extLst>
              <a:ext uri="{FF2B5EF4-FFF2-40B4-BE49-F238E27FC236}">
                <a16:creationId xmlns:a16="http://schemas.microsoft.com/office/drawing/2014/main" id="{5DB538DB-F9C1-968A-342E-53C07928B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0555" y="921037"/>
            <a:ext cx="4497070" cy="3310657"/>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DAC0952F-4CE4-7634-6FAC-BB9C08EE2075}"/>
              </a:ext>
            </a:extLst>
          </p:cNvPr>
          <p:cNvSpPr txBox="1"/>
          <p:nvPr/>
        </p:nvSpPr>
        <p:spPr>
          <a:xfrm>
            <a:off x="3793850" y="3134054"/>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
        <p:nvSpPr>
          <p:cNvPr id="5" name="テキスト ボックス 4">
            <a:extLst>
              <a:ext uri="{FF2B5EF4-FFF2-40B4-BE49-F238E27FC236}">
                <a16:creationId xmlns:a16="http://schemas.microsoft.com/office/drawing/2014/main" id="{4F4BF001-EA96-AAD5-B27C-ED05063190DB}"/>
              </a:ext>
            </a:extLst>
          </p:cNvPr>
          <p:cNvSpPr txBox="1"/>
          <p:nvPr/>
        </p:nvSpPr>
        <p:spPr>
          <a:xfrm>
            <a:off x="4363694" y="975613"/>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cxnSp>
        <p:nvCxnSpPr>
          <p:cNvPr id="7" name="直線矢印コネクタ 6">
            <a:extLst>
              <a:ext uri="{FF2B5EF4-FFF2-40B4-BE49-F238E27FC236}">
                <a16:creationId xmlns:a16="http://schemas.microsoft.com/office/drawing/2014/main" id="{FD289EFC-1192-A1D1-766C-5D5F2292FC37}"/>
              </a:ext>
            </a:extLst>
          </p:cNvPr>
          <p:cNvCxnSpPr/>
          <p:nvPr/>
        </p:nvCxnSpPr>
        <p:spPr>
          <a:xfrm>
            <a:off x="5038725" y="2372895"/>
            <a:ext cx="228600" cy="1428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A8FD75EC-F96A-492B-CBA2-678A779EAD4C}"/>
              </a:ext>
            </a:extLst>
          </p:cNvPr>
          <p:cNvCxnSpPr>
            <a:cxnSpLocks/>
          </p:cNvCxnSpPr>
          <p:nvPr/>
        </p:nvCxnSpPr>
        <p:spPr>
          <a:xfrm flipH="1">
            <a:off x="5457825" y="2372895"/>
            <a:ext cx="314325" cy="1428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36A658ED-345D-CAB2-1B39-4ECE06ECC9E7}"/>
              </a:ext>
            </a:extLst>
          </p:cNvPr>
          <p:cNvCxnSpPr>
            <a:cxnSpLocks/>
          </p:cNvCxnSpPr>
          <p:nvPr/>
        </p:nvCxnSpPr>
        <p:spPr>
          <a:xfrm>
            <a:off x="5267325" y="1820445"/>
            <a:ext cx="76200" cy="6286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75DC36A5-EBD2-04A2-4DCF-51100D764273}"/>
              </a:ext>
            </a:extLst>
          </p:cNvPr>
          <p:cNvSpPr txBox="1"/>
          <p:nvPr/>
        </p:nvSpPr>
        <p:spPr>
          <a:xfrm>
            <a:off x="114300" y="4390850"/>
            <a:ext cx="10887075" cy="461665"/>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一般的にはユークリッド距離（ほかにもいろいろな距離概念</a:t>
            </a:r>
            <a:r>
              <a:rPr kumimoji="1" lang="ja-JP" altLang="en-US" sz="2400">
                <a:latin typeface="メイリオ" panose="020B0604030504040204" pitchFamily="50" charset="-128"/>
                <a:ea typeface="メイリオ" panose="020B0604030504040204" pitchFamily="50" charset="-128"/>
              </a:rPr>
              <a:t>がある）</a:t>
            </a:r>
            <a:endParaRPr kumimoji="1" lang="ja-JP" altLang="en-US" sz="24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138FF89C-6CF0-159C-281B-802CD833F666}"/>
                  </a:ext>
                </a:extLst>
              </p:cNvPr>
              <p:cNvSpPr txBox="1"/>
              <p:nvPr/>
            </p:nvSpPr>
            <p:spPr>
              <a:xfrm>
                <a:off x="527762" y="5230967"/>
                <a:ext cx="2213491" cy="464166"/>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a:t>
                </a:r>
                <a14:m>
                  <m:oMath xmlns:m="http://schemas.openxmlformats.org/officeDocument/2006/math">
                    <m:r>
                      <a:rPr kumimoji="1" lang="en-US" altLang="ja-JP" sz="2400" b="0" i="1" smtClean="0">
                        <a:latin typeface="Cambria Math" panose="02040503050406030204" pitchFamily="18" charset="0"/>
                        <a:ea typeface="メイリオ" panose="020B0604030504040204" pitchFamily="50" charset="-128"/>
                      </a:rPr>
                      <m:t>(</m:t>
                    </m:r>
                    <m:sSubSup>
                      <m:sSubSupPr>
                        <m:ctrlPr>
                          <a:rPr kumimoji="1" lang="en-US" altLang="ja-JP" sz="2400" b="0" i="1" smtClean="0">
                            <a:latin typeface="Cambria Math" panose="02040503050406030204" pitchFamily="18" charset="0"/>
                            <a:ea typeface="メイリオ" panose="020B0604030504040204" pitchFamily="50" charset="-128"/>
                          </a:rPr>
                        </m:ctrlPr>
                      </m:sSubSup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2</m:t>
                        </m:r>
                      </m:sub>
                      <m:sup>
                        <m:r>
                          <a:rPr kumimoji="1" lang="en-US" altLang="ja-JP" sz="2400" b="0" i="1" smtClean="0">
                            <a:latin typeface="Cambria Math" panose="02040503050406030204" pitchFamily="18" charset="0"/>
                            <a:ea typeface="メイリオ" panose="020B0604030504040204" pitchFamily="50" charset="-128"/>
                          </a:rPr>
                          <m:t>𝑠𝑡𝑎𝑟</m:t>
                        </m:r>
                      </m:sup>
                    </m:sSubSup>
                    <m:r>
                      <a:rPr kumimoji="1" lang="en-US" altLang="ja-JP" sz="2400" b="0" i="1" smtClean="0">
                        <a:latin typeface="Cambria Math" panose="02040503050406030204" pitchFamily="18" charset="0"/>
                        <a:ea typeface="メイリオ" panose="020B0604030504040204" pitchFamily="50" charset="-128"/>
                      </a:rPr>
                      <m:t>,</m:t>
                    </m:r>
                    <m:sSubSup>
                      <m:sSubSupPr>
                        <m:ctrlPr>
                          <a:rPr kumimoji="1" lang="en-US" altLang="ja-JP" sz="2400" b="0" i="1" smtClean="0">
                            <a:latin typeface="Cambria Math" panose="02040503050406030204" pitchFamily="18" charset="0"/>
                            <a:ea typeface="メイリオ" panose="020B0604030504040204" pitchFamily="50" charset="-128"/>
                          </a:rPr>
                        </m:ctrlPr>
                      </m:sSubSup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1</m:t>
                        </m:r>
                      </m:sub>
                      <m:sup>
                        <m:r>
                          <a:rPr kumimoji="1" lang="en-US" altLang="ja-JP" sz="2400" b="0" i="1" smtClean="0">
                            <a:latin typeface="Cambria Math" panose="02040503050406030204" pitchFamily="18" charset="0"/>
                            <a:ea typeface="メイリオ" panose="020B0604030504040204" pitchFamily="50" charset="-128"/>
                          </a:rPr>
                          <m:t>𝑠𝑡𝑎𝑟</m:t>
                        </m:r>
                      </m:sup>
                    </m:sSubSup>
                    <m:r>
                      <a:rPr kumimoji="1" lang="en-US" altLang="ja-JP" sz="2400" b="0" i="1" smtClean="0">
                        <a:latin typeface="Cambria Math" panose="02040503050406030204" pitchFamily="18" charset="0"/>
                        <a:ea typeface="メイリオ" panose="020B0604030504040204" pitchFamily="50" charset="-128"/>
                      </a:rPr>
                      <m:t>)</m:t>
                    </m:r>
                  </m:oMath>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15" name="テキスト ボックス 14">
                <a:extLst>
                  <a:ext uri="{FF2B5EF4-FFF2-40B4-BE49-F238E27FC236}">
                    <a16:creationId xmlns:a16="http://schemas.microsoft.com/office/drawing/2014/main" id="{138FF89C-6CF0-159C-281B-802CD833F666}"/>
                  </a:ext>
                </a:extLst>
              </p:cNvPr>
              <p:cNvSpPr txBox="1">
                <a:spLocks noRot="1" noChangeAspect="1" noMove="1" noResize="1" noEditPoints="1" noAdjustHandles="1" noChangeArrowheads="1" noChangeShapeType="1" noTextEdit="1"/>
              </p:cNvSpPr>
              <p:nvPr/>
            </p:nvSpPr>
            <p:spPr>
              <a:xfrm>
                <a:off x="527762" y="5230967"/>
                <a:ext cx="2213491" cy="464166"/>
              </a:xfrm>
              <a:prstGeom prst="rect">
                <a:avLst/>
              </a:prstGeom>
              <a:blipFill>
                <a:blip r:embed="rId3"/>
                <a:stretch>
                  <a:fillRect l="-4408" t="-7895" r="-1653" b="-3157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5A8243A0-D740-47AF-2E15-A1849DFE3F62}"/>
                  </a:ext>
                </a:extLst>
              </p:cNvPr>
              <p:cNvSpPr txBox="1"/>
              <p:nvPr/>
            </p:nvSpPr>
            <p:spPr>
              <a:xfrm>
                <a:off x="2741253" y="5230967"/>
                <a:ext cx="1769587" cy="481670"/>
              </a:xfrm>
              <a:prstGeom prst="rect">
                <a:avLst/>
              </a:prstGeom>
              <a:noFill/>
            </p:spPr>
            <p:txBody>
              <a:bodyPr wrap="none" rtlCol="0">
                <a:spAutoFit/>
              </a:bodyPr>
              <a:lstStyle/>
              <a:p>
                <a:pPr algn="l"/>
                <a:r>
                  <a:rPr kumimoji="1" lang="ja-JP" altLang="en-US" sz="2400" dirty="0">
                    <a:solidFill>
                      <a:srgbClr val="BD038C"/>
                    </a:solidFill>
                    <a:latin typeface="メイリオ" panose="020B0604030504040204" pitchFamily="50" charset="-128"/>
                    <a:ea typeface="メイリオ" panose="020B0604030504040204" pitchFamily="50" charset="-128"/>
                  </a:rPr>
                  <a:t>●</a:t>
                </a:r>
                <a:r>
                  <a:rPr kumimoji="1" lang="ja-JP" altLang="en-US" sz="2400" dirty="0">
                    <a:solidFill>
                      <a:srgbClr val="FFC000"/>
                    </a:solidFill>
                    <a:latin typeface="メイリオ" panose="020B0604030504040204" pitchFamily="50" charset="-128"/>
                    <a:ea typeface="メイリオ" panose="020B0604030504040204" pitchFamily="50" charset="-128"/>
                  </a:rPr>
                  <a:t>●</a:t>
                </a:r>
                <a14:m>
                  <m:oMath xmlns:m="http://schemas.openxmlformats.org/officeDocument/2006/math">
                    <m:r>
                      <a:rPr kumimoji="1" lang="en-US" altLang="ja-JP" sz="2400" b="0" i="1" smtClean="0">
                        <a:latin typeface="Cambria Math" panose="02040503050406030204" pitchFamily="18" charset="0"/>
                        <a:ea typeface="メイリオ" panose="020B0604030504040204" pitchFamily="50" charset="-128"/>
                      </a:rPr>
                      <m:t>(</m:t>
                    </m:r>
                    <m:sSubSup>
                      <m:sSubSupPr>
                        <m:ctrlPr>
                          <a:rPr kumimoji="1" lang="en-US" altLang="ja-JP" sz="2400" b="0" i="1" smtClean="0">
                            <a:latin typeface="Cambria Math" panose="02040503050406030204" pitchFamily="18" charset="0"/>
                            <a:ea typeface="メイリオ" panose="020B0604030504040204" pitchFamily="50" charset="-128"/>
                          </a:rPr>
                        </m:ctrlPr>
                      </m:sSubSup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2</m:t>
                        </m:r>
                      </m:sub>
                      <m:sup>
                        <m:r>
                          <a:rPr kumimoji="1" lang="en-US" altLang="ja-JP" sz="2400" b="0" i="1" smtClean="0">
                            <a:latin typeface="Cambria Math" panose="02040503050406030204" pitchFamily="18" charset="0"/>
                            <a:ea typeface="メイリオ" panose="020B0604030504040204" pitchFamily="50" charset="-128"/>
                          </a:rPr>
                          <m:t>𝑖</m:t>
                        </m:r>
                      </m:sup>
                    </m:sSubSup>
                    <m:r>
                      <a:rPr kumimoji="1" lang="en-US" altLang="ja-JP" sz="2400" b="0" i="1" smtClean="0">
                        <a:latin typeface="Cambria Math" panose="02040503050406030204" pitchFamily="18" charset="0"/>
                        <a:ea typeface="メイリオ" panose="020B0604030504040204" pitchFamily="50" charset="-128"/>
                      </a:rPr>
                      <m:t>,</m:t>
                    </m:r>
                    <m:sSubSup>
                      <m:sSubSupPr>
                        <m:ctrlPr>
                          <a:rPr kumimoji="1" lang="en-US" altLang="ja-JP" sz="2400" b="0" i="1" smtClean="0">
                            <a:latin typeface="Cambria Math" panose="02040503050406030204" pitchFamily="18" charset="0"/>
                            <a:ea typeface="メイリオ" panose="020B0604030504040204" pitchFamily="50" charset="-128"/>
                          </a:rPr>
                        </m:ctrlPr>
                      </m:sSubSup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1</m:t>
                        </m:r>
                      </m:sub>
                      <m:sup>
                        <m:r>
                          <a:rPr kumimoji="1" lang="en-US" altLang="ja-JP" sz="2400" b="0" i="1" smtClean="0">
                            <a:latin typeface="Cambria Math" panose="02040503050406030204" pitchFamily="18" charset="0"/>
                            <a:ea typeface="メイリオ" panose="020B0604030504040204" pitchFamily="50" charset="-128"/>
                          </a:rPr>
                          <m:t>𝑖</m:t>
                        </m:r>
                      </m:sup>
                    </m:sSubSup>
                    <m:r>
                      <a:rPr kumimoji="1" lang="en-US" altLang="ja-JP" sz="2400" b="0" i="1" smtClean="0">
                        <a:latin typeface="Cambria Math" panose="02040503050406030204" pitchFamily="18" charset="0"/>
                        <a:ea typeface="メイリオ" panose="020B0604030504040204" pitchFamily="50" charset="-128"/>
                      </a:rPr>
                      <m:t>)</m:t>
                    </m:r>
                  </m:oMath>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16" name="テキスト ボックス 15">
                <a:extLst>
                  <a:ext uri="{FF2B5EF4-FFF2-40B4-BE49-F238E27FC236}">
                    <a16:creationId xmlns:a16="http://schemas.microsoft.com/office/drawing/2014/main" id="{5A8243A0-D740-47AF-2E15-A1849DFE3F62}"/>
                  </a:ext>
                </a:extLst>
              </p:cNvPr>
              <p:cNvSpPr txBox="1">
                <a:spLocks noRot="1" noChangeAspect="1" noMove="1" noResize="1" noEditPoints="1" noAdjustHandles="1" noChangeArrowheads="1" noChangeShapeType="1" noTextEdit="1"/>
              </p:cNvSpPr>
              <p:nvPr/>
            </p:nvSpPr>
            <p:spPr>
              <a:xfrm>
                <a:off x="2741253" y="5230967"/>
                <a:ext cx="1769587" cy="481670"/>
              </a:xfrm>
              <a:prstGeom prst="rect">
                <a:avLst/>
              </a:prstGeom>
              <a:blipFill>
                <a:blip r:embed="rId4"/>
                <a:stretch>
                  <a:fillRect l="-5517" t="-3797" r="-2069" b="-30380"/>
                </a:stretch>
              </a:blipFill>
            </p:spPr>
            <p:txBody>
              <a:bodyPr/>
              <a:lstStyle/>
              <a:p>
                <a:r>
                  <a:rPr lang="ja-JP" altLang="en-US">
                    <a:noFill/>
                  </a:rPr>
                  <a:t> </a:t>
                </a:r>
              </a:p>
            </p:txBody>
          </p:sp>
        </mc:Fallback>
      </mc:AlternateContent>
      <p:cxnSp>
        <p:nvCxnSpPr>
          <p:cNvPr id="17" name="直線矢印コネクタ 16">
            <a:extLst>
              <a:ext uri="{FF2B5EF4-FFF2-40B4-BE49-F238E27FC236}">
                <a16:creationId xmlns:a16="http://schemas.microsoft.com/office/drawing/2014/main" id="{C23E3BF5-DFDC-6B67-77AC-E0F730D7A83C}"/>
              </a:ext>
            </a:extLst>
          </p:cNvPr>
          <p:cNvCxnSpPr>
            <a:cxnSpLocks/>
          </p:cNvCxnSpPr>
          <p:nvPr/>
        </p:nvCxnSpPr>
        <p:spPr>
          <a:xfrm>
            <a:off x="4448172" y="5463050"/>
            <a:ext cx="61912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7408152A-E07A-74E0-5A3A-A49BD758D403}"/>
                  </a:ext>
                </a:extLst>
              </p:cNvPr>
              <p:cNvSpPr txBox="1"/>
              <p:nvPr/>
            </p:nvSpPr>
            <p:spPr>
              <a:xfrm>
                <a:off x="5267325" y="4980707"/>
                <a:ext cx="4044505" cy="7515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kumimoji="1" lang="ja-JP" altLang="en-US" sz="2400" i="1" smtClean="0">
                              <a:latin typeface="Cambria Math" panose="02040503050406030204" pitchFamily="18" charset="0"/>
                              <a:ea typeface="メイリオ" panose="020B0604030504040204" pitchFamily="50" charset="-128"/>
                            </a:rPr>
                          </m:ctrlPr>
                        </m:radPr>
                        <m:deg/>
                        <m:e>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b="0" i="1" smtClean="0">
                                  <a:latin typeface="Cambria Math" panose="02040503050406030204" pitchFamily="18" charset="0"/>
                                  <a:ea typeface="メイリオ" panose="020B0604030504040204" pitchFamily="50" charset="-128"/>
                                </a:rPr>
                                <m:t>(</m:t>
                              </m:r>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2</m:t>
                              </m:r>
                            </m:sub>
                            <m:sup>
                              <m:r>
                                <a:rPr kumimoji="1" lang="en-US" altLang="ja-JP" sz="2400" i="1">
                                  <a:latin typeface="Cambria Math" panose="02040503050406030204" pitchFamily="18" charset="0"/>
                                  <a:ea typeface="メイリオ" panose="020B0604030504040204" pitchFamily="50" charset="-128"/>
                                </a:rPr>
                                <m:t>𝑠𝑡𝑎𝑟</m:t>
                              </m:r>
                            </m:sup>
                          </m:sSubSup>
                          <m:r>
                            <a:rPr kumimoji="1" lang="en-US" altLang="ja-JP" sz="2400" b="0" i="1" smtClean="0">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2</m:t>
                              </m:r>
                            </m:sub>
                            <m:sup>
                              <m:r>
                                <a:rPr kumimoji="1" lang="en-US" altLang="ja-JP" sz="2400" i="1">
                                  <a:latin typeface="Cambria Math" panose="02040503050406030204" pitchFamily="18" charset="0"/>
                                  <a:ea typeface="メイリオ" panose="020B0604030504040204" pitchFamily="50" charset="-128"/>
                                </a:rPr>
                                <m:t>𝑖</m:t>
                              </m:r>
                            </m:sup>
                          </m:sSubSup>
                          <m:sSup>
                            <m:sSupPr>
                              <m:ctrlPr>
                                <a:rPr kumimoji="1" lang="en-US" altLang="ja-JP" sz="2400" i="1" smtClean="0">
                                  <a:latin typeface="Cambria Math" panose="02040503050406030204" pitchFamily="18" charset="0"/>
                                  <a:ea typeface="メイリオ" panose="020B0604030504040204" pitchFamily="50" charset="-128"/>
                                </a:rPr>
                              </m:ctrlPr>
                            </m:sSupPr>
                            <m:e>
                              <m:r>
                                <a:rPr kumimoji="1" lang="en-US" altLang="ja-JP" sz="2400" b="0" i="1" smtClean="0">
                                  <a:latin typeface="Cambria Math" panose="02040503050406030204" pitchFamily="18" charset="0"/>
                                  <a:ea typeface="メイリオ" panose="020B0604030504040204" pitchFamily="50" charset="-128"/>
                                </a:rPr>
                                <m:t>)</m:t>
                              </m:r>
                            </m:e>
                            <m:sup>
                              <m:r>
                                <a:rPr kumimoji="1" lang="en-US" altLang="ja-JP" sz="2400" b="0" i="1" smtClean="0">
                                  <a:latin typeface="Cambria Math" panose="02040503050406030204" pitchFamily="18" charset="0"/>
                                  <a:ea typeface="メイリオ" panose="020B0604030504040204" pitchFamily="50" charset="-128"/>
                                </a:rPr>
                                <m:t>2</m:t>
                              </m:r>
                            </m:sup>
                          </m:sSup>
                          <m:r>
                            <a:rPr kumimoji="1" lang="en-US" altLang="ja-JP" sz="2400" b="0" i="1" smtClean="0">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1</m:t>
                              </m:r>
                            </m:sub>
                            <m:sup>
                              <m:r>
                                <a:rPr kumimoji="1" lang="en-US" altLang="ja-JP" sz="2400" i="1">
                                  <a:latin typeface="Cambria Math" panose="02040503050406030204" pitchFamily="18" charset="0"/>
                                  <a:ea typeface="メイリオ" panose="020B0604030504040204" pitchFamily="50" charset="-128"/>
                                </a:rPr>
                                <m:t>𝑠𝑡𝑎𝑟</m:t>
                              </m:r>
                            </m:sup>
                          </m:sSubSup>
                          <m:r>
                            <a:rPr kumimoji="1" lang="en-US" altLang="ja-JP" sz="2400" b="0" i="1" smtClean="0">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1</m:t>
                              </m:r>
                            </m:sub>
                            <m:sup>
                              <m:r>
                                <a:rPr kumimoji="1" lang="en-US" altLang="ja-JP" sz="2400" i="1">
                                  <a:latin typeface="Cambria Math" panose="02040503050406030204" pitchFamily="18" charset="0"/>
                                  <a:ea typeface="メイリオ" panose="020B0604030504040204" pitchFamily="50" charset="-128"/>
                                </a:rPr>
                                <m:t>𝑖</m:t>
                              </m:r>
                            </m:sup>
                          </m:sSubSup>
                          <m:sSup>
                            <m:sSupPr>
                              <m:ctrlPr>
                                <a:rPr kumimoji="1" lang="en-US" altLang="ja-JP" sz="2400" i="1" smtClean="0">
                                  <a:latin typeface="Cambria Math" panose="02040503050406030204" pitchFamily="18" charset="0"/>
                                  <a:ea typeface="メイリオ" panose="020B0604030504040204" pitchFamily="50" charset="-128"/>
                                </a:rPr>
                              </m:ctrlPr>
                            </m:sSupPr>
                            <m:e>
                              <m:r>
                                <a:rPr kumimoji="1" lang="en-US" altLang="ja-JP" sz="2400" b="0" i="1" smtClean="0">
                                  <a:latin typeface="Cambria Math" panose="02040503050406030204" pitchFamily="18" charset="0"/>
                                  <a:ea typeface="メイリオ" panose="020B0604030504040204" pitchFamily="50" charset="-128"/>
                                </a:rPr>
                                <m:t>)</m:t>
                              </m:r>
                            </m:e>
                            <m:sup>
                              <m:r>
                                <a:rPr kumimoji="1" lang="en-US" altLang="ja-JP" sz="2400" b="0" i="1" smtClean="0">
                                  <a:latin typeface="Cambria Math" panose="02040503050406030204" pitchFamily="18" charset="0"/>
                                  <a:ea typeface="メイリオ" panose="020B0604030504040204" pitchFamily="50" charset="-128"/>
                                </a:rPr>
                                <m:t>2</m:t>
                              </m:r>
                            </m:sup>
                          </m:sSup>
                        </m:e>
                      </m:rad>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19" name="テキスト ボックス 18">
                <a:extLst>
                  <a:ext uri="{FF2B5EF4-FFF2-40B4-BE49-F238E27FC236}">
                    <a16:creationId xmlns:a16="http://schemas.microsoft.com/office/drawing/2014/main" id="{7408152A-E07A-74E0-5A3A-A49BD758D403}"/>
                  </a:ext>
                </a:extLst>
              </p:cNvPr>
              <p:cNvSpPr txBox="1">
                <a:spLocks noRot="1" noChangeAspect="1" noMove="1" noResize="1" noEditPoints="1" noAdjustHandles="1" noChangeArrowheads="1" noChangeShapeType="1" noTextEdit="1"/>
              </p:cNvSpPr>
              <p:nvPr/>
            </p:nvSpPr>
            <p:spPr>
              <a:xfrm>
                <a:off x="5267325" y="4980707"/>
                <a:ext cx="4044505" cy="751552"/>
              </a:xfrm>
              <a:prstGeom prst="rect">
                <a:avLst/>
              </a:prstGeom>
              <a:blipFill>
                <a:blip r:embed="rId5"/>
                <a:stretch>
                  <a:fillRect/>
                </a:stretch>
              </a:blipFill>
            </p:spPr>
            <p:txBody>
              <a:bodyPr/>
              <a:lstStyle/>
              <a:p>
                <a:r>
                  <a:rPr lang="ja-JP" altLang="en-US">
                    <a:noFill/>
                  </a:rPr>
                  <a:t> </a:t>
                </a:r>
              </a:p>
            </p:txBody>
          </p:sp>
        </mc:Fallback>
      </mc:AlternateContent>
      <p:sp>
        <p:nvSpPr>
          <p:cNvPr id="20" name="テキスト ボックス 19">
            <a:extLst>
              <a:ext uri="{FF2B5EF4-FFF2-40B4-BE49-F238E27FC236}">
                <a16:creationId xmlns:a16="http://schemas.microsoft.com/office/drawing/2014/main" id="{52851F02-F781-7539-E590-02125111DF64}"/>
              </a:ext>
            </a:extLst>
          </p:cNvPr>
          <p:cNvSpPr txBox="1"/>
          <p:nvPr/>
        </p:nvSpPr>
        <p:spPr>
          <a:xfrm>
            <a:off x="5305425" y="6493322"/>
            <a:ext cx="5993820" cy="523220"/>
          </a:xfrm>
          <a:prstGeom prst="rect">
            <a:avLst/>
          </a:prstGeom>
          <a:noFill/>
        </p:spPr>
        <p:txBody>
          <a:bodyPr wrap="none" rtlCol="0">
            <a:spAutoFit/>
          </a:bodyPr>
          <a:lstStyle/>
          <a:p>
            <a:pPr algn="l"/>
            <a:r>
              <a:rPr kumimoji="1" lang="en-US" altLang="ja-JP" sz="1400" dirty="0">
                <a:latin typeface="メイリオ" panose="020B0604030504040204" pitchFamily="50" charset="-128"/>
                <a:ea typeface="メイリオ" panose="020B0604030504040204" pitchFamily="50" charset="-128"/>
                <a:hlinkClick r:id="rId6"/>
              </a:rPr>
              <a:t>https://atmarkit.itmedia.co.jp/ait/articles/2111/10/news023.html</a:t>
            </a:r>
            <a:endParaRPr kumimoji="1" lang="en-US" altLang="ja-JP" sz="1400" dirty="0">
              <a:latin typeface="メイリオ" panose="020B0604030504040204" pitchFamily="50" charset="-128"/>
              <a:ea typeface="メイリオ" panose="020B0604030504040204" pitchFamily="50" charset="-128"/>
            </a:endParaRPr>
          </a:p>
          <a:p>
            <a:pPr algn="l"/>
            <a:endParaRPr kumimoji="1" lang="ja-JP" altLang="en-US" sz="1400"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8564DF5B-CCD9-4F17-08CC-310F3DA4273D}"/>
              </a:ext>
            </a:extLst>
          </p:cNvPr>
          <p:cNvSpPr txBox="1"/>
          <p:nvPr/>
        </p:nvSpPr>
        <p:spPr>
          <a:xfrm>
            <a:off x="5267325" y="6123372"/>
            <a:ext cx="502894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N</a:t>
            </a:r>
            <a:r>
              <a:rPr kumimoji="1" lang="ja-JP" altLang="en-US" sz="2400" dirty="0">
                <a:latin typeface="メイリオ" panose="020B0604030504040204" pitchFamily="50" charset="-128"/>
                <a:ea typeface="メイリオ" panose="020B0604030504040204" pitchFamily="50" charset="-128"/>
              </a:rPr>
              <a:t>次元なら、次元数分足し合わせる</a:t>
            </a:r>
          </a:p>
        </p:txBody>
      </p:sp>
      <p:sp>
        <p:nvSpPr>
          <p:cNvPr id="23" name="左中かっこ 22">
            <a:extLst>
              <a:ext uri="{FF2B5EF4-FFF2-40B4-BE49-F238E27FC236}">
                <a16:creationId xmlns:a16="http://schemas.microsoft.com/office/drawing/2014/main" id="{F34B32F9-E0AD-3F89-3C99-3446326BD49A}"/>
              </a:ext>
            </a:extLst>
          </p:cNvPr>
          <p:cNvSpPr/>
          <p:nvPr/>
        </p:nvSpPr>
        <p:spPr>
          <a:xfrm rot="16200000">
            <a:off x="7130033" y="4134207"/>
            <a:ext cx="517970" cy="354806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7BAB97AC-8AB6-C2F1-8C61-40826835F86C}"/>
                  </a:ext>
                </a:extLst>
              </p:cNvPr>
              <p:cNvSpPr txBox="1"/>
              <p:nvPr/>
            </p:nvSpPr>
            <p:spPr>
              <a:xfrm>
                <a:off x="5303347" y="3893326"/>
                <a:ext cx="400173" cy="369332"/>
              </a:xfrm>
              <a:prstGeom prst="rect">
                <a:avLst/>
              </a:prstGeom>
              <a:solidFill>
                <a:schemeClr val="bg1"/>
              </a:solid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1</m:t>
                          </m:r>
                        </m:sub>
                      </m:sSub>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6" name="テキスト ボックス 5">
                <a:extLst>
                  <a:ext uri="{FF2B5EF4-FFF2-40B4-BE49-F238E27FC236}">
                    <a16:creationId xmlns:a16="http://schemas.microsoft.com/office/drawing/2014/main" id="{7BAB97AC-8AB6-C2F1-8C61-40826835F86C}"/>
                  </a:ext>
                </a:extLst>
              </p:cNvPr>
              <p:cNvSpPr txBox="1">
                <a:spLocks noRot="1" noChangeAspect="1" noMove="1" noResize="1" noEditPoints="1" noAdjustHandles="1" noChangeArrowheads="1" noChangeShapeType="1" noTextEdit="1"/>
              </p:cNvSpPr>
              <p:nvPr/>
            </p:nvSpPr>
            <p:spPr>
              <a:xfrm>
                <a:off x="5303347" y="3893326"/>
                <a:ext cx="400173" cy="369332"/>
              </a:xfrm>
              <a:prstGeom prst="rect">
                <a:avLst/>
              </a:prstGeom>
              <a:blipFill>
                <a:blip r:embed="rId7"/>
                <a:stretch>
                  <a:fillRect l="-6061" r="-3030" b="-1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8E3746BC-9D6C-5551-93D7-C377CC3587ED}"/>
                  </a:ext>
                </a:extLst>
              </p:cNvPr>
              <p:cNvSpPr txBox="1"/>
              <p:nvPr/>
            </p:nvSpPr>
            <p:spPr>
              <a:xfrm>
                <a:off x="3225873" y="2380711"/>
                <a:ext cx="407291" cy="369332"/>
              </a:xfrm>
              <a:prstGeom prst="rect">
                <a:avLst/>
              </a:prstGeom>
              <a:solidFill>
                <a:schemeClr val="bg1"/>
              </a:solid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2</m:t>
                          </m:r>
                        </m:sub>
                      </m:sSub>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9" name="テキスト ボックス 8">
                <a:extLst>
                  <a:ext uri="{FF2B5EF4-FFF2-40B4-BE49-F238E27FC236}">
                    <a16:creationId xmlns:a16="http://schemas.microsoft.com/office/drawing/2014/main" id="{8E3746BC-9D6C-5551-93D7-C377CC3587ED}"/>
                  </a:ext>
                </a:extLst>
              </p:cNvPr>
              <p:cNvSpPr txBox="1">
                <a:spLocks noRot="1" noChangeAspect="1" noMove="1" noResize="1" noEditPoints="1" noAdjustHandles="1" noChangeArrowheads="1" noChangeShapeType="1" noTextEdit="1"/>
              </p:cNvSpPr>
              <p:nvPr/>
            </p:nvSpPr>
            <p:spPr>
              <a:xfrm>
                <a:off x="3225873" y="2380711"/>
                <a:ext cx="407291" cy="369332"/>
              </a:xfrm>
              <a:prstGeom prst="rect">
                <a:avLst/>
              </a:prstGeom>
              <a:blipFill>
                <a:blip r:embed="rId8"/>
                <a:stretch>
                  <a:fillRect l="-4478" r="-2985" b="-1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FC0B4FB8-CEFF-4EEE-4956-16FE90729515}"/>
                  </a:ext>
                </a:extLst>
              </p:cNvPr>
              <p:cNvSpPr txBox="1"/>
              <p:nvPr/>
            </p:nvSpPr>
            <p:spPr>
              <a:xfrm>
                <a:off x="2817396" y="5775443"/>
                <a:ext cx="1952907" cy="338554"/>
              </a:xfrm>
              <a:prstGeom prst="rect">
                <a:avLst/>
              </a:prstGeom>
              <a:noFill/>
            </p:spPr>
            <p:txBody>
              <a:bodyPr wrap="none" rtlCol="0">
                <a:spAutoFit/>
              </a:bodyPr>
              <a:lstStyle/>
              <a:p>
                <a:pPr algn="l"/>
                <a14:m>
                  <m:oMath xmlns:m="http://schemas.openxmlformats.org/officeDocument/2006/math">
                    <m:r>
                      <a:rPr kumimoji="1" lang="en-US" altLang="ja-JP" sz="1600" b="0" i="1" smtClean="0">
                        <a:latin typeface="Cambria Math" panose="02040503050406030204" pitchFamily="18" charset="0"/>
                        <a:ea typeface="メイリオ" panose="020B0604030504040204" pitchFamily="50" charset="-128"/>
                      </a:rPr>
                      <m:t>𝑖</m:t>
                    </m:r>
                    <m:r>
                      <a:rPr kumimoji="1" lang="en-US" altLang="ja-JP" sz="1600" b="0" i="1" smtClean="0">
                        <a:latin typeface="Cambria Math" panose="02040503050406030204" pitchFamily="18" charset="0"/>
                        <a:ea typeface="メイリオ" panose="020B0604030504040204" pitchFamily="50" charset="-128"/>
                      </a:rPr>
                      <m:t>:</m:t>
                    </m:r>
                  </m:oMath>
                </a14:m>
                <a:r>
                  <a:rPr kumimoji="1" lang="ja-JP" altLang="en-US" sz="1600" dirty="0">
                    <a:latin typeface="メイリオ" panose="020B0604030504040204" pitchFamily="50" charset="-128"/>
                    <a:ea typeface="メイリオ" panose="020B0604030504040204" pitchFamily="50" charset="-128"/>
                  </a:rPr>
                  <a:t>任意の訓練データ</a:t>
                </a:r>
              </a:p>
            </p:txBody>
          </p:sp>
        </mc:Choice>
        <mc:Fallback xmlns="">
          <p:sp>
            <p:nvSpPr>
              <p:cNvPr id="13" name="テキスト ボックス 12">
                <a:extLst>
                  <a:ext uri="{FF2B5EF4-FFF2-40B4-BE49-F238E27FC236}">
                    <a16:creationId xmlns:a16="http://schemas.microsoft.com/office/drawing/2014/main" id="{FC0B4FB8-CEFF-4EEE-4956-16FE90729515}"/>
                  </a:ext>
                </a:extLst>
              </p:cNvPr>
              <p:cNvSpPr txBox="1">
                <a:spLocks noRot="1" noChangeAspect="1" noMove="1" noResize="1" noEditPoints="1" noAdjustHandles="1" noChangeArrowheads="1" noChangeShapeType="1" noTextEdit="1"/>
              </p:cNvSpPr>
              <p:nvPr/>
            </p:nvSpPr>
            <p:spPr>
              <a:xfrm>
                <a:off x="2817396" y="5775443"/>
                <a:ext cx="1952907" cy="338554"/>
              </a:xfrm>
              <a:prstGeom prst="rect">
                <a:avLst/>
              </a:prstGeom>
              <a:blipFill>
                <a:blip r:embed="rId9"/>
                <a:stretch>
                  <a:fillRect t="-3571" b="-2321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21567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2712219-5A61-FB28-91BF-EFCF82263AF0}"/>
              </a:ext>
            </a:extLst>
          </p:cNvPr>
          <p:cNvSpPr txBox="1"/>
          <p:nvPr/>
        </p:nvSpPr>
        <p:spPr>
          <a:xfrm>
            <a:off x="671804" y="2621902"/>
            <a:ext cx="8494633" cy="646331"/>
          </a:xfrm>
          <a:prstGeom prst="rect">
            <a:avLst/>
          </a:prstGeom>
          <a:noFill/>
        </p:spPr>
        <p:txBody>
          <a:bodyPr wrap="none" rtlCol="0">
            <a:spAutoFit/>
          </a:bodyPr>
          <a:lstStyle/>
          <a:p>
            <a:pPr algn="l"/>
            <a:r>
              <a:rPr kumimoji="1" lang="ja-JP" altLang="en-US" sz="3600" dirty="0">
                <a:latin typeface="メイリオ" panose="020B0604030504040204" pitchFamily="50" charset="-128"/>
                <a:ea typeface="メイリオ" panose="020B0604030504040204" pitchFamily="50" charset="-128"/>
              </a:rPr>
              <a:t>予測精度を向上させるための様々な技術</a:t>
            </a:r>
          </a:p>
        </p:txBody>
      </p:sp>
    </p:spTree>
    <p:extLst>
      <p:ext uri="{BB962C8B-B14F-4D97-AF65-F5344CB8AC3E}">
        <p14:creationId xmlns:p14="http://schemas.microsoft.com/office/powerpoint/2010/main" val="2993112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B719A25-BC7B-493C-E357-30D84069F350}"/>
              </a:ext>
            </a:extLst>
          </p:cNvPr>
          <p:cNvSpPr txBox="1"/>
          <p:nvPr/>
        </p:nvSpPr>
        <p:spPr>
          <a:xfrm>
            <a:off x="391886" y="458950"/>
            <a:ext cx="7571303"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低頻度語彙、汎用語彙のフィルタリング</a:t>
            </a:r>
          </a:p>
        </p:txBody>
      </p:sp>
      <p:sp>
        <p:nvSpPr>
          <p:cNvPr id="10" name="テキスト ボックス 9">
            <a:extLst>
              <a:ext uri="{FF2B5EF4-FFF2-40B4-BE49-F238E27FC236}">
                <a16:creationId xmlns:a16="http://schemas.microsoft.com/office/drawing/2014/main" id="{0A3F7351-EB1F-18D1-BC72-44133BAA5353}"/>
              </a:ext>
            </a:extLst>
          </p:cNvPr>
          <p:cNvSpPr txBox="1"/>
          <p:nvPr/>
        </p:nvSpPr>
        <p:spPr>
          <a:xfrm>
            <a:off x="559836" y="1043725"/>
            <a:ext cx="10716395" cy="707886"/>
          </a:xfrm>
          <a:prstGeom prst="rect">
            <a:avLst/>
          </a:prstGeom>
          <a:noFill/>
        </p:spPr>
        <p:txBody>
          <a:bodyPr wrap="none" rtlCol="0">
            <a:spAutoFit/>
          </a:bodyPr>
          <a:lstStyle/>
          <a:p>
            <a:pPr marL="457200" indent="-457200" algn="l">
              <a:buFont typeface="+mj-lt"/>
              <a:buAutoNum type="arabicPeriod"/>
            </a:pPr>
            <a:r>
              <a:rPr kumimoji="1" lang="ja-JP" altLang="en-US" sz="2000" dirty="0">
                <a:latin typeface="メイリオ" panose="020B0604030504040204" pitchFamily="50" charset="-128"/>
                <a:ea typeface="メイリオ" panose="020B0604030504040204" pitchFamily="50" charset="-128"/>
              </a:rPr>
              <a:t>頻度</a:t>
            </a:r>
            <a:r>
              <a:rPr kumimoji="1" lang="en-US" altLang="ja-JP" sz="2000" dirty="0">
                <a:latin typeface="メイリオ" panose="020B0604030504040204" pitchFamily="50" charset="-128"/>
                <a:ea typeface="メイリオ" panose="020B0604030504040204" pitchFamily="50" charset="-128"/>
              </a:rPr>
              <a:t>0, 1 </a:t>
            </a:r>
            <a:r>
              <a:rPr kumimoji="1" lang="ja-JP" altLang="en-US" sz="2000" dirty="0">
                <a:latin typeface="メイリオ" panose="020B0604030504040204" pitchFamily="50" charset="-128"/>
                <a:ea typeface="メイリオ" panose="020B0604030504040204" pitchFamily="50" charset="-128"/>
              </a:rPr>
              <a:t>のような低頻度語彙が非常に多い　→　次元数が大きいほど境界は複雑化する</a:t>
            </a:r>
            <a:endParaRPr kumimoji="1" lang="en-US" altLang="ja-JP" sz="20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000" dirty="0">
                <a:latin typeface="メイリオ" panose="020B0604030504040204" pitchFamily="50" charset="-128"/>
                <a:ea typeface="メイリオ" panose="020B0604030504040204" pitchFamily="50" charset="-128"/>
              </a:rPr>
              <a:t>汎用語彙も結構ある（レシピとか）→　クラス間の距離を不明確にする</a:t>
            </a:r>
          </a:p>
        </p:txBody>
      </p:sp>
      <p:cxnSp>
        <p:nvCxnSpPr>
          <p:cNvPr id="12" name="直線コネクタ 11">
            <a:extLst>
              <a:ext uri="{FF2B5EF4-FFF2-40B4-BE49-F238E27FC236}">
                <a16:creationId xmlns:a16="http://schemas.microsoft.com/office/drawing/2014/main" id="{8C68C3A7-8C5E-5C15-F9E4-394B200D642F}"/>
              </a:ext>
            </a:extLst>
          </p:cNvPr>
          <p:cNvCxnSpPr>
            <a:cxnSpLocks/>
          </p:cNvCxnSpPr>
          <p:nvPr/>
        </p:nvCxnSpPr>
        <p:spPr>
          <a:xfrm>
            <a:off x="3428477" y="3068806"/>
            <a:ext cx="0" cy="19649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42121DCB-C033-0777-C131-A4D193109C44}"/>
              </a:ext>
            </a:extLst>
          </p:cNvPr>
          <p:cNvCxnSpPr>
            <a:cxnSpLocks/>
          </p:cNvCxnSpPr>
          <p:nvPr/>
        </p:nvCxnSpPr>
        <p:spPr>
          <a:xfrm flipH="1">
            <a:off x="1401424" y="5033745"/>
            <a:ext cx="2027055" cy="1256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00331DB0-2DD9-2395-0F94-FBE6A6D52FA2}"/>
              </a:ext>
            </a:extLst>
          </p:cNvPr>
          <p:cNvCxnSpPr>
            <a:cxnSpLocks/>
          </p:cNvCxnSpPr>
          <p:nvPr/>
        </p:nvCxnSpPr>
        <p:spPr>
          <a:xfrm>
            <a:off x="3443367" y="5064138"/>
            <a:ext cx="2246389" cy="10081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E43ACC62-570A-5469-A222-35A21FA7350E}"/>
              </a:ext>
            </a:extLst>
          </p:cNvPr>
          <p:cNvSpPr txBox="1"/>
          <p:nvPr/>
        </p:nvSpPr>
        <p:spPr>
          <a:xfrm rot="3925103">
            <a:off x="3927448" y="4215728"/>
            <a:ext cx="364202" cy="307777"/>
          </a:xfrm>
          <a:prstGeom prst="rect">
            <a:avLst/>
          </a:prstGeom>
          <a:noFill/>
        </p:spPr>
        <p:txBody>
          <a:bodyPr wrap="non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6" name="テキスト ボックス 15">
            <a:extLst>
              <a:ext uri="{FF2B5EF4-FFF2-40B4-BE49-F238E27FC236}">
                <a16:creationId xmlns:a16="http://schemas.microsoft.com/office/drawing/2014/main" id="{DEA00B95-55E6-1AB7-9EE4-7836B48DE3A4}"/>
              </a:ext>
            </a:extLst>
          </p:cNvPr>
          <p:cNvSpPr txBox="1"/>
          <p:nvPr/>
        </p:nvSpPr>
        <p:spPr>
          <a:xfrm rot="3925103">
            <a:off x="4527461" y="4165413"/>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7" name="テキスト ボックス 16">
            <a:extLst>
              <a:ext uri="{FF2B5EF4-FFF2-40B4-BE49-F238E27FC236}">
                <a16:creationId xmlns:a16="http://schemas.microsoft.com/office/drawing/2014/main" id="{92A1FBBE-D570-4E4B-3ABD-F910128D0451}"/>
              </a:ext>
            </a:extLst>
          </p:cNvPr>
          <p:cNvSpPr txBox="1"/>
          <p:nvPr/>
        </p:nvSpPr>
        <p:spPr>
          <a:xfrm rot="3925103">
            <a:off x="2494690" y="4588342"/>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8" name="テキスト ボックス 17">
            <a:extLst>
              <a:ext uri="{FF2B5EF4-FFF2-40B4-BE49-F238E27FC236}">
                <a16:creationId xmlns:a16="http://schemas.microsoft.com/office/drawing/2014/main" id="{4683A4D2-4F86-38CE-D01C-A065C00B6B87}"/>
              </a:ext>
            </a:extLst>
          </p:cNvPr>
          <p:cNvSpPr txBox="1"/>
          <p:nvPr/>
        </p:nvSpPr>
        <p:spPr>
          <a:xfrm rot="3925103">
            <a:off x="3758347" y="487735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9" name="テキスト ボックス 18">
            <a:extLst>
              <a:ext uri="{FF2B5EF4-FFF2-40B4-BE49-F238E27FC236}">
                <a16:creationId xmlns:a16="http://schemas.microsoft.com/office/drawing/2014/main" id="{321A2F97-2D38-AC13-B46F-5964F24948E3}"/>
              </a:ext>
            </a:extLst>
          </p:cNvPr>
          <p:cNvSpPr txBox="1"/>
          <p:nvPr/>
        </p:nvSpPr>
        <p:spPr>
          <a:xfrm rot="3925103">
            <a:off x="3665690" y="527133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0" name="テキスト ボックス 19">
            <a:extLst>
              <a:ext uri="{FF2B5EF4-FFF2-40B4-BE49-F238E27FC236}">
                <a16:creationId xmlns:a16="http://schemas.microsoft.com/office/drawing/2014/main" id="{FDCB82F7-6879-6A3C-6791-2B5EEE656DED}"/>
              </a:ext>
            </a:extLst>
          </p:cNvPr>
          <p:cNvSpPr txBox="1"/>
          <p:nvPr/>
        </p:nvSpPr>
        <p:spPr>
          <a:xfrm rot="3925103">
            <a:off x="3248055" y="4645870"/>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4F79D321-48AC-48B7-DE14-D7BC19A31A42}"/>
              </a:ext>
            </a:extLst>
          </p:cNvPr>
          <p:cNvSpPr txBox="1"/>
          <p:nvPr/>
        </p:nvSpPr>
        <p:spPr>
          <a:xfrm rot="3925103">
            <a:off x="4047611" y="489895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2" name="テキスト ボックス 21">
            <a:extLst>
              <a:ext uri="{FF2B5EF4-FFF2-40B4-BE49-F238E27FC236}">
                <a16:creationId xmlns:a16="http://schemas.microsoft.com/office/drawing/2014/main" id="{51D58F87-4BFB-D687-FC75-90623FE31BEC}"/>
              </a:ext>
            </a:extLst>
          </p:cNvPr>
          <p:cNvSpPr txBox="1"/>
          <p:nvPr/>
        </p:nvSpPr>
        <p:spPr>
          <a:xfrm rot="3925103">
            <a:off x="4620857" y="330094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3" name="テキスト ボックス 22">
            <a:extLst>
              <a:ext uri="{FF2B5EF4-FFF2-40B4-BE49-F238E27FC236}">
                <a16:creationId xmlns:a16="http://schemas.microsoft.com/office/drawing/2014/main" id="{4A82AA1F-DB74-75E2-361E-ED898A5D6D83}"/>
              </a:ext>
            </a:extLst>
          </p:cNvPr>
          <p:cNvSpPr txBox="1"/>
          <p:nvPr/>
        </p:nvSpPr>
        <p:spPr>
          <a:xfrm rot="3925103">
            <a:off x="4285150" y="432612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4" name="テキスト ボックス 23">
            <a:extLst>
              <a:ext uri="{FF2B5EF4-FFF2-40B4-BE49-F238E27FC236}">
                <a16:creationId xmlns:a16="http://schemas.microsoft.com/office/drawing/2014/main" id="{DB5589F4-09F7-A295-7FF2-F611C4D3F6A4}"/>
              </a:ext>
            </a:extLst>
          </p:cNvPr>
          <p:cNvSpPr txBox="1"/>
          <p:nvPr/>
        </p:nvSpPr>
        <p:spPr>
          <a:xfrm rot="3925103">
            <a:off x="2884434" y="4773463"/>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5" name="テキスト ボックス 24">
            <a:extLst>
              <a:ext uri="{FF2B5EF4-FFF2-40B4-BE49-F238E27FC236}">
                <a16:creationId xmlns:a16="http://schemas.microsoft.com/office/drawing/2014/main" id="{F5BA8445-1C13-490D-FDC5-97E35E924C53}"/>
              </a:ext>
            </a:extLst>
          </p:cNvPr>
          <p:cNvSpPr txBox="1"/>
          <p:nvPr/>
        </p:nvSpPr>
        <p:spPr>
          <a:xfrm rot="3925103">
            <a:off x="3579567" y="4990731"/>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6" name="テキスト ボックス 25">
            <a:extLst>
              <a:ext uri="{FF2B5EF4-FFF2-40B4-BE49-F238E27FC236}">
                <a16:creationId xmlns:a16="http://schemas.microsoft.com/office/drawing/2014/main" id="{C5A0087C-0F77-036D-7C82-3F6F6F0ABC8A}"/>
              </a:ext>
            </a:extLst>
          </p:cNvPr>
          <p:cNvSpPr txBox="1"/>
          <p:nvPr/>
        </p:nvSpPr>
        <p:spPr>
          <a:xfrm rot="3925103">
            <a:off x="4191386" y="4734749"/>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7" name="テキスト ボックス 26">
            <a:extLst>
              <a:ext uri="{FF2B5EF4-FFF2-40B4-BE49-F238E27FC236}">
                <a16:creationId xmlns:a16="http://schemas.microsoft.com/office/drawing/2014/main" id="{3B4DA506-82CA-317D-28F8-71B7C656CE6E}"/>
              </a:ext>
            </a:extLst>
          </p:cNvPr>
          <p:cNvSpPr txBox="1"/>
          <p:nvPr/>
        </p:nvSpPr>
        <p:spPr>
          <a:xfrm rot="3925103">
            <a:off x="2368690" y="5027142"/>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8" name="テキスト ボックス 27">
            <a:extLst>
              <a:ext uri="{FF2B5EF4-FFF2-40B4-BE49-F238E27FC236}">
                <a16:creationId xmlns:a16="http://schemas.microsoft.com/office/drawing/2014/main" id="{EA0EF537-37E9-7B3E-8C49-95DD15FC9B74}"/>
              </a:ext>
            </a:extLst>
          </p:cNvPr>
          <p:cNvSpPr txBox="1"/>
          <p:nvPr/>
        </p:nvSpPr>
        <p:spPr>
          <a:xfrm rot="3925103">
            <a:off x="3816478" y="4344518"/>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9" name="テキスト ボックス 28">
            <a:extLst>
              <a:ext uri="{FF2B5EF4-FFF2-40B4-BE49-F238E27FC236}">
                <a16:creationId xmlns:a16="http://schemas.microsoft.com/office/drawing/2014/main" id="{E8373F24-E169-A8A4-5B89-0623039EB347}"/>
              </a:ext>
            </a:extLst>
          </p:cNvPr>
          <p:cNvSpPr txBox="1"/>
          <p:nvPr/>
        </p:nvSpPr>
        <p:spPr>
          <a:xfrm rot="3925103">
            <a:off x="4622558" y="298769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5C129DB1-89A7-4A45-06D4-B3D1BF909D46}"/>
              </a:ext>
            </a:extLst>
          </p:cNvPr>
          <p:cNvSpPr txBox="1"/>
          <p:nvPr/>
        </p:nvSpPr>
        <p:spPr>
          <a:xfrm rot="3925103">
            <a:off x="3195963" y="414726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1" name="テキスト ボックス 30">
            <a:extLst>
              <a:ext uri="{FF2B5EF4-FFF2-40B4-BE49-F238E27FC236}">
                <a16:creationId xmlns:a16="http://schemas.microsoft.com/office/drawing/2014/main" id="{6208FE76-BBE8-210E-7C46-56110006BA5E}"/>
              </a:ext>
            </a:extLst>
          </p:cNvPr>
          <p:cNvSpPr txBox="1"/>
          <p:nvPr/>
        </p:nvSpPr>
        <p:spPr>
          <a:xfrm rot="3925103">
            <a:off x="3467548" y="428938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2" name="テキスト ボックス 31">
            <a:extLst>
              <a:ext uri="{FF2B5EF4-FFF2-40B4-BE49-F238E27FC236}">
                <a16:creationId xmlns:a16="http://schemas.microsoft.com/office/drawing/2014/main" id="{8C4282B5-88A0-BF62-7B61-0B0EE10CF208}"/>
              </a:ext>
            </a:extLst>
          </p:cNvPr>
          <p:cNvSpPr txBox="1"/>
          <p:nvPr/>
        </p:nvSpPr>
        <p:spPr>
          <a:xfrm rot="3925103">
            <a:off x="2975160" y="517596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3" name="テキスト ボックス 32">
            <a:extLst>
              <a:ext uri="{FF2B5EF4-FFF2-40B4-BE49-F238E27FC236}">
                <a16:creationId xmlns:a16="http://schemas.microsoft.com/office/drawing/2014/main" id="{43E35421-93C1-67FD-0840-8054B219EC58}"/>
              </a:ext>
            </a:extLst>
          </p:cNvPr>
          <p:cNvSpPr txBox="1"/>
          <p:nvPr/>
        </p:nvSpPr>
        <p:spPr>
          <a:xfrm rot="3925103">
            <a:off x="3092640" y="4463681"/>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4" name="テキスト ボックス 33">
            <a:extLst>
              <a:ext uri="{FF2B5EF4-FFF2-40B4-BE49-F238E27FC236}">
                <a16:creationId xmlns:a16="http://schemas.microsoft.com/office/drawing/2014/main" id="{4F42AB0F-EC8C-36AC-07DD-5AB91D6106C2}"/>
              </a:ext>
            </a:extLst>
          </p:cNvPr>
          <p:cNvSpPr txBox="1"/>
          <p:nvPr/>
        </p:nvSpPr>
        <p:spPr>
          <a:xfrm rot="3925103">
            <a:off x="2686287" y="517311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5" name="テキスト ボックス 34">
            <a:extLst>
              <a:ext uri="{FF2B5EF4-FFF2-40B4-BE49-F238E27FC236}">
                <a16:creationId xmlns:a16="http://schemas.microsoft.com/office/drawing/2014/main" id="{CA1EB5C4-C61D-CE19-B6E0-54580E00B48F}"/>
              </a:ext>
            </a:extLst>
          </p:cNvPr>
          <p:cNvSpPr txBox="1"/>
          <p:nvPr/>
        </p:nvSpPr>
        <p:spPr>
          <a:xfrm rot="3925103">
            <a:off x="3292757" y="5286661"/>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B4043A1A-365E-483C-9EEC-23FD8C1D28ED}"/>
              </a:ext>
            </a:extLst>
          </p:cNvPr>
          <p:cNvSpPr txBox="1"/>
          <p:nvPr/>
        </p:nvSpPr>
        <p:spPr>
          <a:xfrm rot="3925103">
            <a:off x="3534626" y="4671043"/>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7" name="テキスト ボックス 36">
            <a:extLst>
              <a:ext uri="{FF2B5EF4-FFF2-40B4-BE49-F238E27FC236}">
                <a16:creationId xmlns:a16="http://schemas.microsoft.com/office/drawing/2014/main" id="{86D2DB98-CB06-A8D3-62A3-66B20D72E16E}"/>
              </a:ext>
            </a:extLst>
          </p:cNvPr>
          <p:cNvSpPr txBox="1"/>
          <p:nvPr/>
        </p:nvSpPr>
        <p:spPr>
          <a:xfrm rot="3925103">
            <a:off x="3217558" y="496897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8" name="テキスト ボックス 37">
            <a:extLst>
              <a:ext uri="{FF2B5EF4-FFF2-40B4-BE49-F238E27FC236}">
                <a16:creationId xmlns:a16="http://schemas.microsoft.com/office/drawing/2014/main" id="{4EFCC5A8-13EA-D2F8-FAD4-4066EA8D3E53}"/>
              </a:ext>
            </a:extLst>
          </p:cNvPr>
          <p:cNvSpPr txBox="1"/>
          <p:nvPr/>
        </p:nvSpPr>
        <p:spPr>
          <a:xfrm rot="3925103">
            <a:off x="3925659" y="466931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9" name="テキスト ボックス 38">
            <a:extLst>
              <a:ext uri="{FF2B5EF4-FFF2-40B4-BE49-F238E27FC236}">
                <a16:creationId xmlns:a16="http://schemas.microsoft.com/office/drawing/2014/main" id="{72C9861E-099B-0916-4A4E-0CDF8C000264}"/>
              </a:ext>
            </a:extLst>
          </p:cNvPr>
          <p:cNvSpPr txBox="1"/>
          <p:nvPr/>
        </p:nvSpPr>
        <p:spPr>
          <a:xfrm>
            <a:off x="4939309" y="2916593"/>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プリン</a:t>
            </a:r>
          </a:p>
        </p:txBody>
      </p:sp>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2F990048-D080-3AC5-9F3D-1B51E6B7192B}"/>
                  </a:ext>
                </a:extLst>
              </p:cNvPr>
              <p:cNvSpPr txBox="1"/>
              <p:nvPr/>
            </p:nvSpPr>
            <p:spPr>
              <a:xfrm>
                <a:off x="707572" y="6273977"/>
                <a:ext cx="1841979"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生クリーム</a:t>
                </a:r>
                <a14:m>
                  <m:oMath xmlns:m="http://schemas.openxmlformats.org/officeDocument/2006/math">
                    <m:sSub>
                      <m:sSubPr>
                        <m:ctrlPr>
                          <a:rPr kumimoji="1" lang="en-US" altLang="ja-JP" sz="240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2</m:t>
                        </m:r>
                      </m:sub>
                    </m:sSub>
                  </m:oMath>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41" name="テキスト ボックス 40">
                <a:extLst>
                  <a:ext uri="{FF2B5EF4-FFF2-40B4-BE49-F238E27FC236}">
                    <a16:creationId xmlns:a16="http://schemas.microsoft.com/office/drawing/2014/main" id="{2F990048-D080-3AC5-9F3D-1B51E6B7192B}"/>
                  </a:ext>
                </a:extLst>
              </p:cNvPr>
              <p:cNvSpPr txBox="1">
                <a:spLocks noRot="1" noChangeAspect="1" noMove="1" noResize="1" noEditPoints="1" noAdjustHandles="1" noChangeArrowheads="1" noChangeShapeType="1" noTextEdit="1"/>
              </p:cNvSpPr>
              <p:nvPr/>
            </p:nvSpPr>
            <p:spPr>
              <a:xfrm>
                <a:off x="707572" y="6273977"/>
                <a:ext cx="1841979" cy="369332"/>
              </a:xfrm>
              <a:prstGeom prst="rect">
                <a:avLst/>
              </a:prstGeom>
              <a:blipFill>
                <a:blip r:embed="rId2"/>
                <a:stretch>
                  <a:fillRect l="-9934" t="-21311" r="-2649" b="-5245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E47D6C83-2280-5802-6ED2-3F49F4C30354}"/>
                  </a:ext>
                </a:extLst>
              </p:cNvPr>
              <p:cNvSpPr txBox="1"/>
              <p:nvPr/>
            </p:nvSpPr>
            <p:spPr>
              <a:xfrm>
                <a:off x="5200743" y="6225655"/>
                <a:ext cx="1834861"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カスタード</a:t>
                </a:r>
                <a14:m>
                  <m:oMath xmlns:m="http://schemas.openxmlformats.org/officeDocument/2006/math">
                    <m:sSub>
                      <m:sSubPr>
                        <m:ctrlPr>
                          <a:rPr kumimoji="1" lang="en-US" altLang="ja-JP" sz="240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1</m:t>
                        </m:r>
                      </m:sub>
                    </m:sSub>
                  </m:oMath>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42" name="テキスト ボックス 41">
                <a:extLst>
                  <a:ext uri="{FF2B5EF4-FFF2-40B4-BE49-F238E27FC236}">
                    <a16:creationId xmlns:a16="http://schemas.microsoft.com/office/drawing/2014/main" id="{E47D6C83-2280-5802-6ED2-3F49F4C30354}"/>
                  </a:ext>
                </a:extLst>
              </p:cNvPr>
              <p:cNvSpPr txBox="1">
                <a:spLocks noRot="1" noChangeAspect="1" noMove="1" noResize="1" noEditPoints="1" noAdjustHandles="1" noChangeArrowheads="1" noChangeShapeType="1" noTextEdit="1"/>
              </p:cNvSpPr>
              <p:nvPr/>
            </p:nvSpPr>
            <p:spPr>
              <a:xfrm>
                <a:off x="5200743" y="6225655"/>
                <a:ext cx="1834861" cy="369332"/>
              </a:xfrm>
              <a:prstGeom prst="rect">
                <a:avLst/>
              </a:prstGeom>
              <a:blipFill>
                <a:blip r:embed="rId3"/>
                <a:stretch>
                  <a:fillRect l="-9967" t="-21311" r="-2658" b="-5245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19A0402B-1707-E8EC-35BE-73272F0E78ED}"/>
                  </a:ext>
                </a:extLst>
              </p:cNvPr>
              <p:cNvSpPr txBox="1"/>
              <p:nvPr/>
            </p:nvSpPr>
            <p:spPr>
              <a:xfrm>
                <a:off x="2740370" y="2548279"/>
                <a:ext cx="171886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カラメル</a:t>
                </a:r>
                <a14:m>
                  <m:oMath xmlns:m="http://schemas.openxmlformats.org/officeDocument/2006/math">
                    <m:sSub>
                      <m:sSubPr>
                        <m:ctrlPr>
                          <a:rPr kumimoji="1" lang="en-US" altLang="ja-JP" sz="2400" i="1" smtClean="0">
                            <a:latin typeface="Cambria Math" panose="02040503050406030204" pitchFamily="18" charset="0"/>
                            <a:ea typeface="メイリオ" panose="020B0604030504040204" pitchFamily="50" charset="-128"/>
                          </a:rPr>
                        </m:ctrlPr>
                      </m:sSub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3</m:t>
                        </m:r>
                      </m:sub>
                    </m:sSub>
                  </m:oMath>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43" name="テキスト ボックス 42">
                <a:extLst>
                  <a:ext uri="{FF2B5EF4-FFF2-40B4-BE49-F238E27FC236}">
                    <a16:creationId xmlns:a16="http://schemas.microsoft.com/office/drawing/2014/main" id="{19A0402B-1707-E8EC-35BE-73272F0E78ED}"/>
                  </a:ext>
                </a:extLst>
              </p:cNvPr>
              <p:cNvSpPr txBox="1">
                <a:spLocks noRot="1" noChangeAspect="1" noMove="1" noResize="1" noEditPoints="1" noAdjustHandles="1" noChangeArrowheads="1" noChangeShapeType="1" noTextEdit="1"/>
              </p:cNvSpPr>
              <p:nvPr/>
            </p:nvSpPr>
            <p:spPr>
              <a:xfrm>
                <a:off x="2740370" y="2548279"/>
                <a:ext cx="1718868" cy="461665"/>
              </a:xfrm>
              <a:prstGeom prst="rect">
                <a:avLst/>
              </a:prstGeom>
              <a:blipFill>
                <a:blip r:embed="rId4"/>
                <a:stretch>
                  <a:fillRect l="-5674" t="-7895" b="-31579"/>
                </a:stretch>
              </a:blipFill>
            </p:spPr>
            <p:txBody>
              <a:bodyPr/>
              <a:lstStyle/>
              <a:p>
                <a:r>
                  <a:rPr lang="ja-JP" altLang="en-US">
                    <a:noFill/>
                  </a:rPr>
                  <a:t> </a:t>
                </a:r>
              </a:p>
            </p:txBody>
          </p:sp>
        </mc:Fallback>
      </mc:AlternateContent>
      <p:sp>
        <p:nvSpPr>
          <p:cNvPr id="44" name="テキスト ボックス 43">
            <a:extLst>
              <a:ext uri="{FF2B5EF4-FFF2-40B4-BE49-F238E27FC236}">
                <a16:creationId xmlns:a16="http://schemas.microsoft.com/office/drawing/2014/main" id="{473C88B3-3316-3732-11D7-1B904B09B174}"/>
              </a:ext>
            </a:extLst>
          </p:cNvPr>
          <p:cNvSpPr txBox="1"/>
          <p:nvPr/>
        </p:nvSpPr>
        <p:spPr>
          <a:xfrm>
            <a:off x="4939309" y="3248576"/>
            <a:ext cx="233910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シュークリーム</a:t>
            </a:r>
          </a:p>
        </p:txBody>
      </p:sp>
      <p:cxnSp>
        <p:nvCxnSpPr>
          <p:cNvPr id="49" name="直線矢印コネクタ 48">
            <a:extLst>
              <a:ext uri="{FF2B5EF4-FFF2-40B4-BE49-F238E27FC236}">
                <a16:creationId xmlns:a16="http://schemas.microsoft.com/office/drawing/2014/main" id="{7A7A6573-667A-E853-E512-B8C64FA3B2E5}"/>
              </a:ext>
            </a:extLst>
          </p:cNvPr>
          <p:cNvCxnSpPr>
            <a:cxnSpLocks/>
          </p:cNvCxnSpPr>
          <p:nvPr/>
        </p:nvCxnSpPr>
        <p:spPr>
          <a:xfrm>
            <a:off x="3727441" y="4508329"/>
            <a:ext cx="314161" cy="271118"/>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A567E908-2A8D-1176-EB69-E4CD6C8EA678}"/>
              </a:ext>
            </a:extLst>
          </p:cNvPr>
          <p:cNvCxnSpPr>
            <a:cxnSpLocks/>
          </p:cNvCxnSpPr>
          <p:nvPr/>
        </p:nvCxnSpPr>
        <p:spPr>
          <a:xfrm>
            <a:off x="5741137" y="4248528"/>
            <a:ext cx="437380"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2F2EBA72-1826-697D-0977-55610C7C4155}"/>
              </a:ext>
            </a:extLst>
          </p:cNvPr>
          <p:cNvSpPr txBox="1"/>
          <p:nvPr/>
        </p:nvSpPr>
        <p:spPr>
          <a:xfrm>
            <a:off x="6159579" y="4060161"/>
            <a:ext cx="6032421" cy="461665"/>
          </a:xfrm>
          <a:prstGeom prst="rect">
            <a:avLst/>
          </a:prstGeom>
          <a:noFill/>
        </p:spPr>
        <p:txBody>
          <a:bodyPr wrap="none" rtlCol="0">
            <a:spAutoFit/>
          </a:bodyPr>
          <a:lstStyle/>
          <a:p>
            <a:pPr algn="l"/>
            <a:r>
              <a:rPr kumimoji="1" lang="ja-JP" altLang="en-US" dirty="0">
                <a:solidFill>
                  <a:srgbClr val="00B050"/>
                </a:solidFill>
                <a:latin typeface="メイリオ" panose="020B0604030504040204" pitchFamily="50" charset="-128"/>
                <a:ea typeface="メイリオ" panose="020B0604030504040204" pitchFamily="50" charset="-128"/>
              </a:rPr>
              <a:t>●</a:t>
            </a:r>
            <a:r>
              <a:rPr kumimoji="1" lang="ja-JP" altLang="en-US" dirty="0">
                <a:solidFill>
                  <a:srgbClr val="FF0000"/>
                </a:solidFill>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の距離が大きいほど境界を引きやすい</a:t>
            </a:r>
          </a:p>
        </p:txBody>
      </p:sp>
      <p:sp>
        <p:nvSpPr>
          <p:cNvPr id="56" name="テキスト ボックス 55">
            <a:extLst>
              <a:ext uri="{FF2B5EF4-FFF2-40B4-BE49-F238E27FC236}">
                <a16:creationId xmlns:a16="http://schemas.microsoft.com/office/drawing/2014/main" id="{ED84BB0B-3F75-171C-BC85-3B8D97AD5A43}"/>
              </a:ext>
            </a:extLst>
          </p:cNvPr>
          <p:cNvSpPr txBox="1"/>
          <p:nvPr/>
        </p:nvSpPr>
        <p:spPr>
          <a:xfrm>
            <a:off x="3493125" y="3985065"/>
            <a:ext cx="372218"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a:t>
            </a:r>
            <a:endParaRPr kumimoji="1" lang="ja-JP" altLang="en-US" sz="2400"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83072CD4-7453-06DE-706A-1F06C9B42B18}"/>
              </a:ext>
            </a:extLst>
          </p:cNvPr>
          <p:cNvSpPr txBox="1"/>
          <p:nvPr/>
        </p:nvSpPr>
        <p:spPr>
          <a:xfrm>
            <a:off x="4007629" y="4462362"/>
            <a:ext cx="338554"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s</a:t>
            </a:r>
            <a:endParaRPr kumimoji="1" lang="ja-JP" altLang="en-US" sz="24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11A55560-23C0-A9E0-4E47-FFD37EB600C1}"/>
                  </a:ext>
                </a:extLst>
              </p:cNvPr>
              <p:cNvSpPr txBox="1"/>
              <p:nvPr/>
            </p:nvSpPr>
            <p:spPr>
              <a:xfrm>
                <a:off x="5553781" y="4508553"/>
                <a:ext cx="5891998" cy="498791"/>
              </a:xfrm>
              <a:prstGeom prst="rect">
                <a:avLst/>
              </a:prstGeom>
              <a:noFill/>
            </p:spPr>
            <p:txBody>
              <a:bodyPr wrap="none" rtlCol="0">
                <a:spAutoFit/>
              </a:bodyPr>
              <a:lstStyle/>
              <a:p>
                <a:r>
                  <a:rPr kumimoji="1" lang="en-US" altLang="ja-JP" sz="2400" dirty="0">
                    <a:latin typeface="メイリオ" panose="020B0604030504040204" pitchFamily="50" charset="-128"/>
                    <a:ea typeface="メイリオ" panose="020B0604030504040204" pitchFamily="50" charset="-128"/>
                  </a:rPr>
                  <a:t>p</a:t>
                </a:r>
                <a14:m>
                  <m:oMath xmlns:m="http://schemas.openxmlformats.org/officeDocument/2006/math">
                    <m:r>
                      <a:rPr kumimoji="1" lang="en-US" altLang="ja-JP" sz="2400" b="0" i="1" smtClean="0">
                        <a:latin typeface="Cambria Math" panose="02040503050406030204" pitchFamily="18" charset="0"/>
                        <a:ea typeface="メイリオ" panose="020B0604030504040204" pitchFamily="50" charset="-128"/>
                      </a:rPr>
                      <m:t>(</m:t>
                    </m:r>
                    <m:sSubSup>
                      <m:sSubSupPr>
                        <m:ctrlPr>
                          <a:rPr kumimoji="1" lang="en-US" altLang="ja-JP" sz="2400" b="0" i="1" smtClean="0">
                            <a:latin typeface="Cambria Math" panose="02040503050406030204" pitchFamily="18" charset="0"/>
                            <a:ea typeface="メイリオ" panose="020B0604030504040204" pitchFamily="50" charset="-128"/>
                          </a:rPr>
                        </m:ctrlPr>
                      </m:sSubSupPr>
                      <m:e>
                        <m:r>
                          <a:rPr kumimoji="1" lang="en-US" altLang="ja-JP" sz="2400" b="0" i="1" smtClean="0">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1</m:t>
                        </m:r>
                      </m:sub>
                      <m:sup>
                        <m:r>
                          <a:rPr kumimoji="1" lang="en-US" altLang="ja-JP" sz="2400" b="0" i="1" smtClean="0">
                            <a:latin typeface="Cambria Math" panose="02040503050406030204" pitchFamily="18" charset="0"/>
                            <a:ea typeface="メイリオ" panose="020B0604030504040204" pitchFamily="50" charset="-128"/>
                          </a:rPr>
                          <m:t>𝑝</m:t>
                        </m:r>
                      </m:sup>
                    </m:sSubSup>
                    <m:r>
                      <a:rPr kumimoji="1" lang="en-US" altLang="ja-JP" sz="2400" b="0" i="1" smtClean="0">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2</m:t>
                        </m:r>
                      </m:sub>
                      <m:sup>
                        <m:r>
                          <a:rPr kumimoji="1" lang="en-US" altLang="ja-JP" sz="2400" i="1">
                            <a:latin typeface="Cambria Math" panose="02040503050406030204" pitchFamily="18" charset="0"/>
                            <a:ea typeface="メイリオ" panose="020B0604030504040204" pitchFamily="50" charset="-128"/>
                          </a:rPr>
                          <m:t>𝑝</m:t>
                        </m:r>
                      </m:sup>
                    </m:sSubSup>
                  </m:oMath>
                </a14:m>
                <a:r>
                  <a:rPr kumimoji="1" lang="en-US" altLang="ja-JP" sz="2400" dirty="0">
                    <a:latin typeface="メイリオ" panose="020B0604030504040204" pitchFamily="50" charset="-128"/>
                    <a:ea typeface="メイリオ" panose="020B0604030504040204" pitchFamily="50" charset="-128"/>
                  </a:rPr>
                  <a:t>,</a:t>
                </a:r>
                <a:r>
                  <a:rPr kumimoji="1" lang="en-US" altLang="ja-JP" sz="2400" dirty="0">
                    <a:ea typeface="メイリオ" panose="020B0604030504040204" pitchFamily="50" charset="-128"/>
                  </a:rPr>
                  <a:t> </a:t>
                </a:r>
                <a14:m>
                  <m:oMath xmlns:m="http://schemas.openxmlformats.org/officeDocument/2006/math">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b="0" i="1" smtClean="0">
                            <a:latin typeface="Cambria Math" panose="02040503050406030204" pitchFamily="18" charset="0"/>
                            <a:ea typeface="メイリオ" panose="020B0604030504040204" pitchFamily="50" charset="-128"/>
                          </a:rPr>
                          <m:t>3</m:t>
                        </m:r>
                      </m:sub>
                      <m:sup>
                        <m:r>
                          <a:rPr kumimoji="1" lang="en-US" altLang="ja-JP" sz="2400" i="1">
                            <a:latin typeface="Cambria Math" panose="02040503050406030204" pitchFamily="18" charset="0"/>
                            <a:ea typeface="メイリオ" panose="020B0604030504040204" pitchFamily="50" charset="-128"/>
                          </a:rPr>
                          <m:t>𝑝</m:t>
                        </m:r>
                      </m:sup>
                    </m:sSubSup>
                    <m:r>
                      <a:rPr kumimoji="1" lang="en-US" altLang="ja-JP" sz="2400" i="1">
                        <a:latin typeface="Cambria Math" panose="02040503050406030204" pitchFamily="18" charset="0"/>
                        <a:ea typeface="メイリオ" panose="020B0604030504040204" pitchFamily="50" charset="-128"/>
                      </a:rPr>
                      <m:t> </m:t>
                    </m:r>
                    <m:r>
                      <a:rPr kumimoji="1" lang="en-US" altLang="ja-JP" sz="2400" b="0" i="1" smtClean="0">
                        <a:latin typeface="Cambria Math" panose="02040503050406030204" pitchFamily="18" charset="0"/>
                        <a:ea typeface="メイリオ" panose="020B0604030504040204" pitchFamily="50" charset="-128"/>
                      </a:rPr>
                      <m:t>)</m:t>
                    </m:r>
                  </m:oMath>
                </a14:m>
                <a:r>
                  <a:rPr kumimoji="1" lang="ja-JP" altLang="en-US" sz="2400" dirty="0">
                    <a:latin typeface="メイリオ" panose="020B0604030504040204" pitchFamily="50" charset="-128"/>
                    <a:ea typeface="メイリオ" panose="020B0604030504040204" pitchFamily="50" charset="-128"/>
                  </a:rPr>
                  <a:t>↔ｓ</a:t>
                </a:r>
                <a14:m>
                  <m:oMath xmlns:m="http://schemas.openxmlformats.org/officeDocument/2006/math">
                    <m:r>
                      <a:rPr kumimoji="1" lang="en-US" altLang="ja-JP" sz="2400" i="1">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1</m:t>
                        </m:r>
                      </m:sub>
                      <m:sup>
                        <m:r>
                          <a:rPr kumimoji="1" lang="en-US" altLang="ja-JP" sz="2400" b="0" i="1" smtClean="0">
                            <a:latin typeface="Cambria Math" panose="02040503050406030204" pitchFamily="18" charset="0"/>
                            <a:ea typeface="メイリオ" panose="020B0604030504040204" pitchFamily="50" charset="-128"/>
                          </a:rPr>
                          <m:t>𝑠</m:t>
                        </m:r>
                      </m:sup>
                    </m:sSubSup>
                    <m:r>
                      <a:rPr kumimoji="1" lang="en-US" altLang="ja-JP" sz="2400" i="1">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2</m:t>
                        </m:r>
                      </m:sub>
                      <m:sup>
                        <m:r>
                          <a:rPr kumimoji="1" lang="en-US" altLang="ja-JP" sz="2400" b="0" i="1" smtClean="0">
                            <a:latin typeface="Cambria Math" panose="02040503050406030204" pitchFamily="18" charset="0"/>
                            <a:ea typeface="メイリオ" panose="020B0604030504040204" pitchFamily="50" charset="-128"/>
                          </a:rPr>
                          <m:t>𝑠</m:t>
                        </m:r>
                      </m:sup>
                    </m:sSubSup>
                  </m:oMath>
                </a14:m>
                <a:r>
                  <a:rPr kumimoji="1" lang="en-US" altLang="ja-JP" sz="2400" dirty="0">
                    <a:latin typeface="メイリオ" panose="020B0604030504040204" pitchFamily="50" charset="-128"/>
                    <a:ea typeface="メイリオ" panose="020B0604030504040204" pitchFamily="50" charset="-128"/>
                  </a:rPr>
                  <a:t>,</a:t>
                </a:r>
                <a:r>
                  <a:rPr kumimoji="1" lang="en-US" altLang="ja-JP" sz="2400" dirty="0">
                    <a:ea typeface="メイリオ" panose="020B0604030504040204" pitchFamily="50" charset="-128"/>
                  </a:rPr>
                  <a:t> </a:t>
                </a:r>
                <a14:m>
                  <m:oMath xmlns:m="http://schemas.openxmlformats.org/officeDocument/2006/math">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3</m:t>
                        </m:r>
                      </m:sub>
                      <m:sup>
                        <m:r>
                          <a:rPr kumimoji="1" lang="en-US" altLang="ja-JP" sz="2400" b="0" i="1" smtClean="0">
                            <a:latin typeface="Cambria Math" panose="02040503050406030204" pitchFamily="18" charset="0"/>
                            <a:ea typeface="メイリオ" panose="020B0604030504040204" pitchFamily="50" charset="-128"/>
                          </a:rPr>
                          <m:t>𝑠</m:t>
                        </m:r>
                      </m:sup>
                    </m:sSubSup>
                    <m:r>
                      <a:rPr kumimoji="1" lang="en-US" altLang="ja-JP" sz="2400" i="1">
                        <a:latin typeface="Cambria Math" panose="02040503050406030204" pitchFamily="18" charset="0"/>
                        <a:ea typeface="メイリオ" panose="020B0604030504040204" pitchFamily="50" charset="-128"/>
                      </a:rPr>
                      <m:t> )</m:t>
                    </m:r>
                  </m:oMath>
                </a14:m>
                <a:r>
                  <a:rPr kumimoji="1" lang="ja-JP" altLang="en-US" sz="2400" dirty="0">
                    <a:latin typeface="メイリオ" panose="020B0604030504040204" pitchFamily="50" charset="-128"/>
                    <a:ea typeface="メイリオ" panose="020B0604030504040204" pitchFamily="50" charset="-128"/>
                  </a:rPr>
                  <a:t>の距離計算</a:t>
                </a:r>
              </a:p>
            </p:txBody>
          </p:sp>
        </mc:Choice>
        <mc:Fallback xmlns="">
          <p:sp>
            <p:nvSpPr>
              <p:cNvPr id="58" name="テキスト ボックス 57">
                <a:extLst>
                  <a:ext uri="{FF2B5EF4-FFF2-40B4-BE49-F238E27FC236}">
                    <a16:creationId xmlns:a16="http://schemas.microsoft.com/office/drawing/2014/main" id="{11A55560-23C0-A9E0-4E47-FFD37EB600C1}"/>
                  </a:ext>
                </a:extLst>
              </p:cNvPr>
              <p:cNvSpPr txBox="1">
                <a:spLocks noRot="1" noChangeAspect="1" noMove="1" noResize="1" noEditPoints="1" noAdjustHandles="1" noChangeArrowheads="1" noChangeShapeType="1" noTextEdit="1"/>
              </p:cNvSpPr>
              <p:nvPr/>
            </p:nvSpPr>
            <p:spPr>
              <a:xfrm>
                <a:off x="5553781" y="4508553"/>
                <a:ext cx="5891998" cy="498791"/>
              </a:xfrm>
              <a:prstGeom prst="rect">
                <a:avLst/>
              </a:prstGeom>
              <a:blipFill>
                <a:blip r:embed="rId5"/>
                <a:stretch>
                  <a:fillRect l="-1551" t="-1235" b="-296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0" name="テキスト ボックス 59">
                <a:extLst>
                  <a:ext uri="{FF2B5EF4-FFF2-40B4-BE49-F238E27FC236}">
                    <a16:creationId xmlns:a16="http://schemas.microsoft.com/office/drawing/2014/main" id="{87067A98-9C3D-A7C4-7F60-4054D4D39CA8}"/>
                  </a:ext>
                </a:extLst>
              </p:cNvPr>
              <p:cNvSpPr txBox="1"/>
              <p:nvPr/>
            </p:nvSpPr>
            <p:spPr>
              <a:xfrm>
                <a:off x="5689756" y="5054104"/>
                <a:ext cx="5418984" cy="7515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kumimoji="1" lang="ja-JP" altLang="en-US" sz="2400" i="1" smtClean="0">
                              <a:latin typeface="Cambria Math" panose="02040503050406030204" pitchFamily="18" charset="0"/>
                              <a:ea typeface="メイリオ" panose="020B0604030504040204" pitchFamily="50" charset="-128"/>
                            </a:rPr>
                          </m:ctrlPr>
                        </m:radPr>
                        <m:deg/>
                        <m:e>
                          <m:r>
                            <a:rPr kumimoji="1" lang="en-US" altLang="ja-JP" sz="2400" i="1">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1</m:t>
                              </m:r>
                            </m:sub>
                            <m:sup>
                              <m:r>
                                <a:rPr kumimoji="1" lang="en-US" altLang="ja-JP" sz="2400" i="1">
                                  <a:latin typeface="Cambria Math" panose="02040503050406030204" pitchFamily="18" charset="0"/>
                                  <a:ea typeface="メイリオ" panose="020B0604030504040204" pitchFamily="50" charset="-128"/>
                                </a:rPr>
                                <m:t>𝑝</m:t>
                              </m:r>
                            </m:sup>
                          </m:sSubSup>
                          <m:r>
                            <a:rPr kumimoji="1" lang="en-US" altLang="ja-JP" sz="2400" i="1">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1</m:t>
                              </m:r>
                            </m:sub>
                            <m:sup>
                              <m:r>
                                <a:rPr kumimoji="1" lang="en-US" altLang="ja-JP" sz="2400" i="1">
                                  <a:latin typeface="Cambria Math" panose="02040503050406030204" pitchFamily="18" charset="0"/>
                                  <a:ea typeface="メイリオ" panose="020B0604030504040204" pitchFamily="50" charset="-128"/>
                                </a:rPr>
                                <m:t>𝑠</m:t>
                              </m:r>
                            </m:sup>
                          </m:sSubSup>
                          <m:sSup>
                            <m:sSupPr>
                              <m:ctrlPr>
                                <a:rPr kumimoji="1" lang="en-US" altLang="ja-JP" sz="2400" i="1">
                                  <a:latin typeface="Cambria Math" panose="02040503050406030204" pitchFamily="18" charset="0"/>
                                  <a:ea typeface="メイリオ" panose="020B0604030504040204" pitchFamily="50" charset="-128"/>
                                </a:rPr>
                              </m:ctrlPr>
                            </m:sSupPr>
                            <m:e>
                              <m:r>
                                <a:rPr kumimoji="1" lang="en-US" altLang="ja-JP" sz="2400" i="1">
                                  <a:latin typeface="Cambria Math" panose="02040503050406030204" pitchFamily="18" charset="0"/>
                                  <a:ea typeface="メイリオ" panose="020B0604030504040204" pitchFamily="50" charset="-128"/>
                                </a:rPr>
                                <m:t>)</m:t>
                              </m:r>
                            </m:e>
                            <m:sup>
                              <m:r>
                                <a:rPr kumimoji="1" lang="en-US" altLang="ja-JP" sz="2400" i="1">
                                  <a:latin typeface="Cambria Math" panose="02040503050406030204" pitchFamily="18" charset="0"/>
                                  <a:ea typeface="メイリオ" panose="020B0604030504040204" pitchFamily="50" charset="-128"/>
                                </a:rPr>
                                <m:t>2</m:t>
                              </m:r>
                            </m:sup>
                          </m:sSup>
                          <m:r>
                            <a:rPr kumimoji="1" lang="en-US" altLang="ja-JP" sz="2400" i="1">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2</m:t>
                              </m:r>
                            </m:sub>
                            <m:sup>
                              <m:r>
                                <a:rPr kumimoji="1" lang="en-US" altLang="ja-JP" sz="2400" i="1">
                                  <a:latin typeface="Cambria Math" panose="02040503050406030204" pitchFamily="18" charset="0"/>
                                  <a:ea typeface="メイリオ" panose="020B0604030504040204" pitchFamily="50" charset="-128"/>
                                </a:rPr>
                                <m:t>𝑝</m:t>
                              </m:r>
                            </m:sup>
                          </m:sSubSup>
                          <m:r>
                            <a:rPr kumimoji="1" lang="en-US" altLang="ja-JP" sz="2400" i="1">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2</m:t>
                              </m:r>
                            </m:sub>
                            <m:sup>
                              <m:r>
                                <a:rPr kumimoji="1" lang="en-US" altLang="ja-JP" sz="2400" i="1">
                                  <a:latin typeface="Cambria Math" panose="02040503050406030204" pitchFamily="18" charset="0"/>
                                  <a:ea typeface="メイリオ" panose="020B0604030504040204" pitchFamily="50" charset="-128"/>
                                </a:rPr>
                                <m:t>𝑠</m:t>
                              </m:r>
                            </m:sup>
                          </m:sSubSup>
                          <m:sSup>
                            <m:sSupPr>
                              <m:ctrlPr>
                                <a:rPr kumimoji="1" lang="en-US" altLang="ja-JP" sz="2400" i="1">
                                  <a:latin typeface="Cambria Math" panose="02040503050406030204" pitchFamily="18" charset="0"/>
                                  <a:ea typeface="メイリオ" panose="020B0604030504040204" pitchFamily="50" charset="-128"/>
                                </a:rPr>
                              </m:ctrlPr>
                            </m:sSupPr>
                            <m:e>
                              <m:r>
                                <a:rPr kumimoji="1" lang="en-US" altLang="ja-JP" sz="2400" i="1">
                                  <a:latin typeface="Cambria Math" panose="02040503050406030204" pitchFamily="18" charset="0"/>
                                  <a:ea typeface="メイリオ" panose="020B0604030504040204" pitchFamily="50" charset="-128"/>
                                </a:rPr>
                                <m:t>)</m:t>
                              </m:r>
                            </m:e>
                            <m:sup>
                              <m:r>
                                <a:rPr kumimoji="1" lang="en-US" altLang="ja-JP" sz="2400" i="1">
                                  <a:latin typeface="Cambria Math" panose="02040503050406030204" pitchFamily="18" charset="0"/>
                                  <a:ea typeface="メイリオ" panose="020B0604030504040204" pitchFamily="50" charset="-128"/>
                                </a:rPr>
                                <m:t>2</m:t>
                              </m:r>
                            </m:sup>
                          </m:sSup>
                          <m:r>
                            <a:rPr kumimoji="1" lang="en-US" altLang="ja-JP" sz="2400" i="1">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3</m:t>
                              </m:r>
                            </m:sub>
                            <m:sup>
                              <m:r>
                                <a:rPr kumimoji="1" lang="en-US" altLang="ja-JP" sz="2400" i="1">
                                  <a:latin typeface="Cambria Math" panose="02040503050406030204" pitchFamily="18" charset="0"/>
                                  <a:ea typeface="メイリオ" panose="020B0604030504040204" pitchFamily="50" charset="-128"/>
                                </a:rPr>
                                <m:t>𝑝</m:t>
                              </m:r>
                            </m:sup>
                          </m:sSubSup>
                          <m:r>
                            <a:rPr kumimoji="1" lang="en-US" altLang="ja-JP" sz="2400" i="1">
                              <a:latin typeface="Cambria Math" panose="02040503050406030204" pitchFamily="18" charset="0"/>
                              <a:ea typeface="メイリオ" panose="020B0604030504040204" pitchFamily="50" charset="-128"/>
                            </a:rPr>
                            <m:t>−</m:t>
                          </m:r>
                          <m:sSubSup>
                            <m:sSubSupPr>
                              <m:ctrlPr>
                                <a:rPr kumimoji="1" lang="en-US" altLang="ja-JP" sz="2400" i="1">
                                  <a:latin typeface="Cambria Math" panose="02040503050406030204" pitchFamily="18" charset="0"/>
                                  <a:ea typeface="メイリオ" panose="020B0604030504040204" pitchFamily="50" charset="-128"/>
                                </a:rPr>
                              </m:ctrlPr>
                            </m:sSubSupPr>
                            <m:e>
                              <m:r>
                                <a:rPr kumimoji="1" lang="en-US" altLang="ja-JP" sz="2400" i="1">
                                  <a:latin typeface="Cambria Math" panose="02040503050406030204" pitchFamily="18" charset="0"/>
                                  <a:ea typeface="メイリオ" panose="020B0604030504040204" pitchFamily="50" charset="-128"/>
                                </a:rPr>
                                <m:t>𝑥</m:t>
                              </m:r>
                            </m:e>
                            <m:sub>
                              <m:r>
                                <a:rPr kumimoji="1" lang="en-US" altLang="ja-JP" sz="2400" i="1">
                                  <a:latin typeface="Cambria Math" panose="02040503050406030204" pitchFamily="18" charset="0"/>
                                  <a:ea typeface="メイリオ" panose="020B0604030504040204" pitchFamily="50" charset="-128"/>
                                </a:rPr>
                                <m:t>3</m:t>
                              </m:r>
                            </m:sub>
                            <m:sup>
                              <m:r>
                                <a:rPr kumimoji="1" lang="en-US" altLang="ja-JP" sz="2400" i="1">
                                  <a:latin typeface="Cambria Math" panose="02040503050406030204" pitchFamily="18" charset="0"/>
                                  <a:ea typeface="メイリオ" panose="020B0604030504040204" pitchFamily="50" charset="-128"/>
                                </a:rPr>
                                <m:t>𝑠</m:t>
                              </m:r>
                            </m:sup>
                          </m:sSubSup>
                          <m:sSup>
                            <m:sSupPr>
                              <m:ctrlPr>
                                <a:rPr kumimoji="1" lang="en-US" altLang="ja-JP" sz="2400" i="1">
                                  <a:latin typeface="Cambria Math" panose="02040503050406030204" pitchFamily="18" charset="0"/>
                                  <a:ea typeface="メイリオ" panose="020B0604030504040204" pitchFamily="50" charset="-128"/>
                                </a:rPr>
                              </m:ctrlPr>
                            </m:sSupPr>
                            <m:e>
                              <m:r>
                                <a:rPr kumimoji="1" lang="en-US" altLang="ja-JP" sz="2400" i="1">
                                  <a:latin typeface="Cambria Math" panose="02040503050406030204" pitchFamily="18" charset="0"/>
                                  <a:ea typeface="メイリオ" panose="020B0604030504040204" pitchFamily="50" charset="-128"/>
                                </a:rPr>
                                <m:t>)</m:t>
                              </m:r>
                            </m:e>
                            <m:sup>
                              <m:r>
                                <a:rPr kumimoji="1" lang="en-US" altLang="ja-JP" sz="2400" i="1">
                                  <a:latin typeface="Cambria Math" panose="02040503050406030204" pitchFamily="18" charset="0"/>
                                  <a:ea typeface="メイリオ" panose="020B0604030504040204" pitchFamily="50" charset="-128"/>
                                </a:rPr>
                                <m:t>2</m:t>
                              </m:r>
                            </m:sup>
                          </m:sSup>
                          <m:r>
                            <m:rPr>
                              <m:nor/>
                            </m:rPr>
                            <a:rPr kumimoji="1" lang="ja-JP" altLang="en-US" sz="2400" dirty="0">
                              <a:latin typeface="メイリオ" panose="020B0604030504040204" pitchFamily="50" charset="-128"/>
                              <a:ea typeface="メイリオ" panose="020B0604030504040204" pitchFamily="50" charset="-128"/>
                            </a:rPr>
                            <m:t> </m:t>
                          </m:r>
                        </m:e>
                      </m:rad>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60" name="テキスト ボックス 59">
                <a:extLst>
                  <a:ext uri="{FF2B5EF4-FFF2-40B4-BE49-F238E27FC236}">
                    <a16:creationId xmlns:a16="http://schemas.microsoft.com/office/drawing/2014/main" id="{87067A98-9C3D-A7C4-7F60-4054D4D39CA8}"/>
                  </a:ext>
                </a:extLst>
              </p:cNvPr>
              <p:cNvSpPr txBox="1">
                <a:spLocks noRot="1" noChangeAspect="1" noMove="1" noResize="1" noEditPoints="1" noAdjustHandles="1" noChangeArrowheads="1" noChangeShapeType="1" noTextEdit="1"/>
              </p:cNvSpPr>
              <p:nvPr/>
            </p:nvSpPr>
            <p:spPr>
              <a:xfrm>
                <a:off x="5689756" y="5054104"/>
                <a:ext cx="5418984" cy="751552"/>
              </a:xfrm>
              <a:prstGeom prst="rect">
                <a:avLst/>
              </a:prstGeom>
              <a:blipFill>
                <a:blip r:embed="rId6"/>
                <a:stretch>
                  <a:fillRect b="-813"/>
                </a:stretch>
              </a:blipFill>
            </p:spPr>
            <p:txBody>
              <a:bodyPr/>
              <a:lstStyle/>
              <a:p>
                <a:r>
                  <a:rPr lang="ja-JP" altLang="en-US">
                    <a:noFill/>
                  </a:rPr>
                  <a:t> </a:t>
                </a:r>
              </a:p>
            </p:txBody>
          </p:sp>
        </mc:Fallback>
      </mc:AlternateContent>
      <p:sp>
        <p:nvSpPr>
          <p:cNvPr id="61" name="テキスト ボックス 60">
            <a:extLst>
              <a:ext uri="{FF2B5EF4-FFF2-40B4-BE49-F238E27FC236}">
                <a16:creationId xmlns:a16="http://schemas.microsoft.com/office/drawing/2014/main" id="{201A4C7F-8FFE-8084-60A3-014042F05C30}"/>
              </a:ext>
            </a:extLst>
          </p:cNvPr>
          <p:cNvSpPr txBox="1"/>
          <p:nvPr/>
        </p:nvSpPr>
        <p:spPr>
          <a:xfrm>
            <a:off x="7462021" y="5803172"/>
            <a:ext cx="4210576" cy="369332"/>
          </a:xfrm>
          <a:prstGeom prst="rect">
            <a:avLst/>
          </a:prstGeom>
          <a:noFill/>
        </p:spPr>
        <p:txBody>
          <a:bodyPr wrap="square" rtlCol="0">
            <a:spAutoFit/>
          </a:bodyPr>
          <a:lstStyle/>
          <a:p>
            <a:pPr marL="342900" indent="-342900" algn="l">
              <a:buFont typeface="Wingdings" panose="05000000000000000000" pitchFamily="2" charset="2"/>
              <a:buChar char="l"/>
            </a:pPr>
            <a:r>
              <a:rPr kumimoji="1" lang="ja-JP" altLang="en-US" dirty="0">
                <a:latin typeface="メイリオ" panose="020B0604030504040204" pitchFamily="50" charset="-128"/>
                <a:ea typeface="メイリオ" panose="020B0604030504040204" pitchFamily="50" charset="-128"/>
              </a:rPr>
              <a:t>実際は、</a:t>
            </a:r>
            <a:r>
              <a:rPr kumimoji="1" lang="en-US" altLang="ja-JP" dirty="0">
                <a:latin typeface="メイリオ" panose="020B0604030504040204" pitchFamily="50" charset="-128"/>
                <a:ea typeface="メイリオ" panose="020B0604030504040204" pitchFamily="50" charset="-128"/>
              </a:rPr>
              <a:t>4200</a:t>
            </a:r>
            <a:r>
              <a:rPr kumimoji="1" lang="ja-JP" altLang="en-US" dirty="0">
                <a:latin typeface="メイリオ" panose="020B0604030504040204" pitchFamily="50" charset="-128"/>
                <a:ea typeface="メイリオ" panose="020B0604030504040204" pitchFamily="50" charset="-128"/>
              </a:rPr>
              <a:t>次元での距離計算</a:t>
            </a:r>
            <a:endParaRPr kumimoji="1"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174945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9C364FB-58F6-D040-ACA5-72524A8636DC}"/>
              </a:ext>
            </a:extLst>
          </p:cNvPr>
          <p:cNvSpPr txBox="1"/>
          <p:nvPr/>
        </p:nvSpPr>
        <p:spPr>
          <a:xfrm>
            <a:off x="415635" y="1691835"/>
            <a:ext cx="11776365"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vectorizer = </a:t>
            </a:r>
            <a:r>
              <a:rPr kumimoji="1" lang="en-US" altLang="ja-JP" sz="2400" dirty="0" err="1">
                <a:latin typeface="メイリオ" panose="020B0604030504040204" pitchFamily="50" charset="-128"/>
                <a:ea typeface="メイリオ" panose="020B0604030504040204" pitchFamily="50" charset="-128"/>
              </a:rPr>
              <a:t>CountVectorizer</a:t>
            </a:r>
            <a:r>
              <a:rPr kumimoji="1" lang="en-US" altLang="ja-JP" sz="2400" dirty="0">
                <a:latin typeface="メイリオ" panose="020B0604030504040204" pitchFamily="50" charset="-128"/>
                <a:ea typeface="メイリオ" panose="020B0604030504040204" pitchFamily="50" charset="-128"/>
              </a:rPr>
              <a:t>(tokenizer=</a:t>
            </a:r>
            <a:r>
              <a:rPr kumimoji="1" lang="en-US" altLang="ja-JP" sz="2400" dirty="0" err="1">
                <a:latin typeface="メイリオ" panose="020B0604030504040204" pitchFamily="50" charset="-128"/>
                <a:ea typeface="メイリオ" panose="020B0604030504040204" pitchFamily="50" charset="-128"/>
              </a:rPr>
              <a:t>tokenize,min_df</a:t>
            </a:r>
            <a:r>
              <a:rPr kumimoji="1" lang="en-US" altLang="ja-JP" sz="2400" dirty="0">
                <a:latin typeface="メイリオ" panose="020B0604030504040204" pitchFamily="50" charset="-128"/>
                <a:ea typeface="メイリオ" panose="020B0604030504040204" pitchFamily="50" charset="-128"/>
              </a:rPr>
              <a:t>=0.05, </a:t>
            </a:r>
            <a:r>
              <a:rPr kumimoji="1" lang="en-US" altLang="ja-JP" sz="2400" dirty="0" err="1">
                <a:latin typeface="メイリオ" panose="020B0604030504040204" pitchFamily="50" charset="-128"/>
                <a:ea typeface="メイリオ" panose="020B0604030504040204" pitchFamily="50" charset="-128"/>
              </a:rPr>
              <a:t>max_df</a:t>
            </a:r>
            <a:r>
              <a:rPr kumimoji="1" lang="en-US" altLang="ja-JP" sz="2400" dirty="0">
                <a:latin typeface="メイリオ" panose="020B0604030504040204" pitchFamily="50" charset="-128"/>
                <a:ea typeface="メイリオ" panose="020B0604030504040204" pitchFamily="50" charset="-128"/>
              </a:rPr>
              <a:t>=0.5)</a:t>
            </a:r>
            <a:endParaRPr kumimoji="1" lang="ja-JP" altLang="en-US" sz="2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51C324CC-7792-ADE2-496E-D4074B8AD393}"/>
              </a:ext>
            </a:extLst>
          </p:cNvPr>
          <p:cNvSpPr txBox="1"/>
          <p:nvPr/>
        </p:nvSpPr>
        <p:spPr>
          <a:xfrm>
            <a:off x="494523" y="2544263"/>
            <a:ext cx="11346376" cy="646331"/>
          </a:xfrm>
          <a:prstGeom prst="rect">
            <a:avLst/>
          </a:prstGeom>
          <a:noFill/>
        </p:spPr>
        <p:txBody>
          <a:bodyPr wrap="none" rtlCol="0">
            <a:spAutoFit/>
          </a:bodyPr>
          <a:lstStyle/>
          <a:p>
            <a:pPr algn="l"/>
            <a:r>
              <a:rPr kumimoji="1" lang="en-US" altLang="ja-JP" dirty="0" err="1">
                <a:latin typeface="メイリオ" panose="020B0604030504040204" pitchFamily="50" charset="-128"/>
                <a:ea typeface="メイリオ" panose="020B0604030504040204" pitchFamily="50" charset="-128"/>
              </a:rPr>
              <a:t>min_df</a:t>
            </a:r>
            <a:r>
              <a:rPr kumimoji="1" lang="en-US" altLang="ja-JP" dirty="0">
                <a:latin typeface="メイリオ" panose="020B0604030504040204" pitchFamily="50" charset="-128"/>
                <a:ea typeface="メイリオ" panose="020B0604030504040204" pitchFamily="50" charset="-128"/>
              </a:rPr>
              <a:t> : </a:t>
            </a:r>
            <a:r>
              <a:rPr kumimoji="1" lang="ja-JP" altLang="en-US" dirty="0">
                <a:latin typeface="メイリオ" panose="020B0604030504040204" pitchFamily="50" charset="-128"/>
                <a:ea typeface="メイリオ" panose="020B0604030504040204" pitchFamily="50" charset="-128"/>
              </a:rPr>
              <a:t>低頻度語彙のフィルタリング　文書（口コミ）数の</a:t>
            </a:r>
            <a:r>
              <a:rPr kumimoji="1" lang="en-US" altLang="ja-JP" dirty="0">
                <a:latin typeface="メイリオ" panose="020B0604030504040204" pitchFamily="50" charset="-128"/>
                <a:ea typeface="メイリオ" panose="020B0604030504040204" pitchFamily="50" charset="-128"/>
              </a:rPr>
              <a:t>0.05 </a:t>
            </a:r>
            <a:r>
              <a:rPr kumimoji="1" lang="ja-JP" altLang="en-US" dirty="0">
                <a:latin typeface="メイリオ" panose="020B0604030504040204" pitchFamily="50" charset="-128"/>
                <a:ea typeface="メイリオ" panose="020B0604030504040204" pitchFamily="50" charset="-128"/>
              </a:rPr>
              <a:t>以下の低頻度語彙はカット</a:t>
            </a:r>
          </a:p>
          <a:p>
            <a:pPr algn="l"/>
            <a:r>
              <a:rPr kumimoji="1" lang="en-US" altLang="ja-JP" dirty="0" err="1">
                <a:latin typeface="メイリオ" panose="020B0604030504040204" pitchFamily="50" charset="-128"/>
                <a:ea typeface="メイリオ" panose="020B0604030504040204" pitchFamily="50" charset="-128"/>
              </a:rPr>
              <a:t>max_df</a:t>
            </a:r>
            <a:r>
              <a:rPr kumimoji="1" lang="en-US" altLang="ja-JP" dirty="0">
                <a:latin typeface="メイリオ" panose="020B0604030504040204" pitchFamily="50" charset="-128"/>
                <a:ea typeface="メイリオ" panose="020B0604030504040204" pitchFamily="50" charset="-128"/>
              </a:rPr>
              <a:t> : </a:t>
            </a:r>
            <a:r>
              <a:rPr kumimoji="1" lang="ja-JP" altLang="en-US" dirty="0">
                <a:latin typeface="メイリオ" panose="020B0604030504040204" pitchFamily="50" charset="-128"/>
                <a:ea typeface="メイリオ" panose="020B0604030504040204" pitchFamily="50" charset="-128"/>
              </a:rPr>
              <a:t>汎用語彙のフィルタリング　文書（口コミ）数の</a:t>
            </a:r>
            <a:r>
              <a:rPr kumimoji="1" lang="en-US" altLang="ja-JP" dirty="0">
                <a:latin typeface="メイリオ" panose="020B0604030504040204" pitchFamily="50" charset="-128"/>
                <a:ea typeface="メイリオ" panose="020B0604030504040204" pitchFamily="50" charset="-128"/>
              </a:rPr>
              <a:t>0.5</a:t>
            </a:r>
            <a:r>
              <a:rPr kumimoji="1" lang="ja-JP" altLang="en-US" dirty="0">
                <a:latin typeface="メイリオ" panose="020B0604030504040204" pitchFamily="50" charset="-128"/>
                <a:ea typeface="メイリオ" panose="020B0604030504040204" pitchFamily="50" charset="-128"/>
              </a:rPr>
              <a:t>以上出現するようなありふれた語彙はカット</a:t>
            </a:r>
          </a:p>
        </p:txBody>
      </p:sp>
      <p:sp>
        <p:nvSpPr>
          <p:cNvPr id="7" name="テキスト ボックス 6">
            <a:extLst>
              <a:ext uri="{FF2B5EF4-FFF2-40B4-BE49-F238E27FC236}">
                <a16:creationId xmlns:a16="http://schemas.microsoft.com/office/drawing/2014/main" id="{D3EA6B3E-B4CD-3C27-4B8A-CD249267B018}"/>
              </a:ext>
            </a:extLst>
          </p:cNvPr>
          <p:cNvSpPr txBox="1"/>
          <p:nvPr/>
        </p:nvSpPr>
        <p:spPr>
          <a:xfrm>
            <a:off x="578499" y="3667407"/>
            <a:ext cx="2895344" cy="523220"/>
          </a:xfrm>
          <a:prstGeom prst="rect">
            <a:avLst/>
          </a:prstGeom>
          <a:noFill/>
        </p:spPr>
        <p:txBody>
          <a:bodyPr wrap="none" rtlCol="0">
            <a:spAutoFit/>
          </a:bodyPr>
          <a:lstStyle/>
          <a:p>
            <a:pPr algn="l"/>
            <a:r>
              <a:rPr kumimoji="1" lang="ja-JP" altLang="en-US" sz="2800" dirty="0">
                <a:latin typeface="メイリオ" panose="020B0604030504040204" pitchFamily="50" charset="-128"/>
                <a:ea typeface="メイリオ" panose="020B0604030504040204" pitchFamily="50" charset="-128"/>
              </a:rPr>
              <a:t>判別精度　</a:t>
            </a:r>
            <a:r>
              <a:rPr kumimoji="1" lang="en-US" altLang="ja-JP" sz="2800" dirty="0">
                <a:latin typeface="メイリオ" panose="020B0604030504040204" pitchFamily="50" charset="-128"/>
                <a:ea typeface="メイリオ" panose="020B0604030504040204" pitchFamily="50" charset="-128"/>
              </a:rPr>
              <a:t>0.70 </a:t>
            </a:r>
            <a:endParaRPr kumimoji="1" lang="ja-JP" altLang="en-US" sz="28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2696520E-04C6-9477-4929-7F90E2EA12B6}"/>
              </a:ext>
            </a:extLst>
          </p:cNvPr>
          <p:cNvSpPr txBox="1"/>
          <p:nvPr/>
        </p:nvSpPr>
        <p:spPr>
          <a:xfrm>
            <a:off x="3813850" y="3873850"/>
            <a:ext cx="2031325" cy="369332"/>
          </a:xfrm>
          <a:prstGeom prst="rect">
            <a:avLst/>
          </a:prstGeom>
          <a:noFill/>
        </p:spPr>
        <p:txBody>
          <a:bodyPr wrap="none" rtlCol="0">
            <a:spAutoFit/>
          </a:bodyPr>
          <a:lstStyle/>
          <a:p>
            <a:pPr algn="l"/>
            <a:r>
              <a:rPr kumimoji="1" lang="ja-JP" altLang="en-US" dirty="0">
                <a:latin typeface="メイリオ" panose="020B0604030504040204" pitchFamily="50" charset="-128"/>
                <a:ea typeface="メイリオ" panose="020B0604030504040204" pitchFamily="50" charset="-128"/>
              </a:rPr>
              <a:t>相当向上するはず</a:t>
            </a:r>
          </a:p>
        </p:txBody>
      </p:sp>
      <p:sp>
        <p:nvSpPr>
          <p:cNvPr id="2" name="テキスト ボックス 1">
            <a:extLst>
              <a:ext uri="{FF2B5EF4-FFF2-40B4-BE49-F238E27FC236}">
                <a16:creationId xmlns:a16="http://schemas.microsoft.com/office/drawing/2014/main" id="{22737CC7-DC05-1BF4-9C9A-204283FB491A}"/>
              </a:ext>
            </a:extLst>
          </p:cNvPr>
          <p:cNvSpPr txBox="1"/>
          <p:nvPr/>
        </p:nvSpPr>
        <p:spPr>
          <a:xfrm>
            <a:off x="671804" y="447869"/>
            <a:ext cx="80021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続き</a:t>
            </a:r>
          </a:p>
        </p:txBody>
      </p:sp>
      <p:sp>
        <p:nvSpPr>
          <p:cNvPr id="3" name="テキスト ボックス 2">
            <a:extLst>
              <a:ext uri="{FF2B5EF4-FFF2-40B4-BE49-F238E27FC236}">
                <a16:creationId xmlns:a16="http://schemas.microsoft.com/office/drawing/2014/main" id="{5F91D18A-F328-474C-32BA-0ADD62327825}"/>
              </a:ext>
            </a:extLst>
          </p:cNvPr>
          <p:cNvSpPr txBox="1"/>
          <p:nvPr/>
        </p:nvSpPr>
        <p:spPr>
          <a:xfrm>
            <a:off x="494523" y="1008579"/>
            <a:ext cx="480131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実装して結果を確認する（演習）</a:t>
            </a:r>
          </a:p>
        </p:txBody>
      </p:sp>
    </p:spTree>
    <p:extLst>
      <p:ext uri="{BB962C8B-B14F-4D97-AF65-F5344CB8AC3E}">
        <p14:creationId xmlns:p14="http://schemas.microsoft.com/office/powerpoint/2010/main" val="3891752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6AD2C0F-FD23-FF2A-7435-FF3A0CDF6C6E}"/>
              </a:ext>
            </a:extLst>
          </p:cNvPr>
          <p:cNvSpPr txBox="1"/>
          <p:nvPr/>
        </p:nvSpPr>
        <p:spPr>
          <a:xfrm>
            <a:off x="238750" y="422603"/>
            <a:ext cx="8443337" cy="523220"/>
          </a:xfrm>
          <a:prstGeom prst="rect">
            <a:avLst/>
          </a:prstGeom>
          <a:noFill/>
        </p:spPr>
        <p:txBody>
          <a:bodyPr wrap="none" rtlCol="0">
            <a:spAutoFit/>
          </a:bodyPr>
          <a:lstStyle/>
          <a:p>
            <a:pPr algn="l"/>
            <a:r>
              <a:rPr kumimoji="1" lang="ja-JP" altLang="en-US" sz="2800" dirty="0">
                <a:latin typeface="メイリオ" panose="020B0604030504040204" pitchFamily="50" charset="-128"/>
                <a:ea typeface="メイリオ" panose="020B0604030504040204" pitchFamily="50" charset="-128"/>
              </a:rPr>
              <a:t>料理に固有な語彙を際立たせたい（重みを付ける）</a:t>
            </a:r>
          </a:p>
        </p:txBody>
      </p:sp>
      <p:sp>
        <p:nvSpPr>
          <p:cNvPr id="5" name="テキスト ボックス 4">
            <a:extLst>
              <a:ext uri="{FF2B5EF4-FFF2-40B4-BE49-F238E27FC236}">
                <a16:creationId xmlns:a16="http://schemas.microsoft.com/office/drawing/2014/main" id="{618F5432-F3D6-8977-C48B-94489DB01003}"/>
              </a:ext>
            </a:extLst>
          </p:cNvPr>
          <p:cNvSpPr txBox="1"/>
          <p:nvPr/>
        </p:nvSpPr>
        <p:spPr>
          <a:xfrm>
            <a:off x="336955" y="1130432"/>
            <a:ext cx="9996488" cy="461665"/>
          </a:xfrm>
          <a:prstGeom prst="rect">
            <a:avLst/>
          </a:prstGeom>
          <a:noFill/>
        </p:spPr>
        <p:txBody>
          <a:bodyPr wrap="square">
            <a:spAutoFit/>
          </a:bodyPr>
          <a:lstStyle/>
          <a:p>
            <a:r>
              <a:rPr lang="ja-JP" altLang="en-US" sz="2400" dirty="0"/>
              <a:t>例：</a:t>
            </a:r>
            <a:r>
              <a:rPr lang="en-US" altLang="ja-JP" sz="2400" dirty="0"/>
              <a:t>”</a:t>
            </a:r>
            <a:r>
              <a:rPr lang="ja-JP" altLang="en-US" sz="2400" dirty="0"/>
              <a:t>お砂糖は控え目、カラメルがほろ苦。生クリームをトッピング</a:t>
            </a:r>
            <a:r>
              <a:rPr lang="en-US" altLang="ja-JP" sz="2400" dirty="0"/>
              <a:t>”</a:t>
            </a:r>
            <a:endParaRPr lang="ja-JP" altLang="en-US" sz="2400" dirty="0"/>
          </a:p>
        </p:txBody>
      </p:sp>
      <p:sp>
        <p:nvSpPr>
          <p:cNvPr id="8" name="テキスト ボックス 7">
            <a:extLst>
              <a:ext uri="{FF2B5EF4-FFF2-40B4-BE49-F238E27FC236}">
                <a16:creationId xmlns:a16="http://schemas.microsoft.com/office/drawing/2014/main" id="{172D2570-0DF1-A4A2-7286-BDDD0218FF57}"/>
              </a:ext>
            </a:extLst>
          </p:cNvPr>
          <p:cNvSpPr txBox="1"/>
          <p:nvPr/>
        </p:nvSpPr>
        <p:spPr>
          <a:xfrm>
            <a:off x="943612" y="1650819"/>
            <a:ext cx="6372257" cy="1015663"/>
          </a:xfrm>
          <a:prstGeom prst="rect">
            <a:avLst/>
          </a:prstGeom>
          <a:noFill/>
        </p:spPr>
        <p:txBody>
          <a:bodyPr wrap="none" rtlCol="0">
            <a:spAutoFit/>
          </a:bodyPr>
          <a:lstStyle/>
          <a:p>
            <a:pPr marL="285750" indent="-28575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カラメルのほうがプリンへの固有性が大きい。</a:t>
            </a:r>
            <a:endParaRPr kumimoji="1" lang="en-US" altLang="ja-JP" sz="2000" dirty="0">
              <a:latin typeface="メイリオ" panose="020B0604030504040204" pitchFamily="50" charset="-128"/>
              <a:ea typeface="メイリオ" panose="020B0604030504040204" pitchFamily="50" charset="-128"/>
            </a:endParaRPr>
          </a:p>
          <a:p>
            <a:pPr marL="285750" indent="-28575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カスタードは、シュークリームへの固有性が大きい</a:t>
            </a:r>
            <a:endParaRPr kumimoji="1" lang="en-US" altLang="ja-JP" sz="2000" dirty="0">
              <a:latin typeface="メイリオ" panose="020B0604030504040204" pitchFamily="50" charset="-128"/>
              <a:ea typeface="メイリオ" panose="020B0604030504040204" pitchFamily="50" charset="-128"/>
            </a:endParaRPr>
          </a:p>
          <a:p>
            <a:pPr marL="285750" indent="-28575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生クリームはどちらにも使われる</a:t>
            </a:r>
          </a:p>
        </p:txBody>
      </p:sp>
      <p:sp>
        <p:nvSpPr>
          <p:cNvPr id="9" name="テキスト ボックス 8">
            <a:extLst>
              <a:ext uri="{FF2B5EF4-FFF2-40B4-BE49-F238E27FC236}">
                <a16:creationId xmlns:a16="http://schemas.microsoft.com/office/drawing/2014/main" id="{230357AC-69FE-E004-1FB5-849180F59920}"/>
              </a:ext>
            </a:extLst>
          </p:cNvPr>
          <p:cNvSpPr txBox="1"/>
          <p:nvPr/>
        </p:nvSpPr>
        <p:spPr>
          <a:xfrm>
            <a:off x="943612" y="3883364"/>
            <a:ext cx="8386282"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語彙頻度の単純カウントでなくて固有性で重みづけしたほうがプリン、シュークリームの判別には効果がある </a:t>
            </a:r>
          </a:p>
        </p:txBody>
      </p:sp>
      <p:sp>
        <p:nvSpPr>
          <p:cNvPr id="3" name="テキスト ボックス 2">
            <a:extLst>
              <a:ext uri="{FF2B5EF4-FFF2-40B4-BE49-F238E27FC236}">
                <a16:creationId xmlns:a16="http://schemas.microsoft.com/office/drawing/2014/main" id="{FBCF219B-3B1A-7187-17A4-E039EBEFCADF}"/>
              </a:ext>
            </a:extLst>
          </p:cNvPr>
          <p:cNvSpPr txBox="1"/>
          <p:nvPr/>
        </p:nvSpPr>
        <p:spPr>
          <a:xfrm>
            <a:off x="1078285" y="3118963"/>
            <a:ext cx="1723549" cy="400110"/>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プリン固有性</a:t>
            </a:r>
          </a:p>
        </p:txBody>
      </p:sp>
      <p:sp>
        <p:nvSpPr>
          <p:cNvPr id="4" name="テキスト ボックス 3">
            <a:extLst>
              <a:ext uri="{FF2B5EF4-FFF2-40B4-BE49-F238E27FC236}">
                <a16:creationId xmlns:a16="http://schemas.microsoft.com/office/drawing/2014/main" id="{6016EC93-0DE9-3B59-E70F-08831CE4411B}"/>
              </a:ext>
            </a:extLst>
          </p:cNvPr>
          <p:cNvSpPr txBox="1"/>
          <p:nvPr/>
        </p:nvSpPr>
        <p:spPr>
          <a:xfrm>
            <a:off x="8682087" y="3143056"/>
            <a:ext cx="2749471" cy="400110"/>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シュークリーム固有性</a:t>
            </a:r>
          </a:p>
        </p:txBody>
      </p:sp>
      <p:sp>
        <p:nvSpPr>
          <p:cNvPr id="11" name="テキスト ボックス 10">
            <a:extLst>
              <a:ext uri="{FF2B5EF4-FFF2-40B4-BE49-F238E27FC236}">
                <a16:creationId xmlns:a16="http://schemas.microsoft.com/office/drawing/2014/main" id="{7B77CE20-E8D3-AABC-4DF0-5A214AE84790}"/>
              </a:ext>
            </a:extLst>
          </p:cNvPr>
          <p:cNvSpPr txBox="1"/>
          <p:nvPr/>
        </p:nvSpPr>
        <p:spPr>
          <a:xfrm>
            <a:off x="3114350" y="2849050"/>
            <a:ext cx="6215544" cy="400110"/>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カラメル 　　　　 生クリーム　　　　　カスタード</a:t>
            </a:r>
          </a:p>
        </p:txBody>
      </p:sp>
      <p:sp>
        <p:nvSpPr>
          <p:cNvPr id="12" name="矢印: 右 11">
            <a:extLst>
              <a:ext uri="{FF2B5EF4-FFF2-40B4-BE49-F238E27FC236}">
                <a16:creationId xmlns:a16="http://schemas.microsoft.com/office/drawing/2014/main" id="{5457751A-32F2-2056-733C-E75BFF72199F}"/>
              </a:ext>
            </a:extLst>
          </p:cNvPr>
          <p:cNvSpPr/>
          <p:nvPr/>
        </p:nvSpPr>
        <p:spPr>
          <a:xfrm>
            <a:off x="5769921" y="3118963"/>
            <a:ext cx="2912166" cy="369332"/>
          </a:xfrm>
          <a:prstGeom prst="rightArrow">
            <a:avLst>
              <a:gd name="adj1" fmla="val 50000"/>
              <a:gd name="adj2" fmla="val 10651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13" name="矢印: 右 12">
            <a:extLst>
              <a:ext uri="{FF2B5EF4-FFF2-40B4-BE49-F238E27FC236}">
                <a16:creationId xmlns:a16="http://schemas.microsoft.com/office/drawing/2014/main" id="{220114D9-E88D-A95A-D152-7751EDFA5756}"/>
              </a:ext>
            </a:extLst>
          </p:cNvPr>
          <p:cNvSpPr/>
          <p:nvPr/>
        </p:nvSpPr>
        <p:spPr>
          <a:xfrm flipH="1">
            <a:off x="2852917" y="3121442"/>
            <a:ext cx="2912166" cy="369332"/>
          </a:xfrm>
          <a:prstGeom prst="rightArrow">
            <a:avLst>
              <a:gd name="adj1" fmla="val 50000"/>
              <a:gd name="adj2" fmla="val 10651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Tree>
    <p:extLst>
      <p:ext uri="{BB962C8B-B14F-4D97-AF65-F5344CB8AC3E}">
        <p14:creationId xmlns:p14="http://schemas.microsoft.com/office/powerpoint/2010/main" val="1440872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D05690FF-5428-2FD7-1D6B-3080458FCA6B}"/>
              </a:ext>
            </a:extLst>
          </p:cNvPr>
          <p:cNvCxnSpPr>
            <a:cxnSpLocks/>
          </p:cNvCxnSpPr>
          <p:nvPr/>
        </p:nvCxnSpPr>
        <p:spPr>
          <a:xfrm flipH="1">
            <a:off x="3435493" y="4727832"/>
            <a:ext cx="2027055" cy="1256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F174E887-8B7F-2B19-7750-C5FB82F97326}"/>
              </a:ext>
            </a:extLst>
          </p:cNvPr>
          <p:cNvCxnSpPr>
            <a:cxnSpLocks/>
          </p:cNvCxnSpPr>
          <p:nvPr/>
        </p:nvCxnSpPr>
        <p:spPr>
          <a:xfrm>
            <a:off x="5477436" y="4758225"/>
            <a:ext cx="2246389" cy="10081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F72A77C1-46DF-11DB-0D96-D037F50DFDC6}"/>
              </a:ext>
            </a:extLst>
          </p:cNvPr>
          <p:cNvSpPr txBox="1"/>
          <p:nvPr/>
        </p:nvSpPr>
        <p:spPr>
          <a:xfrm>
            <a:off x="2453333" y="5869852"/>
            <a:ext cx="1538883"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生クリーム</a:t>
            </a:r>
          </a:p>
        </p:txBody>
      </p:sp>
      <p:sp>
        <p:nvSpPr>
          <p:cNvPr id="8" name="テキスト ボックス 7">
            <a:extLst>
              <a:ext uri="{FF2B5EF4-FFF2-40B4-BE49-F238E27FC236}">
                <a16:creationId xmlns:a16="http://schemas.microsoft.com/office/drawing/2014/main" id="{38A864E6-814F-8264-C00B-5AF0D4079E8F}"/>
              </a:ext>
            </a:extLst>
          </p:cNvPr>
          <p:cNvSpPr txBox="1"/>
          <p:nvPr/>
        </p:nvSpPr>
        <p:spPr>
          <a:xfrm>
            <a:off x="6676475" y="5802331"/>
            <a:ext cx="1538883" cy="369332"/>
          </a:xfrm>
          <a:prstGeom prst="rect">
            <a:avLst/>
          </a:prstGeom>
          <a:noFill/>
        </p:spPr>
        <p:txBody>
          <a:bodyPr wrap="non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カスタード</a:t>
            </a:r>
          </a:p>
        </p:txBody>
      </p:sp>
      <p:sp>
        <p:nvSpPr>
          <p:cNvPr id="9" name="テキスト ボックス 8">
            <a:extLst>
              <a:ext uri="{FF2B5EF4-FFF2-40B4-BE49-F238E27FC236}">
                <a16:creationId xmlns:a16="http://schemas.microsoft.com/office/drawing/2014/main" id="{F7797F4A-F19C-990C-BE53-B0D6FA33EAC5}"/>
              </a:ext>
            </a:extLst>
          </p:cNvPr>
          <p:cNvSpPr txBox="1"/>
          <p:nvPr/>
        </p:nvSpPr>
        <p:spPr>
          <a:xfrm>
            <a:off x="4922152" y="2289701"/>
            <a:ext cx="2061877" cy="369332"/>
          </a:xfrm>
          <a:prstGeom prst="rect">
            <a:avLst/>
          </a:prstGeom>
          <a:noFill/>
        </p:spPr>
        <p:txBody>
          <a:bodyPr wrap="square" lIns="0" tIns="0" rIns="0" bIns="0" rtlCol="0">
            <a:spAutoFit/>
          </a:bodyPr>
          <a:lstStyle/>
          <a:p>
            <a:pPr algn="l"/>
            <a:r>
              <a:rPr kumimoji="1" lang="ja-JP" altLang="en-US" sz="2400" dirty="0">
                <a:latin typeface="メイリオ" panose="020B0604030504040204" pitchFamily="50" charset="-128"/>
                <a:ea typeface="メイリオ" panose="020B0604030504040204" pitchFamily="50" charset="-128"/>
              </a:rPr>
              <a:t>カラメル</a:t>
            </a:r>
          </a:p>
        </p:txBody>
      </p:sp>
      <p:sp>
        <p:nvSpPr>
          <p:cNvPr id="35" name="フローチャート: せん孔テープ 34">
            <a:extLst>
              <a:ext uri="{FF2B5EF4-FFF2-40B4-BE49-F238E27FC236}">
                <a16:creationId xmlns:a16="http://schemas.microsoft.com/office/drawing/2014/main" id="{1C12CF95-9D41-0AD5-9821-9355B975FC0A}"/>
              </a:ext>
            </a:extLst>
          </p:cNvPr>
          <p:cNvSpPr/>
          <p:nvPr/>
        </p:nvSpPr>
        <p:spPr>
          <a:xfrm rot="19337434">
            <a:off x="4535241" y="3939718"/>
            <a:ext cx="2686421" cy="1307634"/>
          </a:xfrm>
          <a:prstGeom prst="flowChartPunchedTape">
            <a:avLst/>
          </a:prstGeom>
          <a:solidFill>
            <a:srgbClr val="4472C4">
              <a:alpha val="52941"/>
            </a:srgbClr>
          </a:solidFill>
          <a:scene3d>
            <a:camera prst="isometricOffAxis2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7" name="グループ化 36">
            <a:extLst>
              <a:ext uri="{FF2B5EF4-FFF2-40B4-BE49-F238E27FC236}">
                <a16:creationId xmlns:a16="http://schemas.microsoft.com/office/drawing/2014/main" id="{978FF772-164C-5E9D-9F84-C78CE718C00A}"/>
              </a:ext>
            </a:extLst>
          </p:cNvPr>
          <p:cNvGrpSpPr/>
          <p:nvPr/>
        </p:nvGrpSpPr>
        <p:grpSpPr>
          <a:xfrm>
            <a:off x="4442018" y="2802050"/>
            <a:ext cx="4484472" cy="2553845"/>
            <a:chOff x="4430971" y="2762893"/>
            <a:chExt cx="4484472" cy="2553845"/>
          </a:xfrm>
        </p:grpSpPr>
        <p:cxnSp>
          <p:nvCxnSpPr>
            <p:cNvPr id="4" name="直線コネクタ 3">
              <a:extLst>
                <a:ext uri="{FF2B5EF4-FFF2-40B4-BE49-F238E27FC236}">
                  <a16:creationId xmlns:a16="http://schemas.microsoft.com/office/drawing/2014/main" id="{8545BFED-8549-DD00-AA89-F96BFC2F4E83}"/>
                </a:ext>
              </a:extLst>
            </p:cNvPr>
            <p:cNvCxnSpPr>
              <a:cxnSpLocks/>
            </p:cNvCxnSpPr>
            <p:nvPr/>
          </p:nvCxnSpPr>
          <p:spPr>
            <a:xfrm>
              <a:off x="5462546" y="2762893"/>
              <a:ext cx="0" cy="19649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4EFBE6D2-774F-9EEE-58DD-02C68A81F938}"/>
                </a:ext>
              </a:extLst>
            </p:cNvPr>
            <p:cNvSpPr txBox="1"/>
            <p:nvPr/>
          </p:nvSpPr>
          <p:spPr>
            <a:xfrm rot="3925103">
              <a:off x="5961517" y="3909815"/>
              <a:ext cx="364202" cy="307777"/>
            </a:xfrm>
            <a:prstGeom prst="rect">
              <a:avLst/>
            </a:prstGeom>
            <a:noFill/>
          </p:spPr>
          <p:txBody>
            <a:bodyPr wrap="non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E666BF90-3812-A736-F0EF-073EEFB804D3}"/>
                </a:ext>
              </a:extLst>
            </p:cNvPr>
            <p:cNvSpPr txBox="1"/>
            <p:nvPr/>
          </p:nvSpPr>
          <p:spPr>
            <a:xfrm rot="3925103">
              <a:off x="6561530" y="3859500"/>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2" name="テキスト ボックス 11">
              <a:extLst>
                <a:ext uri="{FF2B5EF4-FFF2-40B4-BE49-F238E27FC236}">
                  <a16:creationId xmlns:a16="http://schemas.microsoft.com/office/drawing/2014/main" id="{359B64CF-C0F2-1AA8-FDCE-E1A7F8AE56D0}"/>
                </a:ext>
              </a:extLst>
            </p:cNvPr>
            <p:cNvSpPr txBox="1"/>
            <p:nvPr/>
          </p:nvSpPr>
          <p:spPr>
            <a:xfrm rot="3925103">
              <a:off x="4528759" y="428242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0C966E0D-610B-1B18-B48D-A53A22D9661E}"/>
                </a:ext>
              </a:extLst>
            </p:cNvPr>
            <p:cNvSpPr txBox="1"/>
            <p:nvPr/>
          </p:nvSpPr>
          <p:spPr>
            <a:xfrm rot="3925103">
              <a:off x="5792416" y="4571444"/>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4" name="テキスト ボックス 13">
              <a:extLst>
                <a:ext uri="{FF2B5EF4-FFF2-40B4-BE49-F238E27FC236}">
                  <a16:creationId xmlns:a16="http://schemas.microsoft.com/office/drawing/2014/main" id="{1A0D6FC3-F971-41C2-2486-4B01E68A5AE6}"/>
                </a:ext>
              </a:extLst>
            </p:cNvPr>
            <p:cNvSpPr txBox="1"/>
            <p:nvPr/>
          </p:nvSpPr>
          <p:spPr>
            <a:xfrm rot="3925103">
              <a:off x="5699759" y="4965422"/>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1DC9871E-D7B7-6969-7554-1C8C66FCB2CB}"/>
                </a:ext>
              </a:extLst>
            </p:cNvPr>
            <p:cNvSpPr txBox="1"/>
            <p:nvPr/>
          </p:nvSpPr>
          <p:spPr>
            <a:xfrm rot="3925103">
              <a:off x="5282124" y="4339957"/>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6" name="テキスト ボックス 15">
              <a:extLst>
                <a:ext uri="{FF2B5EF4-FFF2-40B4-BE49-F238E27FC236}">
                  <a16:creationId xmlns:a16="http://schemas.microsoft.com/office/drawing/2014/main" id="{F6E18604-3F12-3810-E6C8-F1F2D4C70430}"/>
                </a:ext>
              </a:extLst>
            </p:cNvPr>
            <p:cNvSpPr txBox="1"/>
            <p:nvPr/>
          </p:nvSpPr>
          <p:spPr>
            <a:xfrm rot="3925103">
              <a:off x="6081680" y="4593042"/>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7" name="テキスト ボックス 16">
              <a:extLst>
                <a:ext uri="{FF2B5EF4-FFF2-40B4-BE49-F238E27FC236}">
                  <a16:creationId xmlns:a16="http://schemas.microsoft.com/office/drawing/2014/main" id="{B7E48526-C8B2-1604-8707-F99D5A781079}"/>
                </a:ext>
              </a:extLst>
            </p:cNvPr>
            <p:cNvSpPr txBox="1"/>
            <p:nvPr/>
          </p:nvSpPr>
          <p:spPr>
            <a:xfrm rot="3925103">
              <a:off x="6212177" y="3285020"/>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8" name="テキスト ボックス 17">
              <a:extLst>
                <a:ext uri="{FF2B5EF4-FFF2-40B4-BE49-F238E27FC236}">
                  <a16:creationId xmlns:a16="http://schemas.microsoft.com/office/drawing/2014/main" id="{5B9397F1-ACC7-474F-EBB4-0D3BE488F718}"/>
                </a:ext>
              </a:extLst>
            </p:cNvPr>
            <p:cNvSpPr txBox="1"/>
            <p:nvPr/>
          </p:nvSpPr>
          <p:spPr>
            <a:xfrm rot="3925103">
              <a:off x="6319219" y="4020214"/>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9" name="テキスト ボックス 18">
              <a:extLst>
                <a:ext uri="{FF2B5EF4-FFF2-40B4-BE49-F238E27FC236}">
                  <a16:creationId xmlns:a16="http://schemas.microsoft.com/office/drawing/2014/main" id="{D6686B24-DCF7-2358-AEFB-3F2F8A7B9FE7}"/>
                </a:ext>
              </a:extLst>
            </p:cNvPr>
            <p:cNvSpPr txBox="1"/>
            <p:nvPr/>
          </p:nvSpPr>
          <p:spPr>
            <a:xfrm rot="3925103">
              <a:off x="4918503" y="4467550"/>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0" name="テキスト ボックス 19">
              <a:extLst>
                <a:ext uri="{FF2B5EF4-FFF2-40B4-BE49-F238E27FC236}">
                  <a16:creationId xmlns:a16="http://schemas.microsoft.com/office/drawing/2014/main" id="{28CBD04C-6F36-7CF0-F956-6B3C0564C3B7}"/>
                </a:ext>
              </a:extLst>
            </p:cNvPr>
            <p:cNvSpPr txBox="1"/>
            <p:nvPr/>
          </p:nvSpPr>
          <p:spPr>
            <a:xfrm rot="3925103">
              <a:off x="5613636" y="4684818"/>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E95C6DFD-A0C9-0248-152D-638DC70BC851}"/>
                </a:ext>
              </a:extLst>
            </p:cNvPr>
            <p:cNvSpPr txBox="1"/>
            <p:nvPr/>
          </p:nvSpPr>
          <p:spPr>
            <a:xfrm rot="3925103">
              <a:off x="6225455" y="4428836"/>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2" name="テキスト ボックス 21">
              <a:extLst>
                <a:ext uri="{FF2B5EF4-FFF2-40B4-BE49-F238E27FC236}">
                  <a16:creationId xmlns:a16="http://schemas.microsoft.com/office/drawing/2014/main" id="{177F037D-F263-650A-B086-A510B8A3CFE3}"/>
                </a:ext>
              </a:extLst>
            </p:cNvPr>
            <p:cNvSpPr txBox="1"/>
            <p:nvPr/>
          </p:nvSpPr>
          <p:spPr>
            <a:xfrm rot="3925103">
              <a:off x="4402759" y="472122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3" name="テキスト ボックス 22">
              <a:extLst>
                <a:ext uri="{FF2B5EF4-FFF2-40B4-BE49-F238E27FC236}">
                  <a16:creationId xmlns:a16="http://schemas.microsoft.com/office/drawing/2014/main" id="{84E528C1-DCF5-28A9-25CF-AACF8227C335}"/>
                </a:ext>
              </a:extLst>
            </p:cNvPr>
            <p:cNvSpPr txBox="1"/>
            <p:nvPr/>
          </p:nvSpPr>
          <p:spPr>
            <a:xfrm rot="3925103">
              <a:off x="5850547" y="403860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4" name="テキスト ボックス 23">
              <a:extLst>
                <a:ext uri="{FF2B5EF4-FFF2-40B4-BE49-F238E27FC236}">
                  <a16:creationId xmlns:a16="http://schemas.microsoft.com/office/drawing/2014/main" id="{A7512872-5D13-759F-EBD1-46355FD6B36A}"/>
                </a:ext>
              </a:extLst>
            </p:cNvPr>
            <p:cNvSpPr txBox="1"/>
            <p:nvPr/>
          </p:nvSpPr>
          <p:spPr>
            <a:xfrm rot="3925103">
              <a:off x="6213878" y="2971771"/>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5" name="テキスト ボックス 24">
              <a:extLst>
                <a:ext uri="{FF2B5EF4-FFF2-40B4-BE49-F238E27FC236}">
                  <a16:creationId xmlns:a16="http://schemas.microsoft.com/office/drawing/2014/main" id="{DE095881-DEFD-696E-C591-1320B73277D0}"/>
                </a:ext>
              </a:extLst>
            </p:cNvPr>
            <p:cNvSpPr txBox="1"/>
            <p:nvPr/>
          </p:nvSpPr>
          <p:spPr>
            <a:xfrm rot="3925103">
              <a:off x="5230032" y="3841353"/>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6" name="テキスト ボックス 25">
              <a:extLst>
                <a:ext uri="{FF2B5EF4-FFF2-40B4-BE49-F238E27FC236}">
                  <a16:creationId xmlns:a16="http://schemas.microsoft.com/office/drawing/2014/main" id="{8B7E52F9-D03C-89FF-E363-BCBBCE060FAE}"/>
                </a:ext>
              </a:extLst>
            </p:cNvPr>
            <p:cNvSpPr txBox="1"/>
            <p:nvPr/>
          </p:nvSpPr>
          <p:spPr>
            <a:xfrm rot="3925103">
              <a:off x="5501617" y="398347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7" name="テキスト ボックス 26">
              <a:extLst>
                <a:ext uri="{FF2B5EF4-FFF2-40B4-BE49-F238E27FC236}">
                  <a16:creationId xmlns:a16="http://schemas.microsoft.com/office/drawing/2014/main" id="{D55C5E5F-54D3-A05E-411E-3CBCCAF328CC}"/>
                </a:ext>
              </a:extLst>
            </p:cNvPr>
            <p:cNvSpPr txBox="1"/>
            <p:nvPr/>
          </p:nvSpPr>
          <p:spPr>
            <a:xfrm rot="3925103">
              <a:off x="5009229" y="487005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8" name="テキスト ボックス 27">
              <a:extLst>
                <a:ext uri="{FF2B5EF4-FFF2-40B4-BE49-F238E27FC236}">
                  <a16:creationId xmlns:a16="http://schemas.microsoft.com/office/drawing/2014/main" id="{94193CD2-9206-CBEF-D93F-F6897721F8BE}"/>
                </a:ext>
              </a:extLst>
            </p:cNvPr>
            <p:cNvSpPr txBox="1"/>
            <p:nvPr/>
          </p:nvSpPr>
          <p:spPr>
            <a:xfrm rot="3925103">
              <a:off x="5126709" y="4157768"/>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9" name="テキスト ボックス 28">
              <a:extLst>
                <a:ext uri="{FF2B5EF4-FFF2-40B4-BE49-F238E27FC236}">
                  <a16:creationId xmlns:a16="http://schemas.microsoft.com/office/drawing/2014/main" id="{022ADA91-C88E-7962-C953-C39556F59176}"/>
                </a:ext>
              </a:extLst>
            </p:cNvPr>
            <p:cNvSpPr txBox="1"/>
            <p:nvPr/>
          </p:nvSpPr>
          <p:spPr>
            <a:xfrm rot="3925103">
              <a:off x="4720356" y="486720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3E57C12C-BD6F-32E4-2F87-D5CF19711911}"/>
                </a:ext>
              </a:extLst>
            </p:cNvPr>
            <p:cNvSpPr txBox="1"/>
            <p:nvPr/>
          </p:nvSpPr>
          <p:spPr>
            <a:xfrm rot="3925103">
              <a:off x="5326826" y="4980748"/>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1" name="テキスト ボックス 30">
              <a:extLst>
                <a:ext uri="{FF2B5EF4-FFF2-40B4-BE49-F238E27FC236}">
                  <a16:creationId xmlns:a16="http://schemas.microsoft.com/office/drawing/2014/main" id="{ADADC1E8-2EFA-2ADD-4947-051CBD3505BA}"/>
                </a:ext>
              </a:extLst>
            </p:cNvPr>
            <p:cNvSpPr txBox="1"/>
            <p:nvPr/>
          </p:nvSpPr>
          <p:spPr>
            <a:xfrm rot="3925103">
              <a:off x="5568695" y="4365130"/>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2" name="テキスト ボックス 31">
              <a:extLst>
                <a:ext uri="{FF2B5EF4-FFF2-40B4-BE49-F238E27FC236}">
                  <a16:creationId xmlns:a16="http://schemas.microsoft.com/office/drawing/2014/main" id="{08C675CF-291B-3102-E0E5-2672F5D0D51D}"/>
                </a:ext>
              </a:extLst>
            </p:cNvPr>
            <p:cNvSpPr txBox="1"/>
            <p:nvPr/>
          </p:nvSpPr>
          <p:spPr>
            <a:xfrm rot="3925103">
              <a:off x="5251627" y="4663063"/>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3" name="テキスト ボックス 32">
              <a:extLst>
                <a:ext uri="{FF2B5EF4-FFF2-40B4-BE49-F238E27FC236}">
                  <a16:creationId xmlns:a16="http://schemas.microsoft.com/office/drawing/2014/main" id="{E731840A-2CEA-280A-2D09-AF73F2FE9509}"/>
                </a:ext>
              </a:extLst>
            </p:cNvPr>
            <p:cNvSpPr txBox="1"/>
            <p:nvPr/>
          </p:nvSpPr>
          <p:spPr>
            <a:xfrm rot="3925103">
              <a:off x="5959728" y="4363402"/>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4" name="テキスト ボックス 33">
              <a:extLst>
                <a:ext uri="{FF2B5EF4-FFF2-40B4-BE49-F238E27FC236}">
                  <a16:creationId xmlns:a16="http://schemas.microsoft.com/office/drawing/2014/main" id="{F1208FEF-2EA7-2A23-1499-D22C76340636}"/>
                </a:ext>
              </a:extLst>
            </p:cNvPr>
            <p:cNvSpPr txBox="1"/>
            <p:nvPr/>
          </p:nvSpPr>
          <p:spPr>
            <a:xfrm>
              <a:off x="6530629" y="2900668"/>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プリン</a:t>
              </a:r>
            </a:p>
          </p:txBody>
        </p:sp>
        <p:sp>
          <p:nvSpPr>
            <p:cNvPr id="36" name="テキスト ボックス 35">
              <a:extLst>
                <a:ext uri="{FF2B5EF4-FFF2-40B4-BE49-F238E27FC236}">
                  <a16:creationId xmlns:a16="http://schemas.microsoft.com/office/drawing/2014/main" id="{A84724E7-9164-22FB-04BB-D8DF29D74C44}"/>
                </a:ext>
              </a:extLst>
            </p:cNvPr>
            <p:cNvSpPr txBox="1"/>
            <p:nvPr/>
          </p:nvSpPr>
          <p:spPr>
            <a:xfrm>
              <a:off x="6576341" y="3183410"/>
              <a:ext cx="233910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シュークリーム</a:t>
              </a:r>
            </a:p>
          </p:txBody>
        </p:sp>
      </p:grpSp>
      <p:sp>
        <p:nvSpPr>
          <p:cNvPr id="48" name="テキスト ボックス 47">
            <a:extLst>
              <a:ext uri="{FF2B5EF4-FFF2-40B4-BE49-F238E27FC236}">
                <a16:creationId xmlns:a16="http://schemas.microsoft.com/office/drawing/2014/main" id="{24983918-74F8-2FFD-B834-6E36D8141EDF}"/>
              </a:ext>
            </a:extLst>
          </p:cNvPr>
          <p:cNvSpPr txBox="1"/>
          <p:nvPr/>
        </p:nvSpPr>
        <p:spPr>
          <a:xfrm>
            <a:off x="548473" y="972289"/>
            <a:ext cx="11221741" cy="1200329"/>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プリン、シュークリームを特徴づける語彙に強い重みをつけると多次元空間上でプリンのデータ、シュークリームのデータが互いに遠くに離れる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識別しやすくなるはず</a:t>
            </a:r>
          </a:p>
        </p:txBody>
      </p:sp>
      <p:grpSp>
        <p:nvGrpSpPr>
          <p:cNvPr id="108" name="グループ化 107">
            <a:extLst>
              <a:ext uri="{FF2B5EF4-FFF2-40B4-BE49-F238E27FC236}">
                <a16:creationId xmlns:a16="http://schemas.microsoft.com/office/drawing/2014/main" id="{5B2F3547-3E31-4A12-C7C8-7E4A67B2CD2D}"/>
              </a:ext>
            </a:extLst>
          </p:cNvPr>
          <p:cNvGrpSpPr/>
          <p:nvPr/>
        </p:nvGrpSpPr>
        <p:grpSpPr>
          <a:xfrm>
            <a:off x="4495166" y="2480447"/>
            <a:ext cx="4727068" cy="3614460"/>
            <a:chOff x="4247468" y="2498845"/>
            <a:chExt cx="4727068" cy="3614460"/>
          </a:xfrm>
        </p:grpSpPr>
        <p:sp>
          <p:nvSpPr>
            <p:cNvPr id="109" name="テキスト ボックス 108">
              <a:extLst>
                <a:ext uri="{FF2B5EF4-FFF2-40B4-BE49-F238E27FC236}">
                  <a16:creationId xmlns:a16="http://schemas.microsoft.com/office/drawing/2014/main" id="{0787CDAE-A920-A926-17EE-2C201958D8BF}"/>
                </a:ext>
              </a:extLst>
            </p:cNvPr>
            <p:cNvSpPr txBox="1"/>
            <p:nvPr/>
          </p:nvSpPr>
          <p:spPr>
            <a:xfrm rot="3925103">
              <a:off x="6179233" y="4293488"/>
              <a:ext cx="364202" cy="307777"/>
            </a:xfrm>
            <a:prstGeom prst="rect">
              <a:avLst/>
            </a:prstGeom>
            <a:noFill/>
          </p:spPr>
          <p:txBody>
            <a:bodyPr wrap="non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10" name="テキスト ボックス 109">
              <a:extLst>
                <a:ext uri="{FF2B5EF4-FFF2-40B4-BE49-F238E27FC236}">
                  <a16:creationId xmlns:a16="http://schemas.microsoft.com/office/drawing/2014/main" id="{F7F7B18F-0970-A780-6C7A-78C9496D6F76}"/>
                </a:ext>
              </a:extLst>
            </p:cNvPr>
            <p:cNvSpPr txBox="1"/>
            <p:nvPr/>
          </p:nvSpPr>
          <p:spPr>
            <a:xfrm rot="3925103">
              <a:off x="6554230" y="4139140"/>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11" name="テキスト ボックス 110">
              <a:extLst>
                <a:ext uri="{FF2B5EF4-FFF2-40B4-BE49-F238E27FC236}">
                  <a16:creationId xmlns:a16="http://schemas.microsoft.com/office/drawing/2014/main" id="{26030621-38E0-35E9-B1B1-D148822EB5AD}"/>
                </a:ext>
              </a:extLst>
            </p:cNvPr>
            <p:cNvSpPr txBox="1"/>
            <p:nvPr/>
          </p:nvSpPr>
          <p:spPr>
            <a:xfrm rot="3925103">
              <a:off x="4345256" y="4096925"/>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12" name="テキスト ボックス 111">
              <a:extLst>
                <a:ext uri="{FF2B5EF4-FFF2-40B4-BE49-F238E27FC236}">
                  <a16:creationId xmlns:a16="http://schemas.microsoft.com/office/drawing/2014/main" id="{340C0F69-A532-9DF8-44EA-F2E8012937B8}"/>
                </a:ext>
              </a:extLst>
            </p:cNvPr>
            <p:cNvSpPr txBox="1"/>
            <p:nvPr/>
          </p:nvSpPr>
          <p:spPr>
            <a:xfrm rot="3925103">
              <a:off x="6010132" y="495511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13" name="テキスト ボックス 112">
              <a:extLst>
                <a:ext uri="{FF2B5EF4-FFF2-40B4-BE49-F238E27FC236}">
                  <a16:creationId xmlns:a16="http://schemas.microsoft.com/office/drawing/2014/main" id="{C192EA6C-1B98-978C-675E-685A82659EB0}"/>
                </a:ext>
              </a:extLst>
            </p:cNvPr>
            <p:cNvSpPr txBox="1"/>
            <p:nvPr/>
          </p:nvSpPr>
          <p:spPr>
            <a:xfrm rot="3925103">
              <a:off x="5574720" y="493154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14" name="テキスト ボックス 113">
              <a:extLst>
                <a:ext uri="{FF2B5EF4-FFF2-40B4-BE49-F238E27FC236}">
                  <a16:creationId xmlns:a16="http://schemas.microsoft.com/office/drawing/2014/main" id="{BFBEDE63-E056-36B0-CE2A-646E56F1BAB8}"/>
                </a:ext>
              </a:extLst>
            </p:cNvPr>
            <p:cNvSpPr txBox="1"/>
            <p:nvPr/>
          </p:nvSpPr>
          <p:spPr>
            <a:xfrm rot="3925103">
              <a:off x="5098621" y="4154453"/>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15" name="テキスト ボックス 114">
              <a:extLst>
                <a:ext uri="{FF2B5EF4-FFF2-40B4-BE49-F238E27FC236}">
                  <a16:creationId xmlns:a16="http://schemas.microsoft.com/office/drawing/2014/main" id="{64E0C03C-3A32-410B-DF02-FD06270CCFE4}"/>
                </a:ext>
              </a:extLst>
            </p:cNvPr>
            <p:cNvSpPr txBox="1"/>
            <p:nvPr/>
          </p:nvSpPr>
          <p:spPr>
            <a:xfrm rot="3925103">
              <a:off x="6299396" y="497671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16" name="テキスト ボックス 115">
              <a:extLst>
                <a:ext uri="{FF2B5EF4-FFF2-40B4-BE49-F238E27FC236}">
                  <a16:creationId xmlns:a16="http://schemas.microsoft.com/office/drawing/2014/main" id="{1F4306B1-42F9-4042-1F5A-4E00E515D062}"/>
                </a:ext>
              </a:extLst>
            </p:cNvPr>
            <p:cNvSpPr txBox="1"/>
            <p:nvPr/>
          </p:nvSpPr>
          <p:spPr>
            <a:xfrm rot="3925103">
              <a:off x="6271270" y="3360776"/>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17" name="テキスト ボックス 116">
              <a:extLst>
                <a:ext uri="{FF2B5EF4-FFF2-40B4-BE49-F238E27FC236}">
                  <a16:creationId xmlns:a16="http://schemas.microsoft.com/office/drawing/2014/main" id="{C48B837B-3B70-EC56-18BC-C519736F16F3}"/>
                </a:ext>
              </a:extLst>
            </p:cNvPr>
            <p:cNvSpPr txBox="1"/>
            <p:nvPr/>
          </p:nvSpPr>
          <p:spPr>
            <a:xfrm rot="3925103">
              <a:off x="6536935" y="440388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18" name="テキスト ボックス 117">
              <a:extLst>
                <a:ext uri="{FF2B5EF4-FFF2-40B4-BE49-F238E27FC236}">
                  <a16:creationId xmlns:a16="http://schemas.microsoft.com/office/drawing/2014/main" id="{00D808BE-6CCC-4A55-BE50-889259E57990}"/>
                </a:ext>
              </a:extLst>
            </p:cNvPr>
            <p:cNvSpPr txBox="1"/>
            <p:nvPr/>
          </p:nvSpPr>
          <p:spPr>
            <a:xfrm rot="3925103">
              <a:off x="4735000" y="428204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19" name="テキスト ボックス 118">
              <a:extLst>
                <a:ext uri="{FF2B5EF4-FFF2-40B4-BE49-F238E27FC236}">
                  <a16:creationId xmlns:a16="http://schemas.microsoft.com/office/drawing/2014/main" id="{D84A1D4D-CE54-BFAF-18AE-C71D7059801A}"/>
                </a:ext>
              </a:extLst>
            </p:cNvPr>
            <p:cNvSpPr txBox="1"/>
            <p:nvPr/>
          </p:nvSpPr>
          <p:spPr>
            <a:xfrm rot="3925103">
              <a:off x="5831352" y="5068491"/>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20" name="テキスト ボックス 119">
              <a:extLst>
                <a:ext uri="{FF2B5EF4-FFF2-40B4-BE49-F238E27FC236}">
                  <a16:creationId xmlns:a16="http://schemas.microsoft.com/office/drawing/2014/main" id="{5AA28433-B3E8-90D8-F34E-30E88B74A3AB}"/>
                </a:ext>
              </a:extLst>
            </p:cNvPr>
            <p:cNvSpPr txBox="1"/>
            <p:nvPr/>
          </p:nvSpPr>
          <p:spPr>
            <a:xfrm rot="3925103">
              <a:off x="6443171" y="4812509"/>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21" name="テキスト ボックス 120">
              <a:extLst>
                <a:ext uri="{FF2B5EF4-FFF2-40B4-BE49-F238E27FC236}">
                  <a16:creationId xmlns:a16="http://schemas.microsoft.com/office/drawing/2014/main" id="{A1A87927-CBB7-D9BA-BA81-0A2340F8C66E}"/>
                </a:ext>
              </a:extLst>
            </p:cNvPr>
            <p:cNvSpPr txBox="1"/>
            <p:nvPr/>
          </p:nvSpPr>
          <p:spPr>
            <a:xfrm rot="3925103">
              <a:off x="4219256" y="4535725"/>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22" name="テキスト ボックス 121">
              <a:extLst>
                <a:ext uri="{FF2B5EF4-FFF2-40B4-BE49-F238E27FC236}">
                  <a16:creationId xmlns:a16="http://schemas.microsoft.com/office/drawing/2014/main" id="{E07FCEFC-C946-D121-A355-CDEB4E37E5FD}"/>
                </a:ext>
              </a:extLst>
            </p:cNvPr>
            <p:cNvSpPr txBox="1"/>
            <p:nvPr/>
          </p:nvSpPr>
          <p:spPr>
            <a:xfrm rot="3925103">
              <a:off x="6068263" y="4422278"/>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23" name="テキスト ボックス 122">
              <a:extLst>
                <a:ext uri="{FF2B5EF4-FFF2-40B4-BE49-F238E27FC236}">
                  <a16:creationId xmlns:a16="http://schemas.microsoft.com/office/drawing/2014/main" id="{C4560ED4-DF24-88DD-39C3-81E129279FF6}"/>
                </a:ext>
              </a:extLst>
            </p:cNvPr>
            <p:cNvSpPr txBox="1"/>
            <p:nvPr/>
          </p:nvSpPr>
          <p:spPr>
            <a:xfrm rot="3925103">
              <a:off x="6272971" y="3047527"/>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24" name="テキスト ボックス 123">
              <a:extLst>
                <a:ext uri="{FF2B5EF4-FFF2-40B4-BE49-F238E27FC236}">
                  <a16:creationId xmlns:a16="http://schemas.microsoft.com/office/drawing/2014/main" id="{D1A7C5DE-DCAA-A994-8D7F-58275E9B7241}"/>
                </a:ext>
              </a:extLst>
            </p:cNvPr>
            <p:cNvSpPr txBox="1"/>
            <p:nvPr/>
          </p:nvSpPr>
          <p:spPr>
            <a:xfrm rot="3925103">
              <a:off x="5046529" y="365584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25" name="テキスト ボックス 124">
              <a:extLst>
                <a:ext uri="{FF2B5EF4-FFF2-40B4-BE49-F238E27FC236}">
                  <a16:creationId xmlns:a16="http://schemas.microsoft.com/office/drawing/2014/main" id="{48A0730A-4F59-9515-597F-CBA611977DB9}"/>
                </a:ext>
              </a:extLst>
            </p:cNvPr>
            <p:cNvSpPr txBox="1"/>
            <p:nvPr/>
          </p:nvSpPr>
          <p:spPr>
            <a:xfrm rot="3925103">
              <a:off x="5354887" y="3818397"/>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26" name="テキスト ボックス 125">
              <a:extLst>
                <a:ext uri="{FF2B5EF4-FFF2-40B4-BE49-F238E27FC236}">
                  <a16:creationId xmlns:a16="http://schemas.microsoft.com/office/drawing/2014/main" id="{A69F6D3C-8918-2FC3-7C18-B659AC2C7AEE}"/>
                </a:ext>
              </a:extLst>
            </p:cNvPr>
            <p:cNvSpPr txBox="1"/>
            <p:nvPr/>
          </p:nvSpPr>
          <p:spPr>
            <a:xfrm rot="3925103">
              <a:off x="4844386" y="467521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27" name="テキスト ボックス 126">
              <a:extLst>
                <a:ext uri="{FF2B5EF4-FFF2-40B4-BE49-F238E27FC236}">
                  <a16:creationId xmlns:a16="http://schemas.microsoft.com/office/drawing/2014/main" id="{F5B2379D-33D0-9E98-CAEF-5871B449E8DF}"/>
                </a:ext>
              </a:extLst>
            </p:cNvPr>
            <p:cNvSpPr txBox="1"/>
            <p:nvPr/>
          </p:nvSpPr>
          <p:spPr>
            <a:xfrm rot="3925103">
              <a:off x="4943206" y="3972264"/>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28" name="テキスト ボックス 127">
              <a:extLst>
                <a:ext uri="{FF2B5EF4-FFF2-40B4-BE49-F238E27FC236}">
                  <a16:creationId xmlns:a16="http://schemas.microsoft.com/office/drawing/2014/main" id="{3A01CFCB-212C-8937-3AD4-B3C4E865BB39}"/>
                </a:ext>
              </a:extLst>
            </p:cNvPr>
            <p:cNvSpPr txBox="1"/>
            <p:nvPr/>
          </p:nvSpPr>
          <p:spPr>
            <a:xfrm rot="3925103">
              <a:off x="4555513" y="467236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29" name="テキスト ボックス 128">
              <a:extLst>
                <a:ext uri="{FF2B5EF4-FFF2-40B4-BE49-F238E27FC236}">
                  <a16:creationId xmlns:a16="http://schemas.microsoft.com/office/drawing/2014/main" id="{B5E255FB-D43A-3314-2A82-888131F2BA4B}"/>
                </a:ext>
              </a:extLst>
            </p:cNvPr>
            <p:cNvSpPr txBox="1"/>
            <p:nvPr/>
          </p:nvSpPr>
          <p:spPr>
            <a:xfrm rot="3925103">
              <a:off x="5385919" y="5056504"/>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30" name="テキスト ボックス 129">
              <a:extLst>
                <a:ext uri="{FF2B5EF4-FFF2-40B4-BE49-F238E27FC236}">
                  <a16:creationId xmlns:a16="http://schemas.microsoft.com/office/drawing/2014/main" id="{D8690D0D-CEB5-A737-80D3-BD3B0151C054}"/>
                </a:ext>
              </a:extLst>
            </p:cNvPr>
            <p:cNvSpPr txBox="1"/>
            <p:nvPr/>
          </p:nvSpPr>
          <p:spPr>
            <a:xfrm rot="3925103">
              <a:off x="5786411" y="4748803"/>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31" name="テキスト ボックス 130">
              <a:extLst>
                <a:ext uri="{FF2B5EF4-FFF2-40B4-BE49-F238E27FC236}">
                  <a16:creationId xmlns:a16="http://schemas.microsoft.com/office/drawing/2014/main" id="{E9387050-48EF-5652-00B5-412C0E55D504}"/>
                </a:ext>
              </a:extLst>
            </p:cNvPr>
            <p:cNvSpPr txBox="1"/>
            <p:nvPr/>
          </p:nvSpPr>
          <p:spPr>
            <a:xfrm rot="3925103">
              <a:off x="5068124" y="447755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32" name="テキスト ボックス 131">
              <a:extLst>
                <a:ext uri="{FF2B5EF4-FFF2-40B4-BE49-F238E27FC236}">
                  <a16:creationId xmlns:a16="http://schemas.microsoft.com/office/drawing/2014/main" id="{E0EE5923-CA4B-5B07-EC64-BEE0BB876180}"/>
                </a:ext>
              </a:extLst>
            </p:cNvPr>
            <p:cNvSpPr txBox="1"/>
            <p:nvPr/>
          </p:nvSpPr>
          <p:spPr>
            <a:xfrm rot="3925103">
              <a:off x="6177444" y="474707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33" name="テキスト ボックス 132">
              <a:extLst>
                <a:ext uri="{FF2B5EF4-FFF2-40B4-BE49-F238E27FC236}">
                  <a16:creationId xmlns:a16="http://schemas.microsoft.com/office/drawing/2014/main" id="{062B5097-1A5E-0FFE-4ED3-A050859E7DD3}"/>
                </a:ext>
              </a:extLst>
            </p:cNvPr>
            <p:cNvSpPr txBox="1"/>
            <p:nvPr/>
          </p:nvSpPr>
          <p:spPr>
            <a:xfrm>
              <a:off x="6589722" y="2976424"/>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プリン</a:t>
              </a:r>
            </a:p>
          </p:txBody>
        </p:sp>
        <p:sp>
          <p:nvSpPr>
            <p:cNvPr id="134" name="フローチャート: せん孔テープ 133">
              <a:extLst>
                <a:ext uri="{FF2B5EF4-FFF2-40B4-BE49-F238E27FC236}">
                  <a16:creationId xmlns:a16="http://schemas.microsoft.com/office/drawing/2014/main" id="{C2130AC2-71E5-E023-28F8-EB2BAC690883}"/>
                </a:ext>
              </a:extLst>
            </p:cNvPr>
            <p:cNvSpPr/>
            <p:nvPr/>
          </p:nvSpPr>
          <p:spPr>
            <a:xfrm rot="19253827">
              <a:off x="4259007" y="3977977"/>
              <a:ext cx="2686421" cy="1307634"/>
            </a:xfrm>
            <a:prstGeom prst="flowChartPunchedTape">
              <a:avLst/>
            </a:prstGeom>
            <a:solidFill>
              <a:srgbClr val="4472C4">
                <a:alpha val="52941"/>
              </a:srgbClr>
            </a:solidFill>
            <a:scene3d>
              <a:camera prst="isometricOffAxis2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テキスト ボックス 134">
              <a:extLst>
                <a:ext uri="{FF2B5EF4-FFF2-40B4-BE49-F238E27FC236}">
                  <a16:creationId xmlns:a16="http://schemas.microsoft.com/office/drawing/2014/main" id="{DAE621A6-018A-B575-965F-38FEF4D28269}"/>
                </a:ext>
              </a:extLst>
            </p:cNvPr>
            <p:cNvSpPr txBox="1"/>
            <p:nvPr/>
          </p:nvSpPr>
          <p:spPr>
            <a:xfrm>
              <a:off x="6635434" y="3259166"/>
              <a:ext cx="233910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シュークリーム</a:t>
              </a:r>
            </a:p>
          </p:txBody>
        </p:sp>
        <p:sp>
          <p:nvSpPr>
            <p:cNvPr id="136" name="矢印: 右 135">
              <a:extLst>
                <a:ext uri="{FF2B5EF4-FFF2-40B4-BE49-F238E27FC236}">
                  <a16:creationId xmlns:a16="http://schemas.microsoft.com/office/drawing/2014/main" id="{59AC827C-4268-FFCB-8342-14599125D9CC}"/>
                </a:ext>
              </a:extLst>
            </p:cNvPr>
            <p:cNvSpPr/>
            <p:nvPr/>
          </p:nvSpPr>
          <p:spPr>
            <a:xfrm rot="14735846">
              <a:off x="4808747" y="3059972"/>
              <a:ext cx="806707" cy="421010"/>
            </a:xfrm>
            <a:prstGeom prst="rightArrow">
              <a:avLst>
                <a:gd name="adj1" fmla="val 50000"/>
                <a:gd name="adj2" fmla="val 748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7" name="矢印: 右 136">
              <a:extLst>
                <a:ext uri="{FF2B5EF4-FFF2-40B4-BE49-F238E27FC236}">
                  <a16:creationId xmlns:a16="http://schemas.microsoft.com/office/drawing/2014/main" id="{91B400E6-AAA2-C3AB-A56F-9F96014EA4C2}"/>
                </a:ext>
              </a:extLst>
            </p:cNvPr>
            <p:cNvSpPr/>
            <p:nvPr/>
          </p:nvSpPr>
          <p:spPr>
            <a:xfrm rot="2455196" flipV="1">
              <a:off x="6084183" y="5231630"/>
              <a:ext cx="527091" cy="421010"/>
            </a:xfrm>
            <a:prstGeom prst="rightArrow">
              <a:avLst>
                <a:gd name="adj1" fmla="val 50000"/>
                <a:gd name="adj2" fmla="val 748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8" name="テキスト ボックス 137">
              <a:extLst>
                <a:ext uri="{FF2B5EF4-FFF2-40B4-BE49-F238E27FC236}">
                  <a16:creationId xmlns:a16="http://schemas.microsoft.com/office/drawing/2014/main" id="{643DEF51-F0E4-DE4B-2FB4-5C10F5142AB5}"/>
                </a:ext>
              </a:extLst>
            </p:cNvPr>
            <p:cNvSpPr txBox="1"/>
            <p:nvPr/>
          </p:nvSpPr>
          <p:spPr>
            <a:xfrm rot="3753739">
              <a:off x="3818291" y="2996617"/>
              <a:ext cx="1641875" cy="646331"/>
            </a:xfrm>
            <a:prstGeom prst="rect">
              <a:avLst/>
            </a:prstGeom>
            <a:noFill/>
          </p:spPr>
          <p:txBody>
            <a:bodyPr wrap="square" rtlCol="0">
              <a:spAutoFit/>
            </a:bodyPr>
            <a:lstStyle/>
            <a:p>
              <a:pPr algn="l"/>
              <a:r>
                <a:rPr kumimoji="1" lang="ja-JP" altLang="en-US" dirty="0">
                  <a:latin typeface="メイリオ" panose="020B0604030504040204" pitchFamily="50" charset="-128"/>
                  <a:ea typeface="メイリオ" panose="020B0604030504040204" pitchFamily="50" charset="-128"/>
                </a:rPr>
                <a:t>カラメル方向に重みづけ</a:t>
              </a:r>
            </a:p>
          </p:txBody>
        </p:sp>
        <p:sp>
          <p:nvSpPr>
            <p:cNvPr id="139" name="テキスト ボックス 138">
              <a:extLst>
                <a:ext uri="{FF2B5EF4-FFF2-40B4-BE49-F238E27FC236}">
                  <a16:creationId xmlns:a16="http://schemas.microsoft.com/office/drawing/2014/main" id="{74EB27DA-F818-E930-8DC3-9ECE94C626F0}"/>
                </a:ext>
              </a:extLst>
            </p:cNvPr>
            <p:cNvSpPr txBox="1"/>
            <p:nvPr/>
          </p:nvSpPr>
          <p:spPr>
            <a:xfrm rot="2504679">
              <a:off x="4985561" y="5466974"/>
              <a:ext cx="1852171" cy="646331"/>
            </a:xfrm>
            <a:prstGeom prst="rect">
              <a:avLst/>
            </a:prstGeom>
            <a:noFill/>
          </p:spPr>
          <p:txBody>
            <a:bodyPr wrap="square" rtlCol="0">
              <a:spAutoFit/>
            </a:bodyPr>
            <a:lstStyle/>
            <a:p>
              <a:pPr algn="l"/>
              <a:r>
                <a:rPr kumimoji="1" lang="ja-JP" altLang="en-US" dirty="0">
                  <a:latin typeface="メイリオ" panose="020B0604030504040204" pitchFamily="50" charset="-128"/>
                  <a:ea typeface="メイリオ" panose="020B0604030504040204" pitchFamily="50" charset="-128"/>
                </a:rPr>
                <a:t>カスタード方向に重みづけ</a:t>
              </a:r>
            </a:p>
          </p:txBody>
        </p:sp>
      </p:grpSp>
      <p:cxnSp>
        <p:nvCxnSpPr>
          <p:cNvPr id="38" name="直線コネクタ 37">
            <a:extLst>
              <a:ext uri="{FF2B5EF4-FFF2-40B4-BE49-F238E27FC236}">
                <a16:creationId xmlns:a16="http://schemas.microsoft.com/office/drawing/2014/main" id="{9BD98A5E-1436-89F6-1360-64CD421F52B7}"/>
              </a:ext>
            </a:extLst>
          </p:cNvPr>
          <p:cNvCxnSpPr/>
          <p:nvPr/>
        </p:nvCxnSpPr>
        <p:spPr>
          <a:xfrm flipH="1">
            <a:off x="5473593" y="2797789"/>
            <a:ext cx="16286" cy="1886872"/>
          </a:xfrm>
          <a:prstGeom prst="line">
            <a:avLst/>
          </a:prstGeom>
          <a:ln w="12700"/>
        </p:spPr>
        <p:style>
          <a:lnRef idx="1">
            <a:schemeClr val="dk1"/>
          </a:lnRef>
          <a:fillRef idx="0">
            <a:schemeClr val="dk1"/>
          </a:fillRef>
          <a:effectRef idx="0">
            <a:schemeClr val="dk1"/>
          </a:effectRef>
          <a:fontRef idx="minor">
            <a:schemeClr val="tx1"/>
          </a:fontRef>
        </p:style>
      </p:cxnSp>
      <p:sp>
        <p:nvSpPr>
          <p:cNvPr id="39" name="テキスト ボックス 38">
            <a:extLst>
              <a:ext uri="{FF2B5EF4-FFF2-40B4-BE49-F238E27FC236}">
                <a16:creationId xmlns:a16="http://schemas.microsoft.com/office/drawing/2014/main" id="{25267E84-1CCF-D664-D5A4-BD55364029F5}"/>
              </a:ext>
            </a:extLst>
          </p:cNvPr>
          <p:cNvSpPr txBox="1"/>
          <p:nvPr/>
        </p:nvSpPr>
        <p:spPr>
          <a:xfrm>
            <a:off x="562890" y="363261"/>
            <a:ext cx="7160935"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固有性が大きい語彙に重みを付けると</a:t>
            </a:r>
          </a:p>
        </p:txBody>
      </p:sp>
    </p:spTree>
    <p:extLst>
      <p:ext uri="{BB962C8B-B14F-4D97-AF65-F5344CB8AC3E}">
        <p14:creationId xmlns:p14="http://schemas.microsoft.com/office/powerpoint/2010/main" val="2209443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7"/>
                                        </p:tgtEl>
                                      </p:cBhvr>
                                    </p:animEffect>
                                    <p:set>
                                      <p:cBhvr>
                                        <p:cTn id="7" dur="1" fill="hold">
                                          <p:stCondLst>
                                            <p:cond delay="499"/>
                                          </p:stCondLst>
                                        </p:cTn>
                                        <p:tgtEl>
                                          <p:spTgt spid="37"/>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fade">
                                      <p:cBhvr>
                                        <p:cTn id="11"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0FF9D3B-8321-41F0-B132-800DE70D05BF}"/>
              </a:ext>
            </a:extLst>
          </p:cNvPr>
          <p:cNvSpPr txBox="1"/>
          <p:nvPr/>
        </p:nvSpPr>
        <p:spPr>
          <a:xfrm>
            <a:off x="419375" y="249236"/>
            <a:ext cx="7502375"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固有性の重み</a:t>
            </a:r>
            <a:r>
              <a:rPr kumimoji="1" lang="en-US" altLang="ja-JP" sz="3200" b="1" dirty="0">
                <a:latin typeface="メイリオ" panose="020B0604030504040204" pitchFamily="50" charset="-128"/>
                <a:ea typeface="メイリオ" panose="020B0604030504040204" pitchFamily="50" charset="-128"/>
              </a:rPr>
              <a:t>=</a:t>
            </a:r>
            <a:r>
              <a:rPr kumimoji="1" lang="ja-JP" altLang="en-US" sz="3200" b="1" dirty="0">
                <a:latin typeface="メイリオ" panose="020B0604030504040204" pitchFamily="50" charset="-128"/>
                <a:ea typeface="メイリオ" panose="020B0604030504040204" pitchFamily="50" charset="-128"/>
              </a:rPr>
              <a:t>語彙の偏り度合いの計算</a:t>
            </a:r>
          </a:p>
        </p:txBody>
      </p:sp>
      <p:sp>
        <p:nvSpPr>
          <p:cNvPr id="3" name="テキスト ボックス 2">
            <a:extLst>
              <a:ext uri="{FF2B5EF4-FFF2-40B4-BE49-F238E27FC236}">
                <a16:creationId xmlns:a16="http://schemas.microsoft.com/office/drawing/2014/main" id="{0AD67B77-6406-4F38-B28A-8796F24667C1}"/>
              </a:ext>
            </a:extLst>
          </p:cNvPr>
          <p:cNvSpPr txBox="1"/>
          <p:nvPr/>
        </p:nvSpPr>
        <p:spPr>
          <a:xfrm>
            <a:off x="419375" y="1023305"/>
            <a:ext cx="11103931"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プリンのクチコミ文書に偏って出現する語彙に重みをつければ、プリンらしさを特徴判別しやすくなる</a:t>
            </a:r>
          </a:p>
        </p:txBody>
      </p:sp>
      <p:sp>
        <p:nvSpPr>
          <p:cNvPr id="4" name="テキスト ボックス 3">
            <a:extLst>
              <a:ext uri="{FF2B5EF4-FFF2-40B4-BE49-F238E27FC236}">
                <a16:creationId xmlns:a16="http://schemas.microsoft.com/office/drawing/2014/main" id="{B08EF370-535C-443F-8315-5735CF12CDD2}"/>
              </a:ext>
            </a:extLst>
          </p:cNvPr>
          <p:cNvSpPr txBox="1"/>
          <p:nvPr/>
        </p:nvSpPr>
        <p:spPr>
          <a:xfrm>
            <a:off x="1643657" y="1854302"/>
            <a:ext cx="4160111" cy="461665"/>
          </a:xfrm>
          <a:prstGeom prst="rect">
            <a:avLst/>
          </a:prstGeom>
          <a:noFill/>
        </p:spPr>
        <p:txBody>
          <a:bodyPr wrap="square" rtlCol="0">
            <a:spAutoFit/>
          </a:bodyPr>
          <a:lstStyle/>
          <a:p>
            <a:pPr algn="l"/>
            <a:r>
              <a:rPr kumimoji="1" lang="ja-JP" altLang="en-US" sz="2400" u="sng" dirty="0">
                <a:latin typeface="メイリオ" panose="020B0604030504040204" pitchFamily="50" charset="-128"/>
                <a:ea typeface="メイリオ" panose="020B0604030504040204" pitchFamily="50" charset="-128"/>
              </a:rPr>
              <a:t>偏り度合の指標</a:t>
            </a:r>
            <a:r>
              <a:rPr kumimoji="1" lang="en-US" altLang="ja-JP" sz="2400" u="sng" dirty="0">
                <a:latin typeface="メイリオ" panose="020B0604030504040204" pitchFamily="50" charset="-128"/>
                <a:ea typeface="メイリオ" panose="020B0604030504040204" pitchFamily="50" charset="-128"/>
              </a:rPr>
              <a:t>(TF-IDF)</a:t>
            </a:r>
            <a:endParaRPr kumimoji="1" lang="ja-JP" altLang="en-US" sz="2400" u="sng"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6774833A-E11B-452D-B7A4-6523F2B8F0A8}"/>
                  </a:ext>
                </a:extLst>
              </p:cNvPr>
              <p:cNvSpPr txBox="1"/>
              <p:nvPr/>
            </p:nvSpPr>
            <p:spPr>
              <a:xfrm>
                <a:off x="1673957" y="2184904"/>
                <a:ext cx="8865697" cy="8387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2400" i="1" smtClean="0">
                          <a:latin typeface="Cambria Math" panose="02040503050406030204" pitchFamily="18" charset="0"/>
                          <a:ea typeface="メイリオ" panose="020B0604030504040204" pitchFamily="50" charset="-128"/>
                        </a:rPr>
                        <m:t>各文書中の語彙</m:t>
                      </m:r>
                      <m:r>
                        <a:rPr kumimoji="1" lang="en-US" altLang="ja-JP" sz="2400" i="1">
                          <a:latin typeface="Cambria Math" panose="02040503050406030204" pitchFamily="18" charset="0"/>
                          <a:ea typeface="メイリオ" panose="020B0604030504040204" pitchFamily="50" charset="-128"/>
                        </a:rPr>
                        <m:t>𝑤</m:t>
                      </m:r>
                      <m:r>
                        <a:rPr kumimoji="1" lang="ja-JP" altLang="en-US" sz="2400" i="1">
                          <a:latin typeface="Cambria Math" panose="02040503050406030204" pitchFamily="18" charset="0"/>
                          <a:ea typeface="メイリオ" panose="020B0604030504040204" pitchFamily="50" charset="-128"/>
                        </a:rPr>
                        <m:t>の出現頻度</m:t>
                      </m:r>
                      <m:r>
                        <a:rPr kumimoji="1" lang="en-US" altLang="ja-JP" sz="2400" i="1">
                          <a:latin typeface="Cambria Math" panose="02040503050406030204" pitchFamily="18" charset="0"/>
                          <a:ea typeface="メイリオ" panose="020B0604030504040204" pitchFamily="50" charset="-128"/>
                        </a:rPr>
                        <m:t> </m:t>
                      </m:r>
                      <m:r>
                        <a:rPr kumimoji="1" lang="en-US" altLang="ja-JP" sz="2400" i="1">
                          <a:latin typeface="Cambria Math" panose="02040503050406030204" pitchFamily="18" charset="0"/>
                          <a:ea typeface="Cambria Math" panose="02040503050406030204" pitchFamily="18" charset="0"/>
                        </a:rPr>
                        <m:t>×</m:t>
                      </m:r>
                      <m:func>
                        <m:funcPr>
                          <m:ctrlPr>
                            <a:rPr kumimoji="1" lang="en-US" altLang="ja-JP" sz="2400" b="0" i="1" smtClean="0">
                              <a:latin typeface="Cambria Math" panose="02040503050406030204" pitchFamily="18" charset="0"/>
                              <a:ea typeface="Cambria Math" panose="02040503050406030204" pitchFamily="18" charset="0"/>
                            </a:rPr>
                          </m:ctrlPr>
                        </m:funcPr>
                        <m:fName>
                          <m:r>
                            <m:rPr>
                              <m:sty m:val="p"/>
                            </m:rPr>
                            <a:rPr kumimoji="1" lang="en-US" altLang="ja-JP" sz="2400" b="0" i="0" smtClean="0">
                              <a:latin typeface="Cambria Math" panose="02040503050406030204" pitchFamily="18" charset="0"/>
                              <a:ea typeface="Cambria Math" panose="02040503050406030204" pitchFamily="18" charset="0"/>
                            </a:rPr>
                            <m:t>log</m:t>
                          </m:r>
                        </m:fName>
                        <m:e>
                          <m:d>
                            <m:dPr>
                              <m:ctrlPr>
                                <a:rPr kumimoji="1" lang="en-US" altLang="ja-JP" sz="2400" i="1">
                                  <a:latin typeface="Cambria Math" panose="02040503050406030204" pitchFamily="18" charset="0"/>
                                  <a:ea typeface="Cambria Math" panose="02040503050406030204" pitchFamily="18" charset="0"/>
                                </a:rPr>
                              </m:ctrlPr>
                            </m:dPr>
                            <m:e>
                              <m:f>
                                <m:fPr>
                                  <m:ctrlPr>
                                    <a:rPr kumimoji="1" lang="en-US" altLang="ja-JP" sz="2400" i="1">
                                      <a:latin typeface="Cambria Math" panose="02040503050406030204" pitchFamily="18" charset="0"/>
                                      <a:ea typeface="メイリオ" panose="020B0604030504040204" pitchFamily="50" charset="-128"/>
                                    </a:rPr>
                                  </m:ctrlPr>
                                </m:fPr>
                                <m:num>
                                  <m:r>
                                    <a:rPr kumimoji="1" lang="ja-JP" altLang="en-US" sz="2400" i="1">
                                      <a:latin typeface="Cambria Math" panose="02040503050406030204" pitchFamily="18" charset="0"/>
                                      <a:ea typeface="メイリオ" panose="020B0604030504040204" pitchFamily="50" charset="-128"/>
                                    </a:rPr>
                                    <m:t>文書の総数</m:t>
                                  </m:r>
                                </m:num>
                                <m:den>
                                  <m:r>
                                    <a:rPr kumimoji="1" lang="ja-JP" altLang="en-US" sz="2400" i="1">
                                      <a:latin typeface="Cambria Math" panose="02040503050406030204" pitchFamily="18" charset="0"/>
                                      <a:ea typeface="メイリオ" panose="020B0604030504040204" pitchFamily="50" charset="-128"/>
                                    </a:rPr>
                                    <m:t>語彙</m:t>
                                  </m:r>
                                  <m:r>
                                    <a:rPr kumimoji="1" lang="en-US" altLang="ja-JP" sz="2400" i="1">
                                      <a:latin typeface="Cambria Math" panose="02040503050406030204" pitchFamily="18" charset="0"/>
                                      <a:ea typeface="メイリオ" panose="020B0604030504040204" pitchFamily="50" charset="-128"/>
                                    </a:rPr>
                                    <m:t>𝑤</m:t>
                                  </m:r>
                                  <m:r>
                                    <a:rPr kumimoji="1" lang="ja-JP" altLang="en-US" sz="2400" i="1">
                                      <a:latin typeface="Cambria Math" panose="02040503050406030204" pitchFamily="18" charset="0"/>
                                      <a:ea typeface="メイリオ" panose="020B0604030504040204" pitchFamily="50" charset="-128"/>
                                    </a:rPr>
                                    <m:t>が出現する文書の数</m:t>
                                  </m:r>
                                </m:den>
                              </m:f>
                            </m:e>
                          </m:d>
                        </m:e>
                      </m:func>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5" name="テキスト ボックス 4">
                <a:extLst>
                  <a:ext uri="{FF2B5EF4-FFF2-40B4-BE49-F238E27FC236}">
                    <a16:creationId xmlns:a16="http://schemas.microsoft.com/office/drawing/2014/main" id="{6774833A-E11B-452D-B7A4-6523F2B8F0A8}"/>
                  </a:ext>
                </a:extLst>
              </p:cNvPr>
              <p:cNvSpPr txBox="1">
                <a:spLocks noRot="1" noChangeAspect="1" noMove="1" noResize="1" noEditPoints="1" noAdjustHandles="1" noChangeArrowheads="1" noChangeShapeType="1" noTextEdit="1"/>
              </p:cNvSpPr>
              <p:nvPr/>
            </p:nvSpPr>
            <p:spPr>
              <a:xfrm>
                <a:off x="1673957" y="2184904"/>
                <a:ext cx="8865697" cy="838756"/>
              </a:xfrm>
              <a:prstGeom prst="rect">
                <a:avLst/>
              </a:prstGeom>
              <a:blipFill>
                <a:blip r:embed="rId2"/>
                <a:stretch>
                  <a:fillRect/>
                </a:stretch>
              </a:blipFill>
            </p:spPr>
            <p:txBody>
              <a:bodyPr/>
              <a:lstStyle/>
              <a:p>
                <a:r>
                  <a:rPr lang="ja-JP" altLang="en-US">
                    <a:noFill/>
                  </a:rPr>
                  <a:t> </a:t>
                </a:r>
              </a:p>
            </p:txBody>
          </p:sp>
        </mc:Fallback>
      </mc:AlternateContent>
      <p:sp>
        <p:nvSpPr>
          <p:cNvPr id="6" name="テキスト ボックス 5">
            <a:extLst>
              <a:ext uri="{FF2B5EF4-FFF2-40B4-BE49-F238E27FC236}">
                <a16:creationId xmlns:a16="http://schemas.microsoft.com/office/drawing/2014/main" id="{FD454D78-F20F-4B7E-B88A-D21AAD99C8DB}"/>
              </a:ext>
            </a:extLst>
          </p:cNvPr>
          <p:cNvSpPr txBox="1"/>
          <p:nvPr/>
        </p:nvSpPr>
        <p:spPr>
          <a:xfrm>
            <a:off x="6254809" y="4387676"/>
            <a:ext cx="4392890" cy="1323439"/>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特定の文書に集中して出現する語彙ほど値が大きくなる</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（対数をとることで、この数字が極端に大きくなることを避けている）</a:t>
            </a:r>
          </a:p>
        </p:txBody>
      </p:sp>
      <p:pic>
        <p:nvPicPr>
          <p:cNvPr id="7" name="Picture 2" descr="「自然対数」の画像検索結果">
            <a:extLst>
              <a:ext uri="{FF2B5EF4-FFF2-40B4-BE49-F238E27FC236}">
                <a16:creationId xmlns:a16="http://schemas.microsoft.com/office/drawing/2014/main" id="{6172066A-3921-4156-9B9E-9AB11C85E5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4167928"/>
            <a:ext cx="4279767" cy="26748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27D189FC-A612-46B9-AFA8-B2A9D4391D1D}"/>
                  </a:ext>
                </a:extLst>
              </p:cNvPr>
              <p:cNvSpPr txBox="1"/>
              <p:nvPr/>
            </p:nvSpPr>
            <p:spPr>
              <a:xfrm>
                <a:off x="2968921" y="3983262"/>
                <a:ext cx="1509580"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ja-JP" sz="2400" i="1">
                          <a:latin typeface="Cambria Math" panose="02040503050406030204" pitchFamily="18" charset="0"/>
                          <a:ea typeface="メイリオ" panose="020B0604030504040204" pitchFamily="50" charset="-128"/>
                        </a:rPr>
                        <m:t>𝑦</m:t>
                      </m:r>
                      <m:r>
                        <a:rPr kumimoji="1" lang="en-US" altLang="ja-JP" sz="2400" i="1">
                          <a:latin typeface="Cambria Math" panose="02040503050406030204" pitchFamily="18" charset="0"/>
                          <a:ea typeface="メイリオ" panose="020B0604030504040204" pitchFamily="50" charset="-128"/>
                        </a:rPr>
                        <m:t>=</m:t>
                      </m:r>
                      <m:r>
                        <m:rPr>
                          <m:sty m:val="p"/>
                        </m:rPr>
                        <a:rPr kumimoji="1" lang="en-US" altLang="ja-JP" sz="2400">
                          <a:latin typeface="Cambria Math" panose="02040503050406030204" pitchFamily="18" charset="0"/>
                          <a:ea typeface="メイリオ" panose="020B0604030504040204" pitchFamily="50" charset="-128"/>
                        </a:rPr>
                        <m:t>log</m:t>
                      </m:r>
                      <m:r>
                        <a:rPr kumimoji="1" lang="en-US" altLang="ja-JP" sz="2400" i="1">
                          <a:latin typeface="Cambria Math" panose="02040503050406030204" pitchFamily="18" charset="0"/>
                          <a:ea typeface="メイリオ" panose="020B0604030504040204" pitchFamily="50" charset="-128"/>
                        </a:rPr>
                        <m:t>⁡(</m:t>
                      </m:r>
                      <m:r>
                        <a:rPr kumimoji="1" lang="en-US" altLang="ja-JP" sz="2400" i="1">
                          <a:latin typeface="Cambria Math" panose="02040503050406030204" pitchFamily="18" charset="0"/>
                          <a:ea typeface="メイリオ" panose="020B0604030504040204" pitchFamily="50" charset="-128"/>
                        </a:rPr>
                        <m:t>𝑥</m:t>
                      </m:r>
                      <m:r>
                        <a:rPr kumimoji="1" lang="en-US" altLang="ja-JP" sz="2400" i="1">
                          <a:latin typeface="Cambria Math" panose="02040503050406030204" pitchFamily="18" charset="0"/>
                          <a:ea typeface="メイリオ" panose="020B0604030504040204" pitchFamily="50" charset="-128"/>
                        </a:rPr>
                        <m:t>)</m:t>
                      </m:r>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8" name="テキスト ボックス 7">
                <a:extLst>
                  <a:ext uri="{FF2B5EF4-FFF2-40B4-BE49-F238E27FC236}">
                    <a16:creationId xmlns:a16="http://schemas.microsoft.com/office/drawing/2014/main" id="{27D189FC-A612-46B9-AFA8-B2A9D4391D1D}"/>
                  </a:ext>
                </a:extLst>
              </p:cNvPr>
              <p:cNvSpPr txBox="1">
                <a:spLocks noRot="1" noChangeAspect="1" noMove="1" noResize="1" noEditPoints="1" noAdjustHandles="1" noChangeArrowheads="1" noChangeShapeType="1" noTextEdit="1"/>
              </p:cNvSpPr>
              <p:nvPr/>
            </p:nvSpPr>
            <p:spPr>
              <a:xfrm>
                <a:off x="2968921" y="3983262"/>
                <a:ext cx="1509580" cy="369332"/>
              </a:xfrm>
              <a:prstGeom prst="rect">
                <a:avLst/>
              </a:prstGeom>
              <a:blipFill>
                <a:blip r:embed="rId4"/>
                <a:stretch>
                  <a:fillRect l="-3226" t="-4918" r="-5645" b="-29508"/>
                </a:stretch>
              </a:blipFill>
            </p:spPr>
            <p:txBody>
              <a:bodyPr/>
              <a:lstStyle/>
              <a:p>
                <a:r>
                  <a:rPr lang="ja-JP" altLang="en-US">
                    <a:noFill/>
                  </a:rPr>
                  <a:t> </a:t>
                </a:r>
              </a:p>
            </p:txBody>
          </p:sp>
        </mc:Fallback>
      </mc:AlternateContent>
      <p:sp>
        <p:nvSpPr>
          <p:cNvPr id="9" name="右中かっこ 8">
            <a:extLst>
              <a:ext uri="{FF2B5EF4-FFF2-40B4-BE49-F238E27FC236}">
                <a16:creationId xmlns:a16="http://schemas.microsoft.com/office/drawing/2014/main" id="{2782F0EE-7A75-4A07-97EE-A14F51E8B556}"/>
              </a:ext>
            </a:extLst>
          </p:cNvPr>
          <p:cNvSpPr/>
          <p:nvPr/>
        </p:nvSpPr>
        <p:spPr>
          <a:xfrm rot="5400000">
            <a:off x="8041288" y="988069"/>
            <a:ext cx="433633" cy="4484462"/>
          </a:xfrm>
          <a:prstGeom prst="rightBrace">
            <a:avLst>
              <a:gd name="adj1" fmla="val 344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E85FAC6C-61F9-4424-ACC9-5A53857E0CA8}"/>
              </a:ext>
            </a:extLst>
          </p:cNvPr>
          <p:cNvSpPr txBox="1"/>
          <p:nvPr/>
        </p:nvSpPr>
        <p:spPr>
          <a:xfrm>
            <a:off x="1805359" y="3311870"/>
            <a:ext cx="3836709" cy="461665"/>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TF(Term Frequency)</a:t>
            </a:r>
            <a:endParaRPr kumimoji="1" lang="ja-JP" altLang="en-US" sz="2400" dirty="0">
              <a:latin typeface="メイリオ" panose="020B0604030504040204" pitchFamily="50" charset="-128"/>
              <a:ea typeface="メイリオ" panose="020B0604030504040204" pitchFamily="50" charset="-128"/>
            </a:endParaRPr>
          </a:p>
        </p:txBody>
      </p:sp>
      <p:sp>
        <p:nvSpPr>
          <p:cNvPr id="11" name="右中かっこ 10">
            <a:extLst>
              <a:ext uri="{FF2B5EF4-FFF2-40B4-BE49-F238E27FC236}">
                <a16:creationId xmlns:a16="http://schemas.microsoft.com/office/drawing/2014/main" id="{BC80F32A-8DA8-433E-86AE-E959429BBC7D}"/>
              </a:ext>
            </a:extLst>
          </p:cNvPr>
          <p:cNvSpPr/>
          <p:nvPr/>
        </p:nvSpPr>
        <p:spPr>
          <a:xfrm rot="5400000">
            <a:off x="3470635" y="1066166"/>
            <a:ext cx="433633" cy="3780149"/>
          </a:xfrm>
          <a:prstGeom prst="rightBrace">
            <a:avLst>
              <a:gd name="adj1" fmla="val 344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D1688A71-A797-4A9F-896D-247E13E54A8F}"/>
              </a:ext>
            </a:extLst>
          </p:cNvPr>
          <p:cNvSpPr txBox="1"/>
          <p:nvPr/>
        </p:nvSpPr>
        <p:spPr>
          <a:xfrm>
            <a:off x="6254809" y="3556679"/>
            <a:ext cx="4637988" cy="830997"/>
          </a:xfrm>
          <a:prstGeom prst="rect">
            <a:avLst/>
          </a:prstGeom>
          <a:noFill/>
        </p:spPr>
        <p:txBody>
          <a:bodyPr wrap="square" rtlCol="0">
            <a:spAutoFit/>
          </a:bodyPr>
          <a:lstStyle/>
          <a:p>
            <a:r>
              <a:rPr lang="en-US" altLang="ja-JP" sz="2400" dirty="0">
                <a:latin typeface="メイリオ" panose="020B0604030504040204" pitchFamily="50" charset="-128"/>
                <a:ea typeface="メイリオ" panose="020B0604030504040204" pitchFamily="50" charset="-128"/>
              </a:rPr>
              <a:t>IDF(Inverse Document Frequency)</a:t>
            </a:r>
            <a:endParaRPr kumimoji="1" lang="ja-JP" altLang="en-US" sz="24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DAFBD0AB-AD16-4CBB-B018-34E6F0F370A7}"/>
                  </a:ext>
                </a:extLst>
              </p:cNvPr>
              <p:cNvSpPr txBox="1"/>
              <p:nvPr/>
            </p:nvSpPr>
            <p:spPr>
              <a:xfrm>
                <a:off x="2466680" y="6204556"/>
                <a:ext cx="1499834"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ja-JP" sz="2400" i="1">
                          <a:latin typeface="Cambria Math" panose="02040503050406030204" pitchFamily="18" charset="0"/>
                          <a:ea typeface="メイリオ" panose="020B0604030504040204" pitchFamily="50" charset="-128"/>
                        </a:rPr>
                        <m:t>0=</m:t>
                      </m:r>
                      <m:r>
                        <m:rPr>
                          <m:sty m:val="p"/>
                        </m:rPr>
                        <a:rPr kumimoji="1" lang="en-US" altLang="ja-JP" sz="2400">
                          <a:latin typeface="Cambria Math" panose="02040503050406030204" pitchFamily="18" charset="0"/>
                          <a:ea typeface="メイリオ" panose="020B0604030504040204" pitchFamily="50" charset="-128"/>
                        </a:rPr>
                        <m:t>log</m:t>
                      </m:r>
                      <m:r>
                        <a:rPr kumimoji="1" lang="en-US" altLang="ja-JP" sz="2400" i="1">
                          <a:latin typeface="Cambria Math" panose="02040503050406030204" pitchFamily="18" charset="0"/>
                          <a:ea typeface="メイリオ" panose="020B0604030504040204" pitchFamily="50" charset="-128"/>
                        </a:rPr>
                        <m:t>⁡(1)</m:t>
                      </m:r>
                    </m:oMath>
                  </m:oMathPara>
                </a14:m>
                <a:endParaRPr kumimoji="1" lang="ja-JP" altLang="en-US" sz="2400" dirty="0">
                  <a:latin typeface="メイリオ" panose="020B0604030504040204" pitchFamily="50" charset="-128"/>
                  <a:ea typeface="メイリオ" panose="020B0604030504040204" pitchFamily="50" charset="-128"/>
                </a:endParaRPr>
              </a:p>
            </p:txBody>
          </p:sp>
        </mc:Choice>
        <mc:Fallback xmlns="">
          <p:sp>
            <p:nvSpPr>
              <p:cNvPr id="13" name="テキスト ボックス 12">
                <a:extLst>
                  <a:ext uri="{FF2B5EF4-FFF2-40B4-BE49-F238E27FC236}">
                    <a16:creationId xmlns:a16="http://schemas.microsoft.com/office/drawing/2014/main" id="{DAFBD0AB-AD16-4CBB-B018-34E6F0F370A7}"/>
                  </a:ext>
                </a:extLst>
              </p:cNvPr>
              <p:cNvSpPr txBox="1">
                <a:spLocks noRot="1" noChangeAspect="1" noMove="1" noResize="1" noEditPoints="1" noAdjustHandles="1" noChangeArrowheads="1" noChangeShapeType="1" noTextEdit="1"/>
              </p:cNvSpPr>
              <p:nvPr/>
            </p:nvSpPr>
            <p:spPr>
              <a:xfrm>
                <a:off x="2466680" y="6204556"/>
                <a:ext cx="1499834" cy="369332"/>
              </a:xfrm>
              <a:prstGeom prst="rect">
                <a:avLst/>
              </a:prstGeom>
              <a:blipFill>
                <a:blip r:embed="rId5"/>
                <a:stretch>
                  <a:fillRect l="-3252" t="-5000" r="-5691" b="-30000"/>
                </a:stretch>
              </a:blipFill>
            </p:spPr>
            <p:txBody>
              <a:bodyPr/>
              <a:lstStyle/>
              <a:p>
                <a:r>
                  <a:rPr lang="ja-JP" altLang="en-US">
                    <a:noFill/>
                  </a:rPr>
                  <a:t> </a:t>
                </a:r>
              </a:p>
            </p:txBody>
          </p:sp>
        </mc:Fallback>
      </mc:AlternateContent>
      <p:cxnSp>
        <p:nvCxnSpPr>
          <p:cNvPr id="14" name="直線矢印コネクタ 13">
            <a:extLst>
              <a:ext uri="{FF2B5EF4-FFF2-40B4-BE49-F238E27FC236}">
                <a16:creationId xmlns:a16="http://schemas.microsoft.com/office/drawing/2014/main" id="{8F710819-C1F1-4A0B-BC08-CE031B5FC2E1}"/>
              </a:ext>
            </a:extLst>
          </p:cNvPr>
          <p:cNvCxnSpPr/>
          <p:nvPr/>
        </p:nvCxnSpPr>
        <p:spPr>
          <a:xfrm flipH="1" flipV="1">
            <a:off x="2466680" y="5816338"/>
            <a:ext cx="196516" cy="38821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8B2CCA60-DAC4-8010-19F2-20D168F971BC}"/>
              </a:ext>
            </a:extLst>
          </p:cNvPr>
          <p:cNvSpPr txBox="1"/>
          <p:nvPr/>
        </p:nvSpPr>
        <p:spPr>
          <a:xfrm>
            <a:off x="419375" y="689241"/>
            <a:ext cx="7980454" cy="369332"/>
          </a:xfrm>
          <a:prstGeom prst="rect">
            <a:avLst/>
          </a:prstGeom>
          <a:noFill/>
        </p:spPr>
        <p:txBody>
          <a:bodyPr wrap="none" rtlCol="0">
            <a:spAutoFit/>
          </a:bodyPr>
          <a:lstStyle/>
          <a:p>
            <a:pPr algn="l"/>
            <a:r>
              <a:rPr kumimoji="1" lang="en-US" altLang="ja-JP" dirty="0">
                <a:latin typeface="メイリオ" panose="020B0604030504040204" pitchFamily="50" charset="-128"/>
                <a:ea typeface="メイリオ" panose="020B0604030504040204" pitchFamily="50" charset="-128"/>
                <a:hlinkClick r:id="rId6"/>
              </a:rPr>
              <a:t>https://github.com/ueharaLab/NLP_4-Classifier/blob/main/tf_idf.md</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194209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BC00576-5DB6-7C5D-2790-8D0455CF3F44}"/>
              </a:ext>
            </a:extLst>
          </p:cNvPr>
          <p:cNvSpPr txBox="1"/>
          <p:nvPr/>
        </p:nvSpPr>
        <p:spPr>
          <a:xfrm>
            <a:off x="452889" y="320823"/>
            <a:ext cx="3728906"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TF-IDF</a:t>
            </a:r>
            <a:r>
              <a:rPr kumimoji="1" lang="ja-JP" altLang="en-US" sz="3200" dirty="0">
                <a:latin typeface="メイリオ" panose="020B0604030504040204" pitchFamily="50" charset="-128"/>
                <a:ea typeface="メイリオ" panose="020B0604030504040204" pitchFamily="50" charset="-128"/>
              </a:rPr>
              <a:t>による</a:t>
            </a:r>
            <a:r>
              <a:rPr kumimoji="1" lang="en-US" altLang="ja-JP" sz="3200" dirty="0" err="1">
                <a:latin typeface="メイリオ" panose="020B0604030504040204" pitchFamily="50" charset="-128"/>
                <a:ea typeface="メイリオ" panose="020B0604030504040204" pitchFamily="50" charset="-128"/>
              </a:rPr>
              <a:t>BoW</a:t>
            </a:r>
            <a:endParaRPr kumimoji="1" lang="en-US" altLang="ja-JP" sz="32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DA935AE7-0450-222B-0CD0-62A9358CFD9E}"/>
              </a:ext>
            </a:extLst>
          </p:cNvPr>
          <p:cNvSpPr txBox="1"/>
          <p:nvPr/>
        </p:nvSpPr>
        <p:spPr>
          <a:xfrm>
            <a:off x="452889" y="1184549"/>
            <a:ext cx="10566946" cy="1200329"/>
          </a:xfrm>
          <a:prstGeom prst="rect">
            <a:avLst/>
          </a:prstGeom>
          <a:noFill/>
        </p:spPr>
        <p:txBody>
          <a:bodyPr wrap="square" rtlCol="0">
            <a:spAutoFit/>
          </a:bodyPr>
          <a:lstStyle/>
          <a:p>
            <a:pPr marL="457200" indent="-457200" algn="l">
              <a:buFont typeface="+mj-lt"/>
              <a:buAutoNum type="arabicPeriod"/>
            </a:pPr>
            <a:r>
              <a:rPr kumimoji="1" lang="en-US" altLang="ja-JP" sz="2400" dirty="0" err="1">
                <a:latin typeface="メイリオ" panose="020B0604030504040204" pitchFamily="50" charset="-128"/>
                <a:ea typeface="メイリオ" panose="020B0604030504040204" pitchFamily="50" charset="-128"/>
              </a:rPr>
              <a:t>BoW</a:t>
            </a:r>
            <a:r>
              <a:rPr kumimoji="1" lang="ja-JP" altLang="en-US" sz="2400" dirty="0">
                <a:latin typeface="メイリオ" panose="020B0604030504040204" pitchFamily="50" charset="-128"/>
                <a:ea typeface="メイリオ" panose="020B0604030504040204" pitchFamily="50" charset="-128"/>
              </a:rPr>
              <a:t>の値を単純な語彙数の代わりに</a:t>
            </a:r>
            <a:r>
              <a:rPr kumimoji="1" lang="en-US" altLang="ja-JP" sz="2400" dirty="0">
                <a:latin typeface="メイリオ" panose="020B0604030504040204" pitchFamily="50" charset="-128"/>
                <a:ea typeface="メイリオ" panose="020B0604030504040204" pitchFamily="50" charset="-128"/>
              </a:rPr>
              <a:t>TF-IDF</a:t>
            </a:r>
            <a:r>
              <a:rPr kumimoji="1" lang="ja-JP" altLang="en-US" sz="2400" dirty="0">
                <a:latin typeface="メイリオ" panose="020B0604030504040204" pitchFamily="50" charset="-128"/>
                <a:ea typeface="メイリオ" panose="020B0604030504040204" pitchFamily="50" charset="-128"/>
              </a:rPr>
              <a:t>にすると、語彙の固有性を反映した語彙数となる。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TF-IDF</a:t>
            </a:r>
            <a:r>
              <a:rPr kumimoji="1" lang="ja-JP" altLang="en-US" sz="2400" dirty="0">
                <a:latin typeface="メイリオ" panose="020B0604030504040204" pitchFamily="50" charset="-128"/>
                <a:ea typeface="メイリオ" panose="020B0604030504040204" pitchFamily="50" charset="-128"/>
              </a:rPr>
              <a:t>を特徴量にすると、識別精度が相当向上するはず（演習）</a:t>
            </a:r>
          </a:p>
        </p:txBody>
      </p:sp>
    </p:spTree>
    <p:extLst>
      <p:ext uri="{BB962C8B-B14F-4D97-AF65-F5344CB8AC3E}">
        <p14:creationId xmlns:p14="http://schemas.microsoft.com/office/powerpoint/2010/main" val="3998612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31C561DB-6846-2052-5D3A-CAE5CC2CCE75}"/>
              </a:ext>
            </a:extLst>
          </p:cNvPr>
          <p:cNvSpPr txBox="1"/>
          <p:nvPr/>
        </p:nvSpPr>
        <p:spPr>
          <a:xfrm>
            <a:off x="483005" y="395173"/>
            <a:ext cx="7160935"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テキストマイニングの流れ（まとめ）</a:t>
            </a:r>
          </a:p>
        </p:txBody>
      </p:sp>
      <p:graphicFrame>
        <p:nvGraphicFramePr>
          <p:cNvPr id="18" name="図表 17">
            <a:extLst>
              <a:ext uri="{FF2B5EF4-FFF2-40B4-BE49-F238E27FC236}">
                <a16:creationId xmlns:a16="http://schemas.microsoft.com/office/drawing/2014/main" id="{5A6A8792-1AE3-BD6C-04E1-92671CFEF200}"/>
              </a:ext>
            </a:extLst>
          </p:cNvPr>
          <p:cNvGraphicFramePr/>
          <p:nvPr>
            <p:extLst>
              <p:ext uri="{D42A27DB-BD31-4B8C-83A1-F6EECF244321}">
                <p14:modId xmlns:p14="http://schemas.microsoft.com/office/powerpoint/2010/main" val="4009053814"/>
              </p:ext>
            </p:extLst>
          </p:nvPr>
        </p:nvGraphicFramePr>
        <p:xfrm>
          <a:off x="1209464" y="4778817"/>
          <a:ext cx="9072876" cy="8309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テキスト ボックス 10">
            <a:extLst>
              <a:ext uri="{FF2B5EF4-FFF2-40B4-BE49-F238E27FC236}">
                <a16:creationId xmlns:a16="http://schemas.microsoft.com/office/drawing/2014/main" id="{896604E3-1F2B-A512-148E-44B70AEDA843}"/>
              </a:ext>
            </a:extLst>
          </p:cNvPr>
          <p:cNvSpPr txBox="1"/>
          <p:nvPr/>
        </p:nvSpPr>
        <p:spPr>
          <a:xfrm>
            <a:off x="483005" y="1120676"/>
            <a:ext cx="10375634" cy="2308324"/>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実は、学習の良し悪しは特徴抽出が決定的なこともある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ヘタレな学習器でも特徴をうまく抽出すると相当な精度が確保できる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識別精度を向上させるための様々な特徴抽出方法を特徴量エンジニアリングと呼ぶ</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低頻度語彙・汎用語彙フィルタリング、</a:t>
            </a:r>
            <a:r>
              <a:rPr kumimoji="1" lang="en-US" altLang="ja-JP" sz="2400" dirty="0">
                <a:latin typeface="メイリオ" panose="020B0604030504040204" pitchFamily="50" charset="-128"/>
                <a:ea typeface="メイリオ" panose="020B0604030504040204" pitchFamily="50" charset="-128"/>
              </a:rPr>
              <a:t>TF-IDF</a:t>
            </a:r>
            <a:r>
              <a:rPr kumimoji="1" lang="ja-JP" altLang="en-US" sz="2400" dirty="0">
                <a:latin typeface="メイリオ" panose="020B0604030504040204" pitchFamily="50" charset="-128"/>
                <a:ea typeface="メイリオ" panose="020B0604030504040204" pitchFamily="50" charset="-128"/>
              </a:rPr>
              <a:t>は</a:t>
            </a:r>
            <a:r>
              <a:rPr kumimoji="1" lang="en-US" altLang="ja-JP" sz="2400" dirty="0">
                <a:latin typeface="メイリオ" panose="020B0604030504040204" pitchFamily="50" charset="-128"/>
                <a:ea typeface="メイリオ" panose="020B0604030504040204" pitchFamily="50" charset="-128"/>
              </a:rPr>
              <a:t>NLP(Natural Language Processing)</a:t>
            </a:r>
            <a:r>
              <a:rPr kumimoji="1" lang="ja-JP" altLang="en-US" sz="2400" dirty="0">
                <a:latin typeface="メイリオ" panose="020B0604030504040204" pitchFamily="50" charset="-128"/>
                <a:ea typeface="メイリオ" panose="020B0604030504040204" pitchFamily="50" charset="-128"/>
              </a:rPr>
              <a:t>に固有な特徴量エンジニアリング</a:t>
            </a:r>
          </a:p>
        </p:txBody>
      </p:sp>
      <p:sp>
        <p:nvSpPr>
          <p:cNvPr id="12" name="テキスト ボックス 11">
            <a:extLst>
              <a:ext uri="{FF2B5EF4-FFF2-40B4-BE49-F238E27FC236}">
                <a16:creationId xmlns:a16="http://schemas.microsoft.com/office/drawing/2014/main" id="{99070144-6E93-88CC-5BBC-2A94D5AC91A7}"/>
              </a:ext>
            </a:extLst>
          </p:cNvPr>
          <p:cNvSpPr txBox="1"/>
          <p:nvPr/>
        </p:nvSpPr>
        <p:spPr>
          <a:xfrm>
            <a:off x="1092822" y="4045791"/>
            <a:ext cx="2905336" cy="830997"/>
          </a:xfrm>
          <a:prstGeom prst="rect">
            <a:avLst/>
          </a:prstGeom>
          <a:noFill/>
        </p:spPr>
        <p:txBody>
          <a:bodyPr wrap="square" rtlCol="0">
            <a:spAutoFit/>
          </a:bodyPr>
          <a:lstStyle/>
          <a:p>
            <a:pPr algn="l"/>
            <a:r>
              <a:rPr kumimoji="1" lang="en-US" altLang="ja-JP" sz="2400" dirty="0" err="1">
                <a:latin typeface="メイリオ" panose="020B0604030504040204" pitchFamily="50" charset="-128"/>
                <a:ea typeface="メイリオ" panose="020B0604030504040204" pitchFamily="50" charset="-128"/>
              </a:rPr>
              <a:t>BoW</a:t>
            </a:r>
            <a:r>
              <a:rPr kumimoji="1" lang="ja-JP" altLang="en-US" sz="2400" dirty="0">
                <a:latin typeface="メイリオ" panose="020B0604030504040204" pitchFamily="50" charset="-128"/>
                <a:ea typeface="メイリオ" panose="020B0604030504040204" pitchFamily="50" charset="-128"/>
              </a:rPr>
              <a:t>作成＋特徴量エンジニアリング</a:t>
            </a:r>
          </a:p>
        </p:txBody>
      </p:sp>
    </p:spTree>
    <p:extLst>
      <p:ext uri="{BB962C8B-B14F-4D97-AF65-F5344CB8AC3E}">
        <p14:creationId xmlns:p14="http://schemas.microsoft.com/office/powerpoint/2010/main" val="2236480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83C8CD0-ADA7-C7B5-8436-B2388926F2C2}"/>
              </a:ext>
            </a:extLst>
          </p:cNvPr>
          <p:cNvSpPr txBox="1"/>
          <p:nvPr/>
        </p:nvSpPr>
        <p:spPr>
          <a:xfrm>
            <a:off x="4543720" y="2620652"/>
            <a:ext cx="1800493" cy="369332"/>
          </a:xfrm>
          <a:prstGeom prst="rect">
            <a:avLst/>
          </a:prstGeom>
          <a:noFill/>
        </p:spPr>
        <p:txBody>
          <a:bodyPr wrap="none" rtlCol="0">
            <a:spAutoFit/>
          </a:bodyPr>
          <a:lstStyle/>
          <a:p>
            <a:pPr algn="l"/>
            <a:r>
              <a:rPr kumimoji="1" lang="ja-JP" altLang="en-US" dirty="0">
                <a:latin typeface="メイリオ" panose="020B0604030504040204" pitchFamily="50" charset="-128"/>
                <a:ea typeface="メイリオ" panose="020B0604030504040204" pitchFamily="50" charset="-128"/>
              </a:rPr>
              <a:t>バックスライド</a:t>
            </a:r>
          </a:p>
        </p:txBody>
      </p:sp>
    </p:spTree>
    <p:extLst>
      <p:ext uri="{BB962C8B-B14F-4D97-AF65-F5344CB8AC3E}">
        <p14:creationId xmlns:p14="http://schemas.microsoft.com/office/powerpoint/2010/main" val="2829754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BD3DF132-FFC3-EF8E-0381-B3524D26E39D}"/>
              </a:ext>
            </a:extLst>
          </p:cNvPr>
          <p:cNvSpPr txBox="1"/>
          <p:nvPr/>
        </p:nvSpPr>
        <p:spPr>
          <a:xfrm>
            <a:off x="3200165" y="5925262"/>
            <a:ext cx="718145" cy="430887"/>
          </a:xfrm>
          <a:prstGeom prst="rect">
            <a:avLst/>
          </a:prstGeom>
          <a:noFill/>
        </p:spPr>
        <p:txBody>
          <a:bodyPr wrap="none" lIns="0" tIns="0" rIns="0" bIns="0" rtlCol="0">
            <a:spAutoFit/>
          </a:bodyPr>
          <a:lstStyle/>
          <a:p>
            <a:pPr algn="l"/>
            <a:r>
              <a:rPr kumimoji="1" lang="ja-JP" altLang="en-US" sz="2800" dirty="0">
                <a:latin typeface="メイリオ" panose="020B0604030504040204" pitchFamily="50" charset="-128"/>
                <a:ea typeface="メイリオ" panose="020B0604030504040204" pitchFamily="50" charset="-128"/>
              </a:rPr>
              <a:t>砂糖</a:t>
            </a:r>
          </a:p>
        </p:txBody>
      </p:sp>
      <p:sp>
        <p:nvSpPr>
          <p:cNvPr id="6" name="テキスト ボックス 5">
            <a:extLst>
              <a:ext uri="{FF2B5EF4-FFF2-40B4-BE49-F238E27FC236}">
                <a16:creationId xmlns:a16="http://schemas.microsoft.com/office/drawing/2014/main" id="{5C4C363B-3D3C-57ED-58ED-6C8F6F3B8231}"/>
              </a:ext>
            </a:extLst>
          </p:cNvPr>
          <p:cNvSpPr txBox="1"/>
          <p:nvPr/>
        </p:nvSpPr>
        <p:spPr>
          <a:xfrm>
            <a:off x="6735568" y="5878087"/>
            <a:ext cx="1795363" cy="430887"/>
          </a:xfrm>
          <a:prstGeom prst="rect">
            <a:avLst/>
          </a:prstGeom>
          <a:noFill/>
        </p:spPr>
        <p:txBody>
          <a:bodyPr wrap="none" lIns="0" tIns="0" rIns="0" bIns="0" rtlCol="0">
            <a:spAutoFit/>
          </a:bodyPr>
          <a:lstStyle/>
          <a:p>
            <a:pPr algn="l"/>
            <a:r>
              <a:rPr kumimoji="1" lang="ja-JP" altLang="en-US" sz="2800" dirty="0">
                <a:latin typeface="メイリオ" panose="020B0604030504040204" pitchFamily="50" charset="-128"/>
                <a:ea typeface="メイリオ" panose="020B0604030504040204" pitchFamily="50" charset="-128"/>
              </a:rPr>
              <a:t>生クリーム</a:t>
            </a:r>
          </a:p>
        </p:txBody>
      </p:sp>
      <p:sp>
        <p:nvSpPr>
          <p:cNvPr id="7" name="テキスト ボックス 6">
            <a:extLst>
              <a:ext uri="{FF2B5EF4-FFF2-40B4-BE49-F238E27FC236}">
                <a16:creationId xmlns:a16="http://schemas.microsoft.com/office/drawing/2014/main" id="{47EFDC24-E79C-E91A-4008-8171BAD97AAE}"/>
              </a:ext>
            </a:extLst>
          </p:cNvPr>
          <p:cNvSpPr txBox="1"/>
          <p:nvPr/>
        </p:nvSpPr>
        <p:spPr>
          <a:xfrm>
            <a:off x="4757478" y="2327167"/>
            <a:ext cx="2061877" cy="430887"/>
          </a:xfrm>
          <a:prstGeom prst="rect">
            <a:avLst/>
          </a:prstGeom>
          <a:noFill/>
        </p:spPr>
        <p:txBody>
          <a:bodyPr wrap="square" lIns="0" tIns="0" rIns="0" bIns="0" rtlCol="0">
            <a:spAutoFit/>
          </a:bodyPr>
          <a:lstStyle/>
          <a:p>
            <a:pPr algn="l"/>
            <a:r>
              <a:rPr kumimoji="1" lang="ja-JP" altLang="en-US" sz="2800" dirty="0">
                <a:latin typeface="メイリオ" panose="020B0604030504040204" pitchFamily="50" charset="-128"/>
                <a:ea typeface="メイリオ" panose="020B0604030504040204" pitchFamily="50" charset="-128"/>
              </a:rPr>
              <a:t>カラメル</a:t>
            </a:r>
          </a:p>
        </p:txBody>
      </p:sp>
      <p:grpSp>
        <p:nvGrpSpPr>
          <p:cNvPr id="41" name="グループ化 40">
            <a:extLst>
              <a:ext uri="{FF2B5EF4-FFF2-40B4-BE49-F238E27FC236}">
                <a16:creationId xmlns:a16="http://schemas.microsoft.com/office/drawing/2014/main" id="{623FFE80-4E5A-49E4-3DF6-1A3FE876B874}"/>
              </a:ext>
            </a:extLst>
          </p:cNvPr>
          <p:cNvGrpSpPr/>
          <p:nvPr/>
        </p:nvGrpSpPr>
        <p:grpSpPr>
          <a:xfrm>
            <a:off x="3494586" y="2838649"/>
            <a:ext cx="5479950" cy="3221066"/>
            <a:chOff x="3494586" y="2838649"/>
            <a:chExt cx="5479950" cy="3221066"/>
          </a:xfrm>
        </p:grpSpPr>
        <p:cxnSp>
          <p:nvCxnSpPr>
            <p:cNvPr id="2" name="直線コネクタ 1">
              <a:extLst>
                <a:ext uri="{FF2B5EF4-FFF2-40B4-BE49-F238E27FC236}">
                  <a16:creationId xmlns:a16="http://schemas.microsoft.com/office/drawing/2014/main" id="{CA4679F9-ED6D-E95C-8E9C-268CDF0EFE0B}"/>
                </a:ext>
              </a:extLst>
            </p:cNvPr>
            <p:cNvCxnSpPr>
              <a:cxnSpLocks/>
            </p:cNvCxnSpPr>
            <p:nvPr/>
          </p:nvCxnSpPr>
          <p:spPr>
            <a:xfrm>
              <a:off x="5521639" y="2838649"/>
              <a:ext cx="0" cy="19649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直線コネクタ 2">
              <a:extLst>
                <a:ext uri="{FF2B5EF4-FFF2-40B4-BE49-F238E27FC236}">
                  <a16:creationId xmlns:a16="http://schemas.microsoft.com/office/drawing/2014/main" id="{550C64E1-8291-A2AD-A36D-2C0C7FD49000}"/>
                </a:ext>
              </a:extLst>
            </p:cNvPr>
            <p:cNvCxnSpPr>
              <a:cxnSpLocks/>
            </p:cNvCxnSpPr>
            <p:nvPr/>
          </p:nvCxnSpPr>
          <p:spPr>
            <a:xfrm flipH="1">
              <a:off x="3494586" y="4803588"/>
              <a:ext cx="2027055" cy="1256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442A144A-871D-03BC-42E0-1EBAF5950382}"/>
                </a:ext>
              </a:extLst>
            </p:cNvPr>
            <p:cNvCxnSpPr>
              <a:cxnSpLocks/>
            </p:cNvCxnSpPr>
            <p:nvPr/>
          </p:nvCxnSpPr>
          <p:spPr>
            <a:xfrm>
              <a:off x="5536529" y="4833981"/>
              <a:ext cx="2246389" cy="10081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D8D7E9D5-8518-9690-3418-810751FDD7F7}"/>
                </a:ext>
              </a:extLst>
            </p:cNvPr>
            <p:cNvSpPr txBox="1"/>
            <p:nvPr/>
          </p:nvSpPr>
          <p:spPr>
            <a:xfrm rot="3925103">
              <a:off x="6179233" y="4293488"/>
              <a:ext cx="364202" cy="307777"/>
            </a:xfrm>
            <a:prstGeom prst="rect">
              <a:avLst/>
            </a:prstGeom>
            <a:noFill/>
          </p:spPr>
          <p:txBody>
            <a:bodyPr wrap="non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9" name="テキスト ボックス 8">
              <a:extLst>
                <a:ext uri="{FF2B5EF4-FFF2-40B4-BE49-F238E27FC236}">
                  <a16:creationId xmlns:a16="http://schemas.microsoft.com/office/drawing/2014/main" id="{97BF6C3C-C56A-6681-944F-CF8CB5A1BC31}"/>
                </a:ext>
              </a:extLst>
            </p:cNvPr>
            <p:cNvSpPr txBox="1"/>
            <p:nvPr/>
          </p:nvSpPr>
          <p:spPr>
            <a:xfrm rot="3925103">
              <a:off x="6554230" y="4139140"/>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0" name="テキスト ボックス 9">
              <a:extLst>
                <a:ext uri="{FF2B5EF4-FFF2-40B4-BE49-F238E27FC236}">
                  <a16:creationId xmlns:a16="http://schemas.microsoft.com/office/drawing/2014/main" id="{E751D0BF-FA4C-75E1-EBE9-1514C4EF68D4}"/>
                </a:ext>
              </a:extLst>
            </p:cNvPr>
            <p:cNvSpPr txBox="1"/>
            <p:nvPr/>
          </p:nvSpPr>
          <p:spPr>
            <a:xfrm rot="3925103">
              <a:off x="4345256" y="4096925"/>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6EA4EAF3-676E-55C8-696E-55E4E83DBD89}"/>
                </a:ext>
              </a:extLst>
            </p:cNvPr>
            <p:cNvSpPr txBox="1"/>
            <p:nvPr/>
          </p:nvSpPr>
          <p:spPr>
            <a:xfrm rot="3925103">
              <a:off x="6010132" y="495511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2" name="テキスト ボックス 11">
              <a:extLst>
                <a:ext uri="{FF2B5EF4-FFF2-40B4-BE49-F238E27FC236}">
                  <a16:creationId xmlns:a16="http://schemas.microsoft.com/office/drawing/2014/main" id="{1C98CD8D-C47C-6E71-50DF-04D7817E1E75}"/>
                </a:ext>
              </a:extLst>
            </p:cNvPr>
            <p:cNvSpPr txBox="1"/>
            <p:nvPr/>
          </p:nvSpPr>
          <p:spPr>
            <a:xfrm rot="3925103">
              <a:off x="5574720" y="493154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45168469-47DD-6F81-3100-FF5092ABE68C}"/>
                </a:ext>
              </a:extLst>
            </p:cNvPr>
            <p:cNvSpPr txBox="1"/>
            <p:nvPr/>
          </p:nvSpPr>
          <p:spPr>
            <a:xfrm rot="3925103">
              <a:off x="5098621" y="4154453"/>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4" name="テキスト ボックス 13">
              <a:extLst>
                <a:ext uri="{FF2B5EF4-FFF2-40B4-BE49-F238E27FC236}">
                  <a16:creationId xmlns:a16="http://schemas.microsoft.com/office/drawing/2014/main" id="{09EEADA7-6AE9-8C22-03B5-4E91940CE1DA}"/>
                </a:ext>
              </a:extLst>
            </p:cNvPr>
            <p:cNvSpPr txBox="1"/>
            <p:nvPr/>
          </p:nvSpPr>
          <p:spPr>
            <a:xfrm rot="3925103">
              <a:off x="6299396" y="497671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FF810A91-D242-F563-2D3A-EA0BF138C39B}"/>
                </a:ext>
              </a:extLst>
            </p:cNvPr>
            <p:cNvSpPr txBox="1"/>
            <p:nvPr/>
          </p:nvSpPr>
          <p:spPr>
            <a:xfrm rot="3925103">
              <a:off x="6271270" y="3360776"/>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6" name="テキスト ボックス 15">
              <a:extLst>
                <a:ext uri="{FF2B5EF4-FFF2-40B4-BE49-F238E27FC236}">
                  <a16:creationId xmlns:a16="http://schemas.microsoft.com/office/drawing/2014/main" id="{00B30386-8EF9-A037-5E8D-6E00A3F18777}"/>
                </a:ext>
              </a:extLst>
            </p:cNvPr>
            <p:cNvSpPr txBox="1"/>
            <p:nvPr/>
          </p:nvSpPr>
          <p:spPr>
            <a:xfrm rot="3925103">
              <a:off x="6536935" y="4403887"/>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7" name="テキスト ボックス 16">
              <a:extLst>
                <a:ext uri="{FF2B5EF4-FFF2-40B4-BE49-F238E27FC236}">
                  <a16:creationId xmlns:a16="http://schemas.microsoft.com/office/drawing/2014/main" id="{0BED9DE7-2011-9572-5013-58ED8276F277}"/>
                </a:ext>
              </a:extLst>
            </p:cNvPr>
            <p:cNvSpPr txBox="1"/>
            <p:nvPr/>
          </p:nvSpPr>
          <p:spPr>
            <a:xfrm rot="3925103">
              <a:off x="4735000" y="4282046"/>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18" name="テキスト ボックス 17">
              <a:extLst>
                <a:ext uri="{FF2B5EF4-FFF2-40B4-BE49-F238E27FC236}">
                  <a16:creationId xmlns:a16="http://schemas.microsoft.com/office/drawing/2014/main" id="{BAF30C7A-1600-7B16-866F-B50A5BD97377}"/>
                </a:ext>
              </a:extLst>
            </p:cNvPr>
            <p:cNvSpPr txBox="1"/>
            <p:nvPr/>
          </p:nvSpPr>
          <p:spPr>
            <a:xfrm rot="3925103">
              <a:off x="5831352" y="5068491"/>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19" name="テキスト ボックス 18">
              <a:extLst>
                <a:ext uri="{FF2B5EF4-FFF2-40B4-BE49-F238E27FC236}">
                  <a16:creationId xmlns:a16="http://schemas.microsoft.com/office/drawing/2014/main" id="{72BF9980-3FD5-B294-A953-E1443911A9A7}"/>
                </a:ext>
              </a:extLst>
            </p:cNvPr>
            <p:cNvSpPr txBox="1"/>
            <p:nvPr/>
          </p:nvSpPr>
          <p:spPr>
            <a:xfrm rot="3925103">
              <a:off x="6443171" y="4812509"/>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0" name="テキスト ボックス 19">
              <a:extLst>
                <a:ext uri="{FF2B5EF4-FFF2-40B4-BE49-F238E27FC236}">
                  <a16:creationId xmlns:a16="http://schemas.microsoft.com/office/drawing/2014/main" id="{2C0F5395-348C-E374-60AF-C810A06E91F2}"/>
                </a:ext>
              </a:extLst>
            </p:cNvPr>
            <p:cNvSpPr txBox="1"/>
            <p:nvPr/>
          </p:nvSpPr>
          <p:spPr>
            <a:xfrm rot="3925103">
              <a:off x="4219256" y="4535725"/>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A4581D2F-310E-A656-8B74-4797B9EECB32}"/>
                </a:ext>
              </a:extLst>
            </p:cNvPr>
            <p:cNvSpPr txBox="1"/>
            <p:nvPr/>
          </p:nvSpPr>
          <p:spPr>
            <a:xfrm rot="3925103">
              <a:off x="6068263" y="4422278"/>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2" name="テキスト ボックス 21">
              <a:extLst>
                <a:ext uri="{FF2B5EF4-FFF2-40B4-BE49-F238E27FC236}">
                  <a16:creationId xmlns:a16="http://schemas.microsoft.com/office/drawing/2014/main" id="{14D2442F-C9F3-A327-EA71-4284D91E2BBD}"/>
                </a:ext>
              </a:extLst>
            </p:cNvPr>
            <p:cNvSpPr txBox="1"/>
            <p:nvPr/>
          </p:nvSpPr>
          <p:spPr>
            <a:xfrm rot="3925103">
              <a:off x="6272971" y="3047527"/>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3" name="テキスト ボックス 22">
              <a:extLst>
                <a:ext uri="{FF2B5EF4-FFF2-40B4-BE49-F238E27FC236}">
                  <a16:creationId xmlns:a16="http://schemas.microsoft.com/office/drawing/2014/main" id="{A2CE4B21-26C3-D19D-C8D8-B872CD27A964}"/>
                </a:ext>
              </a:extLst>
            </p:cNvPr>
            <p:cNvSpPr txBox="1"/>
            <p:nvPr/>
          </p:nvSpPr>
          <p:spPr>
            <a:xfrm rot="3925103">
              <a:off x="5046529" y="365584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4" name="テキスト ボックス 23">
              <a:extLst>
                <a:ext uri="{FF2B5EF4-FFF2-40B4-BE49-F238E27FC236}">
                  <a16:creationId xmlns:a16="http://schemas.microsoft.com/office/drawing/2014/main" id="{D413077D-9276-A56F-1D12-14E3D0C941D0}"/>
                </a:ext>
              </a:extLst>
            </p:cNvPr>
            <p:cNvSpPr txBox="1"/>
            <p:nvPr/>
          </p:nvSpPr>
          <p:spPr>
            <a:xfrm rot="3925103">
              <a:off x="5354887" y="3818397"/>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5" name="テキスト ボックス 24">
              <a:extLst>
                <a:ext uri="{FF2B5EF4-FFF2-40B4-BE49-F238E27FC236}">
                  <a16:creationId xmlns:a16="http://schemas.microsoft.com/office/drawing/2014/main" id="{EA7EB6D7-EFB2-EC5A-DC3A-DB421F6B0CC2}"/>
                </a:ext>
              </a:extLst>
            </p:cNvPr>
            <p:cNvSpPr txBox="1"/>
            <p:nvPr/>
          </p:nvSpPr>
          <p:spPr>
            <a:xfrm rot="3925103">
              <a:off x="4844386" y="467521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6" name="テキスト ボックス 25">
              <a:extLst>
                <a:ext uri="{FF2B5EF4-FFF2-40B4-BE49-F238E27FC236}">
                  <a16:creationId xmlns:a16="http://schemas.microsoft.com/office/drawing/2014/main" id="{38FCA3CF-3CFC-8FF0-48FC-41454092F56F}"/>
                </a:ext>
              </a:extLst>
            </p:cNvPr>
            <p:cNvSpPr txBox="1"/>
            <p:nvPr/>
          </p:nvSpPr>
          <p:spPr>
            <a:xfrm rot="3925103">
              <a:off x="4943206" y="3972264"/>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7" name="テキスト ボックス 26">
              <a:extLst>
                <a:ext uri="{FF2B5EF4-FFF2-40B4-BE49-F238E27FC236}">
                  <a16:creationId xmlns:a16="http://schemas.microsoft.com/office/drawing/2014/main" id="{4C9ACA80-C9FA-A7EF-09FF-4F74DEC2FD89}"/>
                </a:ext>
              </a:extLst>
            </p:cNvPr>
            <p:cNvSpPr txBox="1"/>
            <p:nvPr/>
          </p:nvSpPr>
          <p:spPr>
            <a:xfrm rot="3925103">
              <a:off x="4555513" y="467236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28" name="テキスト ボックス 27">
              <a:extLst>
                <a:ext uri="{FF2B5EF4-FFF2-40B4-BE49-F238E27FC236}">
                  <a16:creationId xmlns:a16="http://schemas.microsoft.com/office/drawing/2014/main" id="{30BA02DB-BE5A-8B83-32AB-1FB250F3ECAD}"/>
                </a:ext>
              </a:extLst>
            </p:cNvPr>
            <p:cNvSpPr txBox="1"/>
            <p:nvPr/>
          </p:nvSpPr>
          <p:spPr>
            <a:xfrm rot="3925103">
              <a:off x="5385919" y="5056504"/>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29" name="テキスト ボックス 28">
              <a:extLst>
                <a:ext uri="{FF2B5EF4-FFF2-40B4-BE49-F238E27FC236}">
                  <a16:creationId xmlns:a16="http://schemas.microsoft.com/office/drawing/2014/main" id="{69FBD55E-742B-EB45-9BE6-17A028C5523E}"/>
                </a:ext>
              </a:extLst>
            </p:cNvPr>
            <p:cNvSpPr txBox="1"/>
            <p:nvPr/>
          </p:nvSpPr>
          <p:spPr>
            <a:xfrm rot="3925103">
              <a:off x="5786411" y="4748803"/>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9584FC7-BE22-9E77-BA4C-626F2F6221E0}"/>
                </a:ext>
              </a:extLst>
            </p:cNvPr>
            <p:cNvSpPr txBox="1"/>
            <p:nvPr/>
          </p:nvSpPr>
          <p:spPr>
            <a:xfrm rot="3925103">
              <a:off x="5068124" y="4477559"/>
              <a:ext cx="364202" cy="307777"/>
            </a:xfrm>
            <a:prstGeom prst="rect">
              <a:avLst/>
            </a:prstGeom>
            <a:noFill/>
          </p:spPr>
          <p:txBody>
            <a:bodyPr wrap="square" rtlCol="0">
              <a:spAutoFit/>
            </a:bodyPr>
            <a:lstStyle/>
            <a:p>
              <a:pPr algn="l"/>
              <a:r>
                <a:rPr kumimoji="1" lang="ja-JP" altLang="en-US" sz="1400" dirty="0">
                  <a:solidFill>
                    <a:srgbClr val="00B050"/>
                  </a:solidFill>
                  <a:latin typeface="メイリオ" panose="020B0604030504040204" pitchFamily="50" charset="-128"/>
                  <a:ea typeface="メイリオ" panose="020B0604030504040204" pitchFamily="50" charset="-128"/>
                </a:rPr>
                <a:t>●</a:t>
              </a:r>
            </a:p>
          </p:txBody>
        </p:sp>
        <p:sp>
          <p:nvSpPr>
            <p:cNvPr id="31" name="テキスト ボックス 30">
              <a:extLst>
                <a:ext uri="{FF2B5EF4-FFF2-40B4-BE49-F238E27FC236}">
                  <a16:creationId xmlns:a16="http://schemas.microsoft.com/office/drawing/2014/main" id="{BDF37180-E700-6839-B6B5-DD5820345B25}"/>
                </a:ext>
              </a:extLst>
            </p:cNvPr>
            <p:cNvSpPr txBox="1"/>
            <p:nvPr/>
          </p:nvSpPr>
          <p:spPr>
            <a:xfrm rot="3925103">
              <a:off x="6177444" y="4747075"/>
              <a:ext cx="364202" cy="307777"/>
            </a:xfrm>
            <a:prstGeom prst="rect">
              <a:avLst/>
            </a:prstGeom>
            <a:noFill/>
          </p:spPr>
          <p:txBody>
            <a:bodyPr wrap="square" rtlCol="0">
              <a:spAutoFit/>
            </a:bodyPr>
            <a:lstStyle/>
            <a:p>
              <a:pPr algn="l"/>
              <a:r>
                <a:rPr kumimoji="1" lang="ja-JP" altLang="en-US" sz="1400" dirty="0">
                  <a:solidFill>
                    <a:srgbClr val="FF0000"/>
                  </a:solidFill>
                  <a:latin typeface="メイリオ" panose="020B0604030504040204" pitchFamily="50" charset="-128"/>
                  <a:ea typeface="メイリオ" panose="020B0604030504040204" pitchFamily="50" charset="-128"/>
                </a:rPr>
                <a:t>●</a:t>
              </a:r>
            </a:p>
          </p:txBody>
        </p:sp>
        <p:sp>
          <p:nvSpPr>
            <p:cNvPr id="32" name="テキスト ボックス 31">
              <a:extLst>
                <a:ext uri="{FF2B5EF4-FFF2-40B4-BE49-F238E27FC236}">
                  <a16:creationId xmlns:a16="http://schemas.microsoft.com/office/drawing/2014/main" id="{6B784585-3634-9967-F12E-C46A5620D09B}"/>
                </a:ext>
              </a:extLst>
            </p:cNvPr>
            <p:cNvSpPr txBox="1"/>
            <p:nvPr/>
          </p:nvSpPr>
          <p:spPr>
            <a:xfrm>
              <a:off x="6589722" y="2976424"/>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プリン</a:t>
              </a:r>
            </a:p>
          </p:txBody>
        </p:sp>
        <p:sp>
          <p:nvSpPr>
            <p:cNvPr id="33" name="フローチャート: せん孔テープ 32">
              <a:extLst>
                <a:ext uri="{FF2B5EF4-FFF2-40B4-BE49-F238E27FC236}">
                  <a16:creationId xmlns:a16="http://schemas.microsoft.com/office/drawing/2014/main" id="{6BC85173-F3DA-D1F6-121F-9E16DDD49641}"/>
                </a:ext>
              </a:extLst>
            </p:cNvPr>
            <p:cNvSpPr/>
            <p:nvPr/>
          </p:nvSpPr>
          <p:spPr>
            <a:xfrm rot="19253827">
              <a:off x="4259007" y="3977977"/>
              <a:ext cx="2686421" cy="1307634"/>
            </a:xfrm>
            <a:prstGeom prst="flowChartPunchedTape">
              <a:avLst/>
            </a:prstGeom>
            <a:solidFill>
              <a:srgbClr val="4472C4">
                <a:alpha val="52941"/>
              </a:srgbClr>
            </a:solidFill>
            <a:scene3d>
              <a:camera prst="isometricOffAxis2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12A7ACCA-D867-B44B-58B2-3ACAB3445669}"/>
                </a:ext>
              </a:extLst>
            </p:cNvPr>
            <p:cNvSpPr txBox="1"/>
            <p:nvPr/>
          </p:nvSpPr>
          <p:spPr>
            <a:xfrm>
              <a:off x="6635434" y="3259166"/>
              <a:ext cx="233910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シュークリーム</a:t>
              </a:r>
            </a:p>
          </p:txBody>
        </p:sp>
        <p:sp>
          <p:nvSpPr>
            <p:cNvPr id="35" name="矢印: 右 34">
              <a:extLst>
                <a:ext uri="{FF2B5EF4-FFF2-40B4-BE49-F238E27FC236}">
                  <a16:creationId xmlns:a16="http://schemas.microsoft.com/office/drawing/2014/main" id="{7D1665C3-7BAB-DB56-0B07-5F04A469E673}"/>
                </a:ext>
              </a:extLst>
            </p:cNvPr>
            <p:cNvSpPr/>
            <p:nvPr/>
          </p:nvSpPr>
          <p:spPr>
            <a:xfrm rot="14735846">
              <a:off x="4808747" y="3059972"/>
              <a:ext cx="806707" cy="421010"/>
            </a:xfrm>
            <a:prstGeom prst="rightArrow">
              <a:avLst>
                <a:gd name="adj1" fmla="val 50000"/>
                <a:gd name="adj2" fmla="val 748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矢印: 右 35">
              <a:extLst>
                <a:ext uri="{FF2B5EF4-FFF2-40B4-BE49-F238E27FC236}">
                  <a16:creationId xmlns:a16="http://schemas.microsoft.com/office/drawing/2014/main" id="{263DFA87-DA71-E7AD-DEA6-DA2021CE23C3}"/>
                </a:ext>
              </a:extLst>
            </p:cNvPr>
            <p:cNvSpPr/>
            <p:nvPr/>
          </p:nvSpPr>
          <p:spPr>
            <a:xfrm rot="2455196" flipV="1">
              <a:off x="6084183" y="5231630"/>
              <a:ext cx="527091" cy="421010"/>
            </a:xfrm>
            <a:prstGeom prst="rightArrow">
              <a:avLst>
                <a:gd name="adj1" fmla="val 50000"/>
                <a:gd name="adj2" fmla="val 748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7" name="テキスト ボックス 36">
            <a:extLst>
              <a:ext uri="{FF2B5EF4-FFF2-40B4-BE49-F238E27FC236}">
                <a16:creationId xmlns:a16="http://schemas.microsoft.com/office/drawing/2014/main" id="{1854A18F-ED63-5A84-F13E-17AECAB146B9}"/>
              </a:ext>
            </a:extLst>
          </p:cNvPr>
          <p:cNvSpPr txBox="1"/>
          <p:nvPr/>
        </p:nvSpPr>
        <p:spPr>
          <a:xfrm rot="3753739">
            <a:off x="3818291" y="2996617"/>
            <a:ext cx="1641875" cy="646331"/>
          </a:xfrm>
          <a:prstGeom prst="rect">
            <a:avLst/>
          </a:prstGeom>
          <a:noFill/>
        </p:spPr>
        <p:txBody>
          <a:bodyPr wrap="square" rtlCol="0">
            <a:spAutoFit/>
          </a:bodyPr>
          <a:lstStyle/>
          <a:p>
            <a:pPr algn="l"/>
            <a:r>
              <a:rPr kumimoji="1" lang="ja-JP" altLang="en-US" dirty="0">
                <a:latin typeface="メイリオ" panose="020B0604030504040204" pitchFamily="50" charset="-128"/>
                <a:ea typeface="メイリオ" panose="020B0604030504040204" pitchFamily="50" charset="-128"/>
              </a:rPr>
              <a:t>カラメル方向に重みづけ</a:t>
            </a:r>
          </a:p>
        </p:txBody>
      </p:sp>
      <p:sp>
        <p:nvSpPr>
          <p:cNvPr id="38" name="テキスト ボックス 37">
            <a:extLst>
              <a:ext uri="{FF2B5EF4-FFF2-40B4-BE49-F238E27FC236}">
                <a16:creationId xmlns:a16="http://schemas.microsoft.com/office/drawing/2014/main" id="{6A03B762-E298-E10E-C9A1-2E12CDB43D49}"/>
              </a:ext>
            </a:extLst>
          </p:cNvPr>
          <p:cNvSpPr txBox="1"/>
          <p:nvPr/>
        </p:nvSpPr>
        <p:spPr>
          <a:xfrm rot="2504679">
            <a:off x="4985561" y="5466974"/>
            <a:ext cx="1852171" cy="646331"/>
          </a:xfrm>
          <a:prstGeom prst="rect">
            <a:avLst/>
          </a:prstGeom>
          <a:noFill/>
        </p:spPr>
        <p:txBody>
          <a:bodyPr wrap="square" rtlCol="0">
            <a:spAutoFit/>
          </a:bodyPr>
          <a:lstStyle/>
          <a:p>
            <a:pPr algn="l"/>
            <a:r>
              <a:rPr kumimoji="1" lang="ja-JP" altLang="en-US" dirty="0">
                <a:latin typeface="メイリオ" panose="020B0604030504040204" pitchFamily="50" charset="-128"/>
                <a:ea typeface="メイリオ" panose="020B0604030504040204" pitchFamily="50" charset="-128"/>
              </a:rPr>
              <a:t>生クリーム方向に重みづけ</a:t>
            </a:r>
          </a:p>
        </p:txBody>
      </p:sp>
      <p:sp>
        <p:nvSpPr>
          <p:cNvPr id="39" name="テキスト ボックス 38">
            <a:extLst>
              <a:ext uri="{FF2B5EF4-FFF2-40B4-BE49-F238E27FC236}">
                <a16:creationId xmlns:a16="http://schemas.microsoft.com/office/drawing/2014/main" id="{AC025038-63F6-3C3F-DD07-F91D02AD4158}"/>
              </a:ext>
            </a:extLst>
          </p:cNvPr>
          <p:cNvSpPr txBox="1"/>
          <p:nvPr/>
        </p:nvSpPr>
        <p:spPr>
          <a:xfrm>
            <a:off x="508000" y="389374"/>
            <a:ext cx="10735388" cy="584775"/>
          </a:xfrm>
          <a:prstGeom prst="rect">
            <a:avLst/>
          </a:prstGeom>
          <a:noFill/>
        </p:spPr>
        <p:txBody>
          <a:bodyPr wrap="square">
            <a:spAutoFit/>
          </a:bodyPr>
          <a:lstStyle/>
          <a:p>
            <a:r>
              <a:rPr kumimoji="1" lang="ja-JP" altLang="en-US" sz="3200" dirty="0">
                <a:latin typeface="メイリオ" panose="020B0604030504040204" pitchFamily="50" charset="-128"/>
                <a:ea typeface="メイリオ" panose="020B0604030504040204" pitchFamily="50" charset="-128"/>
              </a:rPr>
              <a:t>サンプルデータ数 </a:t>
            </a:r>
            <a:r>
              <a:rPr kumimoji="1" lang="en-US" altLang="ja-JP" sz="3200" dirty="0">
                <a:latin typeface="メイリオ" panose="020B0604030504040204" pitchFamily="50" charset="-128"/>
                <a:ea typeface="メイリオ" panose="020B0604030504040204" pitchFamily="50" charset="-128"/>
              </a:rPr>
              <a:t>&lt;&lt; </a:t>
            </a:r>
            <a:r>
              <a:rPr kumimoji="1" lang="ja-JP" altLang="en-US" sz="3200" dirty="0">
                <a:latin typeface="メイリオ" panose="020B0604030504040204" pitchFamily="50" charset="-128"/>
                <a:ea typeface="メイリオ" panose="020B0604030504040204" pitchFamily="50" charset="-128"/>
              </a:rPr>
              <a:t>次元数 でも判別しやすくする方法</a:t>
            </a:r>
            <a:endParaRPr lang="ja-JP" altLang="en-US" sz="3200" dirty="0"/>
          </a:p>
        </p:txBody>
      </p:sp>
      <p:sp>
        <p:nvSpPr>
          <p:cNvPr id="40" name="テキスト ボックス 39">
            <a:extLst>
              <a:ext uri="{FF2B5EF4-FFF2-40B4-BE49-F238E27FC236}">
                <a16:creationId xmlns:a16="http://schemas.microsoft.com/office/drawing/2014/main" id="{52A7EE06-F64B-25F4-40BD-B9A140F4A675}"/>
              </a:ext>
            </a:extLst>
          </p:cNvPr>
          <p:cNvSpPr txBox="1"/>
          <p:nvPr/>
        </p:nvSpPr>
        <p:spPr>
          <a:xfrm>
            <a:off x="551159" y="904894"/>
            <a:ext cx="10649069"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プリン、シュークリームを特徴づける語彙に強い重みをつけると多次元空間</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上でプリンのデータ、シュークリームのデータが互いに遠くに離れる</a:t>
            </a:r>
          </a:p>
        </p:txBody>
      </p:sp>
    </p:spTree>
    <p:extLst>
      <p:ext uri="{BB962C8B-B14F-4D97-AF65-F5344CB8AC3E}">
        <p14:creationId xmlns:p14="http://schemas.microsoft.com/office/powerpoint/2010/main" val="2736039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スクリーンショット 2016-05-04 3.33.02.png">
            <a:extLst>
              <a:ext uri="{FF2B5EF4-FFF2-40B4-BE49-F238E27FC236}">
                <a16:creationId xmlns:a16="http://schemas.microsoft.com/office/drawing/2014/main" id="{47BADEAE-9B6E-ED3E-4A19-F89F9A9775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877" y="1166790"/>
            <a:ext cx="4497070" cy="3310657"/>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E7A76A66-6B5C-7F5C-0FC7-3DDC67D79355}"/>
              </a:ext>
            </a:extLst>
          </p:cNvPr>
          <p:cNvSpPr txBox="1"/>
          <p:nvPr/>
        </p:nvSpPr>
        <p:spPr>
          <a:xfrm>
            <a:off x="1974575" y="3364058"/>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
        <p:nvSpPr>
          <p:cNvPr id="4" name="テキスト ボックス 3">
            <a:extLst>
              <a:ext uri="{FF2B5EF4-FFF2-40B4-BE49-F238E27FC236}">
                <a16:creationId xmlns:a16="http://schemas.microsoft.com/office/drawing/2014/main" id="{F0EEF0E7-02DA-1EDA-BA1D-7CD05D79E283}"/>
              </a:ext>
            </a:extLst>
          </p:cNvPr>
          <p:cNvSpPr txBox="1"/>
          <p:nvPr/>
        </p:nvSpPr>
        <p:spPr>
          <a:xfrm>
            <a:off x="2544419" y="1205617"/>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
        <p:nvSpPr>
          <p:cNvPr id="5" name="テキスト ボックス 4">
            <a:extLst>
              <a:ext uri="{FF2B5EF4-FFF2-40B4-BE49-F238E27FC236}">
                <a16:creationId xmlns:a16="http://schemas.microsoft.com/office/drawing/2014/main" id="{31C561DB-6846-2052-5D3A-CAE5CC2CCE75}"/>
              </a:ext>
            </a:extLst>
          </p:cNvPr>
          <p:cNvSpPr txBox="1"/>
          <p:nvPr/>
        </p:nvSpPr>
        <p:spPr>
          <a:xfrm>
            <a:off x="483005" y="395173"/>
            <a:ext cx="4347665"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KNN</a:t>
            </a:r>
            <a:r>
              <a:rPr kumimoji="1" lang="ja-JP" altLang="en-US" sz="3200" dirty="0">
                <a:latin typeface="メイリオ" panose="020B0604030504040204" pitchFamily="50" charset="-128"/>
                <a:ea typeface="メイリオ" panose="020B0604030504040204" pitchFamily="50" charset="-128"/>
              </a:rPr>
              <a:t>による学習・予測</a:t>
            </a:r>
          </a:p>
        </p:txBody>
      </p:sp>
      <p:sp>
        <p:nvSpPr>
          <p:cNvPr id="6" name="楕円 5">
            <a:extLst>
              <a:ext uri="{FF2B5EF4-FFF2-40B4-BE49-F238E27FC236}">
                <a16:creationId xmlns:a16="http://schemas.microsoft.com/office/drawing/2014/main" id="{DF6481F8-0492-0D0A-CC2B-5BB6C0323B57}"/>
              </a:ext>
            </a:extLst>
          </p:cNvPr>
          <p:cNvSpPr/>
          <p:nvPr/>
        </p:nvSpPr>
        <p:spPr>
          <a:xfrm>
            <a:off x="3333751" y="2569923"/>
            <a:ext cx="342900" cy="3714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9621FFF-83B7-160B-2205-C033DB38BD26}"/>
              </a:ext>
            </a:extLst>
          </p:cNvPr>
          <p:cNvSpPr txBox="1"/>
          <p:nvPr/>
        </p:nvSpPr>
        <p:spPr>
          <a:xfrm>
            <a:off x="1391051" y="4361368"/>
            <a:ext cx="4943475"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最近傍の点の数</a:t>
            </a:r>
            <a:r>
              <a:rPr kumimoji="1" lang="en-US" altLang="ja-JP" sz="2400" dirty="0">
                <a:latin typeface="メイリオ" panose="020B0604030504040204" pitchFamily="50" charset="-128"/>
                <a:ea typeface="メイリオ" panose="020B0604030504040204" pitchFamily="50" charset="-128"/>
              </a:rPr>
              <a:t>(K)</a:t>
            </a:r>
            <a:r>
              <a:rPr kumimoji="1" lang="ja-JP" altLang="en-US" sz="2400" dirty="0">
                <a:latin typeface="メイリオ" panose="020B0604030504040204" pitchFamily="50" charset="-128"/>
                <a:ea typeface="メイリオ" panose="020B0604030504040204" pitchFamily="50" charset="-128"/>
              </a:rPr>
              <a:t>を決める（点線の円がいわば決定境界</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注</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a:t>
            </a:r>
          </a:p>
        </p:txBody>
      </p:sp>
      <p:pic>
        <p:nvPicPr>
          <p:cNvPr id="8" name="Picture 2" descr="スクリーンショット 2016-05-04 3.33.02.png">
            <a:extLst>
              <a:ext uri="{FF2B5EF4-FFF2-40B4-BE49-F238E27FC236}">
                <a16:creationId xmlns:a16="http://schemas.microsoft.com/office/drawing/2014/main" id="{B66AEAD5-C25C-E045-155C-2AC26CF03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5705" y="1205617"/>
            <a:ext cx="4497070" cy="3310657"/>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237EBFC5-0100-3091-7E54-92A6034614B3}"/>
              </a:ext>
            </a:extLst>
          </p:cNvPr>
          <p:cNvSpPr txBox="1"/>
          <p:nvPr/>
        </p:nvSpPr>
        <p:spPr>
          <a:xfrm>
            <a:off x="6899000" y="3418634"/>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
        <p:nvSpPr>
          <p:cNvPr id="10" name="テキスト ボックス 9">
            <a:extLst>
              <a:ext uri="{FF2B5EF4-FFF2-40B4-BE49-F238E27FC236}">
                <a16:creationId xmlns:a16="http://schemas.microsoft.com/office/drawing/2014/main" id="{08B51688-D6A7-B96D-E9DC-6866C73F14DE}"/>
              </a:ext>
            </a:extLst>
          </p:cNvPr>
          <p:cNvSpPr txBox="1"/>
          <p:nvPr/>
        </p:nvSpPr>
        <p:spPr>
          <a:xfrm>
            <a:off x="7468844" y="1260193"/>
            <a:ext cx="492443" cy="461665"/>
          </a:xfrm>
          <a:prstGeom prst="rect">
            <a:avLst/>
          </a:prstGeom>
          <a:noFill/>
        </p:spPr>
        <p:txBody>
          <a:bodyPr wrap="none" rtlCol="0">
            <a:spAutoFit/>
          </a:bodyPr>
          <a:lstStyle/>
          <a:p>
            <a:pPr algn="l"/>
            <a:r>
              <a:rPr kumimoji="1" lang="ja-JP" altLang="en-US" sz="2400" dirty="0">
                <a:solidFill>
                  <a:schemeClr val="accent4">
                    <a:lumMod val="60000"/>
                    <a:lumOff val="40000"/>
                  </a:schemeClr>
                </a:solidFill>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FE934083-C53D-A803-449B-1C16AC829C31}"/>
              </a:ext>
            </a:extLst>
          </p:cNvPr>
          <p:cNvSpPr txBox="1"/>
          <p:nvPr/>
        </p:nvSpPr>
        <p:spPr>
          <a:xfrm>
            <a:off x="7235222" y="4246615"/>
            <a:ext cx="2864887"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K=3 : </a:t>
            </a:r>
            <a:r>
              <a:rPr kumimoji="1" lang="ja-JP" altLang="en-US" sz="2400" dirty="0">
                <a:solidFill>
                  <a:srgbClr val="FF0000"/>
                </a:solidFill>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は</a:t>
            </a:r>
            <a:r>
              <a:rPr kumimoji="1" lang="en-US" altLang="ja-JP" sz="2400" dirty="0">
                <a:latin typeface="メイリオ" panose="020B0604030504040204" pitchFamily="50" charset="-128"/>
                <a:ea typeface="メイリオ" panose="020B0604030504040204" pitchFamily="50" charset="-128"/>
              </a:rPr>
              <a:t>Class B</a:t>
            </a:r>
            <a:endParaRPr kumimoji="1" lang="ja-JP" altLang="en-US" sz="2400"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24CB0954-FCFC-B8F7-0482-02A2C0433FC9}"/>
              </a:ext>
            </a:extLst>
          </p:cNvPr>
          <p:cNvSpPr txBox="1"/>
          <p:nvPr/>
        </p:nvSpPr>
        <p:spPr>
          <a:xfrm>
            <a:off x="7233619" y="4664253"/>
            <a:ext cx="2866490"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K=6 : </a:t>
            </a:r>
            <a:r>
              <a:rPr kumimoji="1" lang="ja-JP" altLang="en-US" sz="2400" dirty="0">
                <a:solidFill>
                  <a:srgbClr val="FF0000"/>
                </a:solidFill>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は</a:t>
            </a:r>
            <a:r>
              <a:rPr kumimoji="1" lang="en-US" altLang="ja-JP" sz="2400" dirty="0">
                <a:latin typeface="メイリオ" panose="020B0604030504040204" pitchFamily="50" charset="-128"/>
                <a:ea typeface="メイリオ" panose="020B0604030504040204" pitchFamily="50" charset="-128"/>
              </a:rPr>
              <a:t>Class A</a:t>
            </a:r>
            <a:endParaRPr kumimoji="1" lang="ja-JP" altLang="en-US" sz="2400" dirty="0">
              <a:latin typeface="メイリオ" panose="020B0604030504040204" pitchFamily="50" charset="-128"/>
              <a:ea typeface="メイリオ" panose="020B0604030504040204" pitchFamily="50" charset="-128"/>
            </a:endParaRPr>
          </a:p>
        </p:txBody>
      </p:sp>
      <p:graphicFrame>
        <p:nvGraphicFramePr>
          <p:cNvPr id="18" name="図表 17">
            <a:extLst>
              <a:ext uri="{FF2B5EF4-FFF2-40B4-BE49-F238E27FC236}">
                <a16:creationId xmlns:a16="http://schemas.microsoft.com/office/drawing/2014/main" id="{5A6A8792-1AE3-BD6C-04E1-92671CFEF200}"/>
              </a:ext>
            </a:extLst>
          </p:cNvPr>
          <p:cNvGraphicFramePr/>
          <p:nvPr/>
        </p:nvGraphicFramePr>
        <p:xfrm>
          <a:off x="1974575" y="5154415"/>
          <a:ext cx="9072876" cy="830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テキスト ボックス 18">
            <a:extLst>
              <a:ext uri="{FF2B5EF4-FFF2-40B4-BE49-F238E27FC236}">
                <a16:creationId xmlns:a16="http://schemas.microsoft.com/office/drawing/2014/main" id="{A023EEA0-2B33-9711-ED46-45F183E742C2}"/>
              </a:ext>
            </a:extLst>
          </p:cNvPr>
          <p:cNvSpPr txBox="1"/>
          <p:nvPr/>
        </p:nvSpPr>
        <p:spPr>
          <a:xfrm>
            <a:off x="874380" y="6001162"/>
            <a:ext cx="10965195" cy="923330"/>
          </a:xfrm>
          <a:prstGeom prst="rect">
            <a:avLst/>
          </a:prstGeom>
          <a:noFill/>
        </p:spPr>
        <p:txBody>
          <a:bodyPr wrap="square" rtlCol="0">
            <a:spAutoFit/>
          </a:bodyPr>
          <a:lstStyle/>
          <a:p>
            <a:pPr algn="l"/>
            <a:r>
              <a:rPr kumimoji="1" lang="ja-JP" altLang="en-US" dirty="0">
                <a:latin typeface="メイリオ" panose="020B0604030504040204" pitchFamily="50" charset="-128"/>
                <a:ea typeface="メイリオ" panose="020B0604030504040204" pitchFamily="50" charset="-128"/>
              </a:rPr>
              <a:t>（注）★が与えられた都度円が変わる。つまり今まで述べてきた固定的な決定境界を引いているわけではないので学習してないとも言える（</a:t>
            </a:r>
            <a:r>
              <a:rPr kumimoji="1" lang="en-US" altLang="ja-JP" dirty="0">
                <a:latin typeface="メイリオ" panose="020B0604030504040204" pitchFamily="50" charset="-128"/>
                <a:ea typeface="メイリオ" panose="020B0604030504040204" pitchFamily="50" charset="-128"/>
              </a:rPr>
              <a:t>p.179</a:t>
            </a:r>
            <a:r>
              <a:rPr kumimoji="1" lang="ja-JP" altLang="en-US" dirty="0">
                <a:latin typeface="メイリオ" panose="020B0604030504040204" pitchFamily="50" charset="-128"/>
                <a:ea typeface="メイリオ" panose="020B0604030504040204" pitchFamily="50" charset="-128"/>
              </a:rPr>
              <a:t>中段：「</a:t>
            </a:r>
            <a:r>
              <a:rPr kumimoji="1" lang="en-US" altLang="ja-JP" dirty="0">
                <a:latin typeface="メイリオ" panose="020B0604030504040204" pitchFamily="50" charset="-128"/>
                <a:ea typeface="メイリオ" panose="020B0604030504040204" pitchFamily="50" charset="-128"/>
              </a:rPr>
              <a:t>KNN</a:t>
            </a:r>
            <a:r>
              <a:rPr kumimoji="1" lang="ja-JP" altLang="en-US" dirty="0">
                <a:latin typeface="メイリオ" panose="020B0604030504040204" pitchFamily="50" charset="-128"/>
                <a:ea typeface="メイリオ" panose="020B0604030504040204" pitchFamily="50" charset="-128"/>
              </a:rPr>
              <a:t>には学習というフェーズがない」）が、</a:t>
            </a:r>
            <a:r>
              <a:rPr kumimoji="1" lang="en-US" altLang="ja-JP" dirty="0">
                <a:latin typeface="メイリオ" panose="020B0604030504040204" pitchFamily="50" charset="-128"/>
                <a:ea typeface="メイリオ" panose="020B0604030504040204" pitchFamily="50" charset="-128"/>
              </a:rPr>
              <a:t>K</a:t>
            </a:r>
            <a:r>
              <a:rPr kumimoji="1" lang="ja-JP" altLang="en-US" dirty="0">
                <a:latin typeface="メイリオ" panose="020B0604030504040204" pitchFamily="50" charset="-128"/>
                <a:ea typeface="メイリオ" panose="020B0604030504040204" pitchFamily="50" charset="-128"/>
              </a:rPr>
              <a:t>を決めることが円の大きさを決めるので学習とみなします。</a:t>
            </a:r>
          </a:p>
        </p:txBody>
      </p:sp>
    </p:spTree>
    <p:extLst>
      <p:ext uri="{BB962C8B-B14F-4D97-AF65-F5344CB8AC3E}">
        <p14:creationId xmlns:p14="http://schemas.microsoft.com/office/powerpoint/2010/main" val="2043508112"/>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kumimoji="1" sz="2400" dirty="0" smtClean="0">
            <a:latin typeface="メイリオ" panose="020B0604030504040204" pitchFamily="50" charset="-128"/>
            <a:ea typeface="メイリオ"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36461</TotalTime>
  <Words>1769</Words>
  <Application>Microsoft Office PowerPoint</Application>
  <PresentationFormat>ワイド画面</PresentationFormat>
  <Paragraphs>367</Paragraphs>
  <Slides>22</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22</vt:i4>
      </vt:variant>
    </vt:vector>
  </HeadingPairs>
  <TitlesOfParts>
    <vt:vector size="29" baseType="lpstr">
      <vt:lpstr>メイリオ</vt:lpstr>
      <vt:lpstr>Arial</vt:lpstr>
      <vt:lpstr>Calibri</vt:lpstr>
      <vt:lpstr>Calibri Light</vt:lpstr>
      <vt:lpstr>Cambria Math</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hiroshi uehara</dc:creator>
  <cp:lastModifiedBy>Hiroshi Uehara</cp:lastModifiedBy>
  <cp:revision>588</cp:revision>
  <dcterms:created xsi:type="dcterms:W3CDTF">2017-07-18T05:09:25Z</dcterms:created>
  <dcterms:modified xsi:type="dcterms:W3CDTF">2025-06-05T01:44:25Z</dcterms:modified>
</cp:coreProperties>
</file>